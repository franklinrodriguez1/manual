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video/mp4" Extension="mp4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</p:sldIdLst>
  <p:sldSz cx="7556500" cy="10693400"/>
  <p:notesSz cx="6858000" cy="9144000"/>
  <p:embeddedFontLst>
    <p:embeddedFont>
      <p:font typeface="Poppins Bold" charset="1" panose="00000800000000000000"/>
      <p:regular r:id="rId28"/>
    </p:embeddedFont>
    <p:embeddedFont>
      <p:font typeface="Poppins Ultra-Bold" charset="1" panose="00000900000000000000"/>
      <p:regular r:id="rId29"/>
    </p:embeddedFont>
    <p:embeddedFont>
      <p:font typeface="Poppins" charset="1" panose="00000500000000000000"/>
      <p:regular r:id="rId30"/>
    </p:embeddedFont>
    <p:embeddedFont>
      <p:font typeface="Poppins Medium" charset="1" panose="00000600000000000000"/>
      <p:regular r:id="rId31"/>
    </p:embeddedFont>
    <p:embeddedFont>
      <p:font typeface="Unbounded Medium" charset="1" panose="020B0605040102020103"/>
      <p:regular r:id="rId32"/>
    </p:embeddedFont>
    <p:embeddedFont>
      <p:font typeface="Unbounded Bold" charset="1" panose="020B0805040102020103"/>
      <p:regular r:id="rId33"/>
    </p:embeddedFont>
    <p:embeddedFont>
      <p:font typeface="Bebas Neue Bold" charset="1" panose="020B0606020202050201"/>
      <p:regular r:id="rId34"/>
    </p:embeddedFont>
    <p:embeddedFont>
      <p:font typeface="Poppins Semi-Bold" charset="1" panose="00000700000000000000"/>
      <p:regular r:id="rId35"/>
    </p:embeddedFont>
    <p:embeddedFont>
      <p:font typeface="Poppins Light" charset="1" panose="00000400000000000000"/>
      <p:regular r:id="rId36"/>
    </p:embeddedFont>
    <p:embeddedFont>
      <p:font typeface="Poppins Italics" charset="1" panose="00000500000000000000"/>
      <p:regular r:id="rId3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slides/slide22.xml" Type="http://schemas.openxmlformats.org/officeDocument/2006/relationships/slide"/><Relationship Id="rId28" Target="fonts/font28.fntdata" Type="http://schemas.openxmlformats.org/officeDocument/2006/relationships/font"/><Relationship Id="rId29" Target="fonts/font29.fntdata" Type="http://schemas.openxmlformats.org/officeDocument/2006/relationships/font"/><Relationship Id="rId3" Target="viewProps.xml" Type="http://schemas.openxmlformats.org/officeDocument/2006/relationships/viewProps"/><Relationship Id="rId30" Target="fonts/font30.fntdata" Type="http://schemas.openxmlformats.org/officeDocument/2006/relationships/font"/><Relationship Id="rId31" Target="fonts/font31.fntdata" Type="http://schemas.openxmlformats.org/officeDocument/2006/relationships/font"/><Relationship Id="rId32" Target="fonts/font32.fntdata" Type="http://schemas.openxmlformats.org/officeDocument/2006/relationships/font"/><Relationship Id="rId33" Target="fonts/font33.fntdata" Type="http://schemas.openxmlformats.org/officeDocument/2006/relationships/font"/><Relationship Id="rId34" Target="fonts/font34.fntdata" Type="http://schemas.openxmlformats.org/officeDocument/2006/relationships/font"/><Relationship Id="rId35" Target="fonts/font35.fntdata" Type="http://schemas.openxmlformats.org/officeDocument/2006/relationships/font"/><Relationship Id="rId36" Target="fonts/font36.fntdata" Type="http://schemas.openxmlformats.org/officeDocument/2006/relationships/font"/><Relationship Id="rId37" Target="fonts/font37.fntdata" Type="http://schemas.openxmlformats.org/officeDocument/2006/relationships/font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png" Type="http://schemas.openxmlformats.org/officeDocument/2006/relationships/image"/><Relationship Id="rId4" Target="../media/image7.svg" Type="http://schemas.openxmlformats.org/officeDocument/2006/relationships/image"/><Relationship Id="rId5" Target="../media/image8.png" Type="http://schemas.openxmlformats.org/officeDocument/2006/relationships/image"/><Relationship Id="rId6" Target="../media/image9.png" Type="http://schemas.openxmlformats.org/officeDocument/2006/relationships/image"/><Relationship Id="rId7" Target="../media/image10.png" Type="http://schemas.openxmlformats.org/officeDocument/2006/relationships/image"/><Relationship Id="rId8" Target="../media/image11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png" Type="http://schemas.openxmlformats.org/officeDocument/2006/relationships/image"/><Relationship Id="rId3" Target="../media/image13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5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6.png" Type="http://schemas.openxmlformats.org/officeDocument/2006/relationships/image"/><Relationship Id="rId3" Target="../media/image17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8.png" Type="http://schemas.openxmlformats.org/officeDocument/2006/relationships/image"/><Relationship Id="rId3" Target="../media/image19.png" Type="http://schemas.openxmlformats.org/officeDocument/2006/relationships/image"/><Relationship Id="rId4" Target="../media/image20.sv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1.png" Type="http://schemas.openxmlformats.org/officeDocument/2006/relationships/image"/><Relationship Id="rId3" Target="../media/image22.jpeg" Type="http://schemas.openxmlformats.org/officeDocument/2006/relationships/image"/><Relationship Id="rId4" Target="../media/image23.jpeg" Type="http://schemas.openxmlformats.org/officeDocument/2006/relationships/image"/><Relationship Id="rId5" Target="../media/image24.png" Type="http://schemas.openxmlformats.org/officeDocument/2006/relationships/image"/><Relationship Id="rId6" Target="../media/image25.jpeg" Type="http://schemas.openxmlformats.org/officeDocument/2006/relationships/image"/><Relationship Id="rId7" Target="../media/image26.png" Type="http://schemas.openxmlformats.org/officeDocument/2006/relationships/image"/><Relationship Id="rId8" Target="../media/image27.jpeg" Type="http://schemas.openxmlformats.org/officeDocument/2006/relationships/image"/><Relationship Id="rId9" Target="../media/image13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8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8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8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1.png" Type="http://schemas.openxmlformats.org/officeDocument/2006/relationships/image"/><Relationship Id="rId11" Target="../media/image32.png" Type="http://schemas.openxmlformats.org/officeDocument/2006/relationships/image"/><Relationship Id="rId2" Target="../media/image14.png" Type="http://schemas.openxmlformats.org/officeDocument/2006/relationships/image"/><Relationship Id="rId3" Target="../media/image28.png" Type="http://schemas.openxmlformats.org/officeDocument/2006/relationships/image"/><Relationship Id="rId4" Target="../media/image29.jpeg" Type="http://schemas.openxmlformats.org/officeDocument/2006/relationships/image"/><Relationship Id="rId5" Target="../media/VAHZNZnTcDM.mp4" Type="http://schemas.openxmlformats.org/officeDocument/2006/relationships/video"/><Relationship Id="rId6" Target="../media/VAHZNZnTcDM.mp4" Type="http://schemas.microsoft.com/office/2007/relationships/media"/><Relationship Id="rId7" Target="../media/image30.jpeg" Type="http://schemas.openxmlformats.org/officeDocument/2006/relationships/image"/><Relationship Id="rId8" Target="../media/VAHZNVGF1A8.mp4" Type="http://schemas.openxmlformats.org/officeDocument/2006/relationships/video"/><Relationship Id="rId9" Target="../media/VAHZNVGF1A8.mp4" Type="http://schemas.microsoft.com/office/2007/relationships/media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5.png" Type="http://schemas.openxmlformats.org/officeDocument/2006/relationships/image"/><Relationship Id="rId11" Target="../media/image36.png" Type="http://schemas.openxmlformats.org/officeDocument/2006/relationships/image"/><Relationship Id="rId2" Target="../media/image14.png" Type="http://schemas.openxmlformats.org/officeDocument/2006/relationships/image"/><Relationship Id="rId3" Target="../media/image28.png" Type="http://schemas.openxmlformats.org/officeDocument/2006/relationships/image"/><Relationship Id="rId4" Target="../media/image33.jpeg" Type="http://schemas.openxmlformats.org/officeDocument/2006/relationships/image"/><Relationship Id="rId5" Target="../media/VAHZNQBrVeY.mp4" Type="http://schemas.openxmlformats.org/officeDocument/2006/relationships/video"/><Relationship Id="rId6" Target="../media/VAHZNQBrVeY.mp4" Type="http://schemas.microsoft.com/office/2007/relationships/media"/><Relationship Id="rId7" Target="../media/image34.jpeg" Type="http://schemas.openxmlformats.org/officeDocument/2006/relationships/image"/><Relationship Id="rId8" Target="../media/VAHZNXBsIGc.mp4" Type="http://schemas.openxmlformats.org/officeDocument/2006/relationships/video"/><Relationship Id="rId9" Target="../media/VAHZNXBsIGc.mp4" Type="http://schemas.microsoft.com/office/2007/relationships/media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9.png" Type="http://schemas.openxmlformats.org/officeDocument/2006/relationships/image"/><Relationship Id="rId11" Target="../media/image40.png" Type="http://schemas.openxmlformats.org/officeDocument/2006/relationships/image"/><Relationship Id="rId2" Target="../media/image14.png" Type="http://schemas.openxmlformats.org/officeDocument/2006/relationships/image"/><Relationship Id="rId3" Target="../media/image28.png" Type="http://schemas.openxmlformats.org/officeDocument/2006/relationships/image"/><Relationship Id="rId4" Target="../media/image37.jpeg" Type="http://schemas.openxmlformats.org/officeDocument/2006/relationships/image"/><Relationship Id="rId5" Target="../media/VAHZNTrLEFg.mp4" Type="http://schemas.openxmlformats.org/officeDocument/2006/relationships/video"/><Relationship Id="rId6" Target="../media/VAHZNTrLEFg.mp4" Type="http://schemas.microsoft.com/office/2007/relationships/media"/><Relationship Id="rId7" Target="../media/image38.jpeg" Type="http://schemas.openxmlformats.org/officeDocument/2006/relationships/image"/><Relationship Id="rId8" Target="../media/VAHZNZ0qy2U.mp4" Type="http://schemas.openxmlformats.org/officeDocument/2006/relationships/video"/><Relationship Id="rId9" Target="../media/VAHZNZ0qy2U.mp4" Type="http://schemas.microsoft.com/office/2007/relationships/media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1.png" Type="http://schemas.openxmlformats.org/officeDocument/2006/relationships/image"/><Relationship Id="rId3" Target="../media/image13.pn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5.png" Type="http://schemas.openxmlformats.org/officeDocument/2006/relationships/image"/><Relationship Id="rId3" Target="../media/image41.png" Type="http://schemas.openxmlformats.org/officeDocument/2006/relationships/image"/><Relationship Id="rId4" Target="../media/image19.png" Type="http://schemas.openxmlformats.org/officeDocument/2006/relationships/image"/><Relationship Id="rId5" Target="../media/image20.svg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png" Type="http://schemas.openxmlformats.org/officeDocument/2006/relationships/image"/><Relationship Id="rId3" Target="../media/image42.png" Type="http://schemas.openxmlformats.org/officeDocument/2006/relationships/image"/></Relationships>
</file>

<file path=ppt/slides/_rels/slide2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3.png" Type="http://schemas.openxmlformats.org/officeDocument/2006/relationships/image"/><Relationship Id="rId3" Target="../media/image44.png" Type="http://schemas.openxmlformats.org/officeDocument/2006/relationships/image"/><Relationship Id="rId4" Target="../media/image45.png" Type="http://schemas.openxmlformats.org/officeDocument/2006/relationships/image"/><Relationship Id="rId5" Target="../media/image46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F84C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7553196" cy="10692000"/>
          </a:xfrm>
          <a:custGeom>
            <a:avLst/>
            <a:gdLst/>
            <a:ahLst/>
            <a:cxnLst/>
            <a:rect r="r" b="b" t="t" l="l"/>
            <a:pathLst>
              <a:path h="10692000" w="7553196">
                <a:moveTo>
                  <a:pt x="0" y="0"/>
                </a:moveTo>
                <a:lnTo>
                  <a:pt x="7553196" y="0"/>
                </a:lnTo>
                <a:lnTo>
                  <a:pt x="7553196" y="10692000"/>
                </a:lnTo>
                <a:lnTo>
                  <a:pt x="0" y="10692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2747500" y="338426"/>
            <a:ext cx="2065000" cy="1380126"/>
          </a:xfrm>
          <a:custGeom>
            <a:avLst/>
            <a:gdLst/>
            <a:ahLst/>
            <a:cxnLst/>
            <a:rect r="r" b="b" t="t" l="l"/>
            <a:pathLst>
              <a:path h="1380126" w="2065000">
                <a:moveTo>
                  <a:pt x="0" y="0"/>
                </a:moveTo>
                <a:lnTo>
                  <a:pt x="2065000" y="0"/>
                </a:lnTo>
                <a:lnTo>
                  <a:pt x="2065000" y="1380126"/>
                </a:lnTo>
                <a:lnTo>
                  <a:pt x="0" y="138012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AutoShape 4" id="4"/>
          <p:cNvSpPr/>
          <p:nvPr/>
        </p:nvSpPr>
        <p:spPr>
          <a:xfrm>
            <a:off x="1063653" y="4211533"/>
            <a:ext cx="1419397" cy="4763"/>
          </a:xfrm>
          <a:prstGeom prst="line">
            <a:avLst/>
          </a:prstGeom>
          <a:ln cap="rnd" w="19050">
            <a:solidFill>
              <a:srgbClr val="CAED69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" id="5"/>
          <p:cNvSpPr/>
          <p:nvPr/>
        </p:nvSpPr>
        <p:spPr>
          <a:xfrm>
            <a:off x="5068437" y="4213914"/>
            <a:ext cx="1419397" cy="4763"/>
          </a:xfrm>
          <a:prstGeom prst="line">
            <a:avLst/>
          </a:prstGeom>
          <a:ln cap="rnd" w="19050">
            <a:solidFill>
              <a:srgbClr val="CAED69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6" id="6"/>
          <p:cNvGrpSpPr/>
          <p:nvPr/>
        </p:nvGrpSpPr>
        <p:grpSpPr>
          <a:xfrm rot="0">
            <a:off x="1670039" y="5586670"/>
            <a:ext cx="4213118" cy="357079"/>
            <a:chOff x="0" y="0"/>
            <a:chExt cx="1509886" cy="127969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509886" cy="127969"/>
            </a:xfrm>
            <a:custGeom>
              <a:avLst/>
              <a:gdLst/>
              <a:ahLst/>
              <a:cxnLst/>
              <a:rect r="r" b="b" t="t" l="l"/>
              <a:pathLst>
                <a:path h="127969" w="1509886">
                  <a:moveTo>
                    <a:pt x="63984" y="0"/>
                  </a:moveTo>
                  <a:lnTo>
                    <a:pt x="1445902" y="0"/>
                  </a:lnTo>
                  <a:cubicBezTo>
                    <a:pt x="1481239" y="0"/>
                    <a:pt x="1509886" y="28647"/>
                    <a:pt x="1509886" y="63984"/>
                  </a:cubicBezTo>
                  <a:lnTo>
                    <a:pt x="1509886" y="63984"/>
                  </a:lnTo>
                  <a:cubicBezTo>
                    <a:pt x="1509886" y="80954"/>
                    <a:pt x="1503145" y="97229"/>
                    <a:pt x="1491146" y="109228"/>
                  </a:cubicBezTo>
                  <a:cubicBezTo>
                    <a:pt x="1479146" y="121228"/>
                    <a:pt x="1462871" y="127969"/>
                    <a:pt x="1445902" y="127969"/>
                  </a:cubicBezTo>
                  <a:lnTo>
                    <a:pt x="63984" y="127969"/>
                  </a:lnTo>
                  <a:cubicBezTo>
                    <a:pt x="47015" y="127969"/>
                    <a:pt x="30740" y="121228"/>
                    <a:pt x="18741" y="109228"/>
                  </a:cubicBezTo>
                  <a:cubicBezTo>
                    <a:pt x="6741" y="97229"/>
                    <a:pt x="0" y="80954"/>
                    <a:pt x="0" y="63984"/>
                  </a:cubicBezTo>
                  <a:lnTo>
                    <a:pt x="0" y="63984"/>
                  </a:lnTo>
                  <a:cubicBezTo>
                    <a:pt x="0" y="47015"/>
                    <a:pt x="6741" y="30740"/>
                    <a:pt x="18741" y="18741"/>
                  </a:cubicBezTo>
                  <a:cubicBezTo>
                    <a:pt x="30740" y="6741"/>
                    <a:pt x="47015" y="0"/>
                    <a:pt x="63984" y="0"/>
                  </a:cubicBezTo>
                  <a:close/>
                </a:path>
              </a:pathLst>
            </a:custGeom>
            <a:solidFill>
              <a:srgbClr val="CAED69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28575"/>
              <a:ext cx="1509886" cy="15654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1138774" y="1955340"/>
            <a:ext cx="5282451" cy="17315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3460"/>
              </a:lnSpc>
            </a:pPr>
            <a:r>
              <a:rPr lang="en-US" sz="9614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MANUAL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35854" y="3082558"/>
            <a:ext cx="5488293" cy="10371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999"/>
              </a:lnSpc>
            </a:pPr>
            <a:r>
              <a:rPr lang="en-US" b="true" sz="5714">
                <a:solidFill>
                  <a:srgbClr val="CAED69"/>
                </a:solidFill>
                <a:latin typeface="Poppins Ultra-Bold"/>
                <a:ea typeface="Poppins Ultra-Bold"/>
                <a:cs typeface="Poppins Ultra-Bold"/>
                <a:sym typeface="Poppins Ultra-Bold"/>
              </a:rPr>
              <a:t>DEL CORREDOR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2570532" y="3994204"/>
            <a:ext cx="2412132" cy="3917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79"/>
              </a:lnSpc>
            </a:pPr>
            <a:r>
              <a:rPr lang="en-US" sz="21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2.ª</a:t>
            </a:r>
            <a:r>
              <a:rPr lang="en-US" sz="219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EDICIÓN · 2026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2360489" y="5095612"/>
            <a:ext cx="2865441" cy="520052"/>
            <a:chOff x="0" y="0"/>
            <a:chExt cx="3820588" cy="693403"/>
          </a:xfrm>
        </p:grpSpPr>
        <p:sp>
          <p:nvSpPr>
            <p:cNvPr name="TextBox 13" id="13"/>
            <p:cNvSpPr txBox="true"/>
            <p:nvPr/>
          </p:nvSpPr>
          <p:spPr>
            <a:xfrm rot="0">
              <a:off x="0" y="-95250"/>
              <a:ext cx="692417" cy="78865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826"/>
                </a:lnSpc>
              </a:pPr>
              <a:r>
                <a:rPr lang="en-US" sz="3447" b="true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29</a:t>
              </a:r>
            </a:p>
          </p:txBody>
        </p:sp>
        <p:sp>
          <p:nvSpPr>
            <p:cNvPr name="TextBox 14" id="14"/>
            <p:cNvSpPr txBox="true"/>
            <p:nvPr/>
          </p:nvSpPr>
          <p:spPr>
            <a:xfrm rot="0">
              <a:off x="886792" y="-95250"/>
              <a:ext cx="1324056" cy="78865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826"/>
                </a:lnSpc>
              </a:pPr>
              <a:r>
                <a:rPr lang="en-US" sz="3447" b="true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NOV</a:t>
              </a:r>
            </a:p>
          </p:txBody>
        </p:sp>
        <p:sp>
          <p:nvSpPr>
            <p:cNvPr name="TextBox 15" id="15"/>
            <p:cNvSpPr txBox="true"/>
            <p:nvPr/>
          </p:nvSpPr>
          <p:spPr>
            <a:xfrm rot="0">
              <a:off x="2401348" y="-95250"/>
              <a:ext cx="1419240" cy="78865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826"/>
                </a:lnSpc>
              </a:pPr>
              <a:r>
                <a:rPr lang="en-US" sz="3447" b="true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2026</a:t>
              </a:r>
            </a:p>
          </p:txBody>
        </p:sp>
      </p:grpSp>
      <p:sp>
        <p:nvSpPr>
          <p:cNvPr name="TextBox 16" id="16"/>
          <p:cNvSpPr txBox="true"/>
          <p:nvPr/>
        </p:nvSpPr>
        <p:spPr>
          <a:xfrm rot="0">
            <a:off x="1773352" y="5540736"/>
            <a:ext cx="4039716" cy="3917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79"/>
              </a:lnSpc>
            </a:pPr>
            <a:r>
              <a:rPr lang="en-US" b="true" sz="2199">
                <a:solidFill>
                  <a:srgbClr val="1E5C96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SAN ANDRÉS ISLA · COLOMBIA</a:t>
            </a:r>
          </a:p>
        </p:txBody>
      </p:sp>
      <p:sp>
        <p:nvSpPr>
          <p:cNvPr name="Freeform 17" id="17"/>
          <p:cNvSpPr/>
          <p:nvPr/>
        </p:nvSpPr>
        <p:spPr>
          <a:xfrm flipH="false" flipV="false" rot="0">
            <a:off x="-13210" y="5797909"/>
            <a:ext cx="7553196" cy="4865096"/>
          </a:xfrm>
          <a:custGeom>
            <a:avLst/>
            <a:gdLst/>
            <a:ahLst/>
            <a:cxnLst/>
            <a:rect r="r" b="b" t="t" l="l"/>
            <a:pathLst>
              <a:path h="4865096" w="7553196">
                <a:moveTo>
                  <a:pt x="0" y="0"/>
                </a:moveTo>
                <a:lnTo>
                  <a:pt x="7553196" y="0"/>
                </a:lnTo>
                <a:lnTo>
                  <a:pt x="7553196" y="4865096"/>
                </a:lnTo>
                <a:lnTo>
                  <a:pt x="0" y="486509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-119769" r="0" b="0"/>
            </a:stretch>
          </a:blipFill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DA7B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7560000" cy="10692000"/>
          </a:xfrm>
          <a:custGeom>
            <a:avLst/>
            <a:gdLst/>
            <a:ahLst/>
            <a:cxnLst/>
            <a:rect r="r" b="b" t="t" l="l"/>
            <a:pathLst>
              <a:path h="10692000" w="7560000">
                <a:moveTo>
                  <a:pt x="0" y="0"/>
                </a:moveTo>
                <a:lnTo>
                  <a:pt x="7560000" y="0"/>
                </a:lnTo>
                <a:lnTo>
                  <a:pt x="7560000" y="10692000"/>
                </a:lnTo>
                <a:lnTo>
                  <a:pt x="0" y="10692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45" r="0" b="-45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484036" y="1870963"/>
            <a:ext cx="6591928" cy="8272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85"/>
              </a:lnSpc>
            </a:pPr>
            <a:r>
              <a:rPr lang="en-US" sz="2769" b="true">
                <a:solidFill>
                  <a:srgbClr val="2DA7B1"/>
                </a:solidFill>
                <a:latin typeface="Unbounded Medium"/>
                <a:ea typeface="Unbounded Medium"/>
                <a:cs typeface="Unbounded Medium"/>
                <a:sym typeface="Unbounded Medium"/>
              </a:rPr>
              <a:t>TODO LO QUE NECESITAS PARA TU CARRERA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212072" y="456703"/>
            <a:ext cx="7135856" cy="14047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298"/>
              </a:lnSpc>
            </a:pPr>
            <a:r>
              <a:rPr lang="en-US" sz="8070" b="true">
                <a:solidFill>
                  <a:srgbClr val="1E5C96"/>
                </a:solidFill>
                <a:latin typeface="Unbounded Bold"/>
                <a:ea typeface="Unbounded Bold"/>
                <a:cs typeface="Unbounded Bold"/>
                <a:sym typeface="Unbounded Bold"/>
              </a:rPr>
              <a:t>ÍNDICE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531968" y="2684588"/>
            <a:ext cx="865574" cy="14538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739"/>
              </a:lnSpc>
            </a:pPr>
            <a:r>
              <a:rPr lang="en-US" b="true" sz="8385" spc="-595">
                <a:solidFill>
                  <a:srgbClr val="CAED69"/>
                </a:solidFill>
                <a:latin typeface="Bebas Neue Bold"/>
                <a:ea typeface="Bebas Neue Bold"/>
                <a:cs typeface="Bebas Neue Bold"/>
                <a:sym typeface="Bebas Neue Bold"/>
              </a:rPr>
              <a:t>03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484036" y="3687987"/>
            <a:ext cx="961439" cy="14537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746"/>
              </a:lnSpc>
            </a:pPr>
            <a:r>
              <a:rPr lang="en-US" b="true" sz="8390" spc="-293">
                <a:solidFill>
                  <a:srgbClr val="CAED69"/>
                </a:solidFill>
                <a:latin typeface="Bebas Neue Bold"/>
                <a:ea typeface="Bebas Neue Bold"/>
                <a:cs typeface="Bebas Neue Bold"/>
                <a:sym typeface="Bebas Neue Bold"/>
              </a:rPr>
              <a:t>04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484036" y="4753961"/>
            <a:ext cx="961439" cy="14537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746"/>
              </a:lnSpc>
            </a:pPr>
            <a:r>
              <a:rPr lang="en-US" b="true" sz="8390" spc="-293">
                <a:solidFill>
                  <a:srgbClr val="CAED69"/>
                </a:solidFill>
                <a:latin typeface="Bebas Neue Bold"/>
                <a:ea typeface="Bebas Neue Bold"/>
                <a:cs typeface="Bebas Neue Bold"/>
                <a:sym typeface="Bebas Neue Bold"/>
              </a:rPr>
              <a:t>05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484036" y="5806479"/>
            <a:ext cx="961439" cy="14537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746"/>
              </a:lnSpc>
            </a:pPr>
            <a:r>
              <a:rPr lang="en-US" b="true" sz="8390" spc="-293">
                <a:solidFill>
                  <a:srgbClr val="CAED69"/>
                </a:solidFill>
                <a:latin typeface="Bebas Neue Bold"/>
                <a:ea typeface="Bebas Neue Bold"/>
                <a:cs typeface="Bebas Neue Bold"/>
                <a:sym typeface="Bebas Neue Bold"/>
              </a:rPr>
              <a:t>06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531968" y="7926998"/>
            <a:ext cx="865574" cy="14538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739"/>
              </a:lnSpc>
            </a:pPr>
            <a:r>
              <a:rPr lang="en-US" b="true" sz="8385" spc="-595">
                <a:solidFill>
                  <a:srgbClr val="CAED69"/>
                </a:solidFill>
                <a:latin typeface="Bebas Neue Bold"/>
                <a:ea typeface="Bebas Neue Bold"/>
                <a:cs typeface="Bebas Neue Bold"/>
                <a:sym typeface="Bebas Neue Bold"/>
              </a:rPr>
              <a:t>08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484036" y="6860904"/>
            <a:ext cx="961439" cy="14537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746"/>
              </a:lnSpc>
            </a:pPr>
            <a:r>
              <a:rPr lang="en-US" b="true" sz="8390" spc="-293">
                <a:solidFill>
                  <a:srgbClr val="CAED69"/>
                </a:solidFill>
                <a:latin typeface="Bebas Neue Bold"/>
                <a:ea typeface="Bebas Neue Bold"/>
                <a:cs typeface="Bebas Neue Bold"/>
                <a:sym typeface="Bebas Neue Bold"/>
              </a:rPr>
              <a:t>07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531968" y="8981422"/>
            <a:ext cx="865574" cy="14538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739"/>
              </a:lnSpc>
            </a:pPr>
            <a:r>
              <a:rPr lang="en-US" b="true" sz="8385" spc="-595">
                <a:solidFill>
                  <a:srgbClr val="CAED69"/>
                </a:solidFill>
                <a:latin typeface="Bebas Neue Bold"/>
                <a:ea typeface="Bebas Neue Bold"/>
                <a:cs typeface="Bebas Neue Bold"/>
                <a:sym typeface="Bebas Neue Bold"/>
              </a:rPr>
              <a:t>09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4332760" y="2684588"/>
            <a:ext cx="865574" cy="14538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739"/>
              </a:lnSpc>
            </a:pPr>
            <a:r>
              <a:rPr lang="en-US" b="true" sz="8385" spc="-595">
                <a:solidFill>
                  <a:srgbClr val="CAED69"/>
                </a:solidFill>
                <a:latin typeface="Bebas Neue Bold"/>
                <a:ea typeface="Bebas Neue Bold"/>
                <a:cs typeface="Bebas Neue Bold"/>
                <a:sym typeface="Bebas Neue Bold"/>
              </a:rPr>
              <a:t>10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4332760" y="3687876"/>
            <a:ext cx="865574" cy="14538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739"/>
              </a:lnSpc>
            </a:pPr>
            <a:r>
              <a:rPr lang="en-US" b="true" sz="8385" spc="-595">
                <a:solidFill>
                  <a:srgbClr val="CAED69"/>
                </a:solidFill>
                <a:latin typeface="Bebas Neue Bold"/>
                <a:ea typeface="Bebas Neue Bold"/>
                <a:cs typeface="Bebas Neue Bold"/>
                <a:sym typeface="Bebas Neue Bold"/>
              </a:rPr>
              <a:t>11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4332760" y="4694786"/>
            <a:ext cx="865574" cy="14538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739"/>
              </a:lnSpc>
            </a:pPr>
            <a:r>
              <a:rPr lang="en-US" b="true" sz="8385" spc="-595">
                <a:solidFill>
                  <a:srgbClr val="CAED69"/>
                </a:solidFill>
                <a:latin typeface="Bebas Neue Bold"/>
                <a:ea typeface="Bebas Neue Bold"/>
                <a:cs typeface="Bebas Neue Bold"/>
                <a:sym typeface="Bebas Neue Bold"/>
              </a:rPr>
              <a:t>15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347538" y="3227934"/>
            <a:ext cx="4709154" cy="2740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29"/>
              </a:lnSpc>
            </a:pPr>
            <a:r>
              <a:rPr lang="en-US" sz="1968" b="true">
                <a:solidFill>
                  <a:srgbClr val="1E5C96"/>
                </a:solidFill>
                <a:latin typeface="Poppins Bold"/>
                <a:ea typeface="Poppins Bold"/>
                <a:cs typeface="Poppins Bold"/>
                <a:sym typeface="Poppins Bold"/>
              </a:rPr>
              <a:t>INTRODUCCIÓN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397543" y="4258780"/>
            <a:ext cx="4709154" cy="5122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29"/>
              </a:lnSpc>
            </a:pPr>
            <a:r>
              <a:rPr lang="en-US" sz="1968" b="true">
                <a:solidFill>
                  <a:srgbClr val="1E5C96"/>
                </a:solidFill>
                <a:latin typeface="Poppins Bold"/>
                <a:ea typeface="Poppins Bold"/>
                <a:cs typeface="Poppins Bold"/>
                <a:sym typeface="Poppins Bold"/>
              </a:rPr>
              <a:t>ANTES DE </a:t>
            </a:r>
          </a:p>
          <a:p>
            <a:pPr algn="l">
              <a:lnSpc>
                <a:spcPts val="1929"/>
              </a:lnSpc>
            </a:pPr>
            <a:r>
              <a:rPr lang="en-US" sz="1968" b="true">
                <a:solidFill>
                  <a:srgbClr val="1E5C96"/>
                </a:solidFill>
                <a:latin typeface="Poppins Bold"/>
                <a:ea typeface="Poppins Bold"/>
                <a:cs typeface="Poppins Bold"/>
                <a:sym typeface="Poppins Bold"/>
              </a:rPr>
              <a:t>VIAJAR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445475" y="5324755"/>
            <a:ext cx="4709154" cy="5122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29"/>
              </a:lnSpc>
            </a:pPr>
            <a:r>
              <a:rPr lang="en-US" sz="1968" b="true">
                <a:solidFill>
                  <a:srgbClr val="1E5C96"/>
                </a:solidFill>
                <a:latin typeface="Poppins Bold"/>
                <a:ea typeface="Poppins Bold"/>
                <a:cs typeface="Poppins Bold"/>
                <a:sym typeface="Poppins Bold"/>
              </a:rPr>
              <a:t>FESTIVAL 7 COLORES</a:t>
            </a:r>
          </a:p>
          <a:p>
            <a:pPr algn="l">
              <a:lnSpc>
                <a:spcPts val="1929"/>
              </a:lnSpc>
            </a:pPr>
            <a:r>
              <a:rPr lang="en-US" sz="1968" b="true">
                <a:solidFill>
                  <a:srgbClr val="1E5C96"/>
                </a:solidFill>
                <a:latin typeface="Poppins Bold"/>
                <a:ea typeface="Poppins Bold"/>
                <a:cs typeface="Poppins Bold"/>
                <a:sym typeface="Poppins Bold"/>
              </a:rPr>
              <a:t> Y RETIRO DEL KIT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425423" y="6377273"/>
            <a:ext cx="4709154" cy="5122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29"/>
              </a:lnSpc>
            </a:pPr>
            <a:r>
              <a:rPr lang="en-US" sz="1968" b="true">
                <a:solidFill>
                  <a:srgbClr val="1E5C96"/>
                </a:solidFill>
                <a:latin typeface="Poppins Bold"/>
                <a:ea typeface="Poppins Bold"/>
                <a:cs typeface="Poppins Bold"/>
                <a:sym typeface="Poppins Bold"/>
              </a:rPr>
              <a:t>RETIRO POR</a:t>
            </a:r>
          </a:p>
          <a:p>
            <a:pPr algn="l">
              <a:lnSpc>
                <a:spcPts val="1929"/>
              </a:lnSpc>
            </a:pPr>
            <a:r>
              <a:rPr lang="en-US" sz="1968" b="true">
                <a:solidFill>
                  <a:srgbClr val="1E5C96"/>
                </a:solidFill>
                <a:latin typeface="Poppins Bold"/>
                <a:ea typeface="Poppins Bold"/>
                <a:cs typeface="Poppins Bold"/>
                <a:sym typeface="Poppins Bold"/>
              </a:rPr>
              <a:t>TERCERO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445475" y="7431698"/>
            <a:ext cx="4709154" cy="5122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29"/>
              </a:lnSpc>
            </a:pPr>
            <a:r>
              <a:rPr lang="en-US" sz="1968" b="true">
                <a:solidFill>
                  <a:srgbClr val="1E5C96"/>
                </a:solidFill>
                <a:latin typeface="Poppins Bold"/>
                <a:ea typeface="Poppins Bold"/>
                <a:cs typeface="Poppins Bold"/>
                <a:sym typeface="Poppins Bold"/>
              </a:rPr>
              <a:t>HORARIOS DE </a:t>
            </a:r>
          </a:p>
          <a:p>
            <a:pPr algn="l">
              <a:lnSpc>
                <a:spcPts val="1929"/>
              </a:lnSpc>
            </a:pPr>
            <a:r>
              <a:rPr lang="en-US" sz="1968" b="true">
                <a:solidFill>
                  <a:srgbClr val="1E5C96"/>
                </a:solidFill>
                <a:latin typeface="Poppins Bold"/>
                <a:ea typeface="Poppins Bold"/>
                <a:cs typeface="Poppins Bold"/>
                <a:sym typeface="Poppins Bold"/>
              </a:rPr>
              <a:t>SALIDA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445475" y="8497847"/>
            <a:ext cx="4709154" cy="5122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29"/>
              </a:lnSpc>
            </a:pPr>
            <a:r>
              <a:rPr lang="en-US" sz="1968" b="true">
                <a:solidFill>
                  <a:srgbClr val="1E5C96"/>
                </a:solidFill>
                <a:latin typeface="Poppins Bold"/>
                <a:ea typeface="Poppins Bold"/>
                <a:cs typeface="Poppins Bold"/>
                <a:sym typeface="Poppins Bold"/>
              </a:rPr>
              <a:t>TU MAÑANA DE</a:t>
            </a:r>
          </a:p>
          <a:p>
            <a:pPr algn="l">
              <a:lnSpc>
                <a:spcPts val="1929"/>
              </a:lnSpc>
            </a:pPr>
            <a:r>
              <a:rPr lang="en-US" sz="1968" b="true">
                <a:solidFill>
                  <a:srgbClr val="1E5C96"/>
                </a:solidFill>
                <a:latin typeface="Poppins Bold"/>
                <a:ea typeface="Poppins Bold"/>
                <a:cs typeface="Poppins Bold"/>
                <a:sym typeface="Poppins Bold"/>
              </a:rPr>
              <a:t>CARRERA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445475" y="9541569"/>
            <a:ext cx="4709154" cy="5122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29"/>
              </a:lnSpc>
            </a:pPr>
            <a:r>
              <a:rPr lang="en-US" sz="1968" b="true">
                <a:solidFill>
                  <a:srgbClr val="1E5C96"/>
                </a:solidFill>
                <a:latin typeface="Poppins Bold"/>
                <a:ea typeface="Poppins Bold"/>
                <a:cs typeface="Poppins Bold"/>
                <a:sym typeface="Poppins Bold"/>
              </a:rPr>
              <a:t>SALIDA Y </a:t>
            </a:r>
          </a:p>
          <a:p>
            <a:pPr algn="l">
              <a:lnSpc>
                <a:spcPts val="1929"/>
              </a:lnSpc>
            </a:pPr>
            <a:r>
              <a:rPr lang="en-US" sz="1968" b="true">
                <a:solidFill>
                  <a:srgbClr val="1E5C96"/>
                </a:solidFill>
                <a:latin typeface="Poppins Bold"/>
                <a:ea typeface="Poppins Bold"/>
                <a:cs typeface="Poppins Bold"/>
                <a:sym typeface="Poppins Bold"/>
              </a:rPr>
              <a:t>CORRALES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5205423" y="3255437"/>
            <a:ext cx="4709154" cy="5122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29"/>
              </a:lnSpc>
            </a:pPr>
            <a:r>
              <a:rPr lang="en-US" sz="1968" b="true">
                <a:solidFill>
                  <a:srgbClr val="1E5C96"/>
                </a:solidFill>
                <a:latin typeface="Poppins Bold"/>
                <a:ea typeface="Poppins Bold"/>
                <a:cs typeface="Poppins Bold"/>
                <a:sym typeface="Poppins Bold"/>
              </a:rPr>
              <a:t>ELEMENTOS DEL</a:t>
            </a:r>
          </a:p>
          <a:p>
            <a:pPr algn="l">
              <a:lnSpc>
                <a:spcPts val="1929"/>
              </a:lnSpc>
            </a:pPr>
            <a:r>
              <a:rPr lang="en-US" sz="1968" b="true">
                <a:solidFill>
                  <a:srgbClr val="1E5C96"/>
                </a:solidFill>
                <a:latin typeface="Poppins Bold"/>
                <a:ea typeface="Poppins Bold"/>
                <a:cs typeface="Poppins Bold"/>
                <a:sym typeface="Poppins Bold"/>
              </a:rPr>
              <a:t>CORREDOR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5198334" y="4090217"/>
            <a:ext cx="4709154" cy="5122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29"/>
              </a:lnSpc>
            </a:pPr>
            <a:r>
              <a:rPr lang="en-US" sz="1968" b="true">
                <a:solidFill>
                  <a:srgbClr val="1E5C96"/>
                </a:solidFill>
                <a:latin typeface="Poppins Bold"/>
                <a:ea typeface="Poppins Bold"/>
                <a:cs typeface="Poppins Bold"/>
                <a:sym typeface="Poppins Bold"/>
              </a:rPr>
              <a:t>TU DISTANCIA Y</a:t>
            </a:r>
          </a:p>
          <a:p>
            <a:pPr algn="l">
              <a:lnSpc>
                <a:spcPts val="1929"/>
              </a:lnSpc>
            </a:pPr>
            <a:r>
              <a:rPr lang="en-US" sz="1968" b="true">
                <a:solidFill>
                  <a:srgbClr val="1E5C96"/>
                </a:solidFill>
                <a:latin typeface="Poppins Bold"/>
                <a:ea typeface="Poppins Bold"/>
                <a:cs typeface="Poppins Bold"/>
                <a:sym typeface="Poppins Bold"/>
              </a:rPr>
              <a:t>RUTA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5198334" y="4612158"/>
            <a:ext cx="2525725" cy="1696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73"/>
              </a:lnSpc>
            </a:pPr>
            <a:r>
              <a:rPr lang="en-US" sz="1299" b="true">
                <a:solidFill>
                  <a:srgbClr val="1E5C96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42K · 32K · 21K · 10K · 5K · 2K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5205423" y="5265635"/>
            <a:ext cx="4709154" cy="5122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29"/>
              </a:lnSpc>
            </a:pPr>
            <a:r>
              <a:rPr lang="en-US" sz="1968" b="true">
                <a:solidFill>
                  <a:srgbClr val="1E5C96"/>
                </a:solidFill>
                <a:latin typeface="Poppins Bold"/>
                <a:ea typeface="Poppins Bold"/>
                <a:cs typeface="Poppins Bold"/>
                <a:sym typeface="Poppins Bold"/>
              </a:rPr>
              <a:t>RECORRIDOS</a:t>
            </a:r>
          </a:p>
          <a:p>
            <a:pPr algn="l">
              <a:lnSpc>
                <a:spcPts val="1929"/>
              </a:lnSpc>
            </a:pPr>
            <a:r>
              <a:rPr lang="en-US" sz="1968" b="true">
                <a:solidFill>
                  <a:srgbClr val="1E5C96"/>
                </a:solidFill>
                <a:latin typeface="Poppins Bold"/>
                <a:ea typeface="Poppins Bold"/>
                <a:cs typeface="Poppins Bold"/>
                <a:sym typeface="Poppins Bold"/>
              </a:rPr>
              <a:t>OFICIALES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4332760" y="5760761"/>
            <a:ext cx="865574" cy="14538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739"/>
              </a:lnSpc>
            </a:pPr>
            <a:r>
              <a:rPr lang="en-US" b="true" sz="8385" spc="-595">
                <a:solidFill>
                  <a:srgbClr val="CAED69"/>
                </a:solidFill>
                <a:latin typeface="Bebas Neue Bold"/>
                <a:ea typeface="Bebas Neue Bold"/>
                <a:cs typeface="Bebas Neue Bold"/>
                <a:sym typeface="Bebas Neue Bold"/>
              </a:rPr>
              <a:t>16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5205423" y="6294032"/>
            <a:ext cx="4709154" cy="5122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29"/>
              </a:lnSpc>
            </a:pPr>
            <a:r>
              <a:rPr lang="en-US" sz="1968" b="true">
                <a:solidFill>
                  <a:srgbClr val="1E5C96"/>
                </a:solidFill>
                <a:latin typeface="Poppins Bold"/>
                <a:ea typeface="Poppins Bold"/>
                <a:cs typeface="Poppins Bold"/>
                <a:sym typeface="Poppins Bold"/>
              </a:rPr>
              <a:t>REGLAS EN</a:t>
            </a:r>
          </a:p>
          <a:p>
            <a:pPr algn="l">
              <a:lnSpc>
                <a:spcPts val="1929"/>
              </a:lnSpc>
            </a:pPr>
            <a:r>
              <a:rPr lang="en-US" sz="1968" b="true">
                <a:solidFill>
                  <a:srgbClr val="1E5C96"/>
                </a:solidFill>
                <a:latin typeface="Poppins Bold"/>
                <a:ea typeface="Poppins Bold"/>
                <a:cs typeface="Poppins Bold"/>
                <a:sym typeface="Poppins Bold"/>
              </a:rPr>
              <a:t>RUTA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4339849" y="6803754"/>
            <a:ext cx="865574" cy="14538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739"/>
              </a:lnSpc>
            </a:pPr>
            <a:r>
              <a:rPr lang="en-US" b="true" sz="8385" spc="-595">
                <a:solidFill>
                  <a:srgbClr val="CAED69"/>
                </a:solidFill>
                <a:latin typeface="Bebas Neue Bold"/>
                <a:ea typeface="Bebas Neue Bold"/>
                <a:cs typeface="Bebas Neue Bold"/>
                <a:sym typeface="Bebas Neue Bold"/>
              </a:rPr>
              <a:t>17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5198334" y="7346679"/>
            <a:ext cx="4709154" cy="5122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29"/>
              </a:lnSpc>
            </a:pPr>
            <a:r>
              <a:rPr lang="en-US" sz="1968" b="true">
                <a:solidFill>
                  <a:srgbClr val="1E5C96"/>
                </a:solidFill>
                <a:latin typeface="Poppins Bold"/>
                <a:ea typeface="Poppins Bold"/>
                <a:cs typeface="Poppins Bold"/>
                <a:sym typeface="Poppins Bold"/>
              </a:rPr>
              <a:t>CORTES Y</a:t>
            </a:r>
          </a:p>
          <a:p>
            <a:pPr algn="l">
              <a:lnSpc>
                <a:spcPts val="1929"/>
              </a:lnSpc>
            </a:pPr>
            <a:r>
              <a:rPr lang="en-US" sz="1968" b="true">
                <a:solidFill>
                  <a:srgbClr val="1E5C96"/>
                </a:solidFill>
                <a:latin typeface="Poppins Bold"/>
                <a:ea typeface="Poppins Bold"/>
                <a:cs typeface="Poppins Bold"/>
                <a:sym typeface="Poppins Bold"/>
              </a:rPr>
              <a:t>SEGURIDAD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4332760" y="7867703"/>
            <a:ext cx="865574" cy="14538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739"/>
              </a:lnSpc>
            </a:pPr>
            <a:r>
              <a:rPr lang="en-US" b="true" sz="8385" spc="-595">
                <a:solidFill>
                  <a:srgbClr val="CAED69"/>
                </a:solidFill>
                <a:latin typeface="Bebas Neue Bold"/>
                <a:ea typeface="Bebas Neue Bold"/>
                <a:cs typeface="Bebas Neue Bold"/>
                <a:sym typeface="Bebas Neue Bold"/>
              </a:rPr>
              <a:t>18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5205423" y="8401103"/>
            <a:ext cx="4709154" cy="5122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29"/>
              </a:lnSpc>
            </a:pPr>
            <a:r>
              <a:rPr lang="en-US" sz="1968" b="true">
                <a:solidFill>
                  <a:srgbClr val="1E5C96"/>
                </a:solidFill>
                <a:latin typeface="Poppins Bold"/>
                <a:ea typeface="Poppins Bold"/>
                <a:cs typeface="Poppins Bold"/>
                <a:sym typeface="Poppins Bold"/>
              </a:rPr>
              <a:t>PROTOCOLO</a:t>
            </a:r>
          </a:p>
          <a:p>
            <a:pPr algn="l">
              <a:lnSpc>
                <a:spcPts val="1929"/>
              </a:lnSpc>
            </a:pPr>
            <a:r>
              <a:rPr lang="en-US" sz="1968" b="true">
                <a:solidFill>
                  <a:srgbClr val="1E5C96"/>
                </a:solidFill>
                <a:latin typeface="Poppins Bold"/>
                <a:ea typeface="Poppins Bold"/>
                <a:cs typeface="Poppins Bold"/>
                <a:sym typeface="Poppins Bold"/>
              </a:rPr>
              <a:t>WBGT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4332760" y="8970720"/>
            <a:ext cx="865574" cy="14538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739"/>
              </a:lnSpc>
            </a:pPr>
            <a:r>
              <a:rPr lang="en-US" b="true" sz="8385" spc="-595">
                <a:solidFill>
                  <a:srgbClr val="CAED69"/>
                </a:solidFill>
                <a:latin typeface="Bebas Neue Bold"/>
                <a:ea typeface="Bebas Neue Bold"/>
                <a:cs typeface="Bebas Neue Bold"/>
                <a:sym typeface="Bebas Neue Bold"/>
              </a:rPr>
              <a:t>19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5205423" y="9552271"/>
            <a:ext cx="4709154" cy="5122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29"/>
              </a:lnSpc>
            </a:pPr>
            <a:r>
              <a:rPr lang="en-US" sz="1968" b="true">
                <a:solidFill>
                  <a:srgbClr val="1E5C96"/>
                </a:solidFill>
                <a:latin typeface="Poppins Bold"/>
                <a:ea typeface="Poppins Bold"/>
                <a:cs typeface="Poppins Bold"/>
                <a:sym typeface="Poppins Bold"/>
              </a:rPr>
              <a:t>RESULTADOS Y</a:t>
            </a:r>
          </a:p>
          <a:p>
            <a:pPr algn="l">
              <a:lnSpc>
                <a:spcPts val="1929"/>
              </a:lnSpc>
            </a:pPr>
            <a:r>
              <a:rPr lang="en-US" sz="1968" b="true">
                <a:solidFill>
                  <a:srgbClr val="1E5C96"/>
                </a:solidFill>
                <a:latin typeface="Poppins Bold"/>
                <a:ea typeface="Poppins Bold"/>
                <a:cs typeface="Poppins Bold"/>
                <a:sym typeface="Poppins Bold"/>
              </a:rPr>
              <a:t>PREMIACIÓN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E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7565433" cy="10692000"/>
          </a:xfrm>
          <a:custGeom>
            <a:avLst/>
            <a:gdLst/>
            <a:ahLst/>
            <a:cxnLst/>
            <a:rect r="r" b="b" t="t" l="l"/>
            <a:pathLst>
              <a:path h="10692000" w="7565433">
                <a:moveTo>
                  <a:pt x="0" y="0"/>
                </a:moveTo>
                <a:lnTo>
                  <a:pt x="7565433" y="0"/>
                </a:lnTo>
                <a:lnTo>
                  <a:pt x="7565433" y="10692000"/>
                </a:lnTo>
                <a:lnTo>
                  <a:pt x="0" y="10692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4000"/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5400000">
            <a:off x="255847" y="827436"/>
            <a:ext cx="600117" cy="507099"/>
          </a:xfrm>
          <a:custGeom>
            <a:avLst/>
            <a:gdLst/>
            <a:ahLst/>
            <a:cxnLst/>
            <a:rect r="r" b="b" t="t" l="l"/>
            <a:pathLst>
              <a:path h="507099" w="600117">
                <a:moveTo>
                  <a:pt x="0" y="0"/>
                </a:moveTo>
                <a:lnTo>
                  <a:pt x="600118" y="0"/>
                </a:lnTo>
                <a:lnTo>
                  <a:pt x="600118" y="507099"/>
                </a:lnTo>
                <a:lnTo>
                  <a:pt x="0" y="50709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767733" y="4974382"/>
            <a:ext cx="767850" cy="750303"/>
          </a:xfrm>
          <a:custGeom>
            <a:avLst/>
            <a:gdLst/>
            <a:ahLst/>
            <a:cxnLst/>
            <a:rect r="r" b="b" t="t" l="l"/>
            <a:pathLst>
              <a:path h="750303" w="767850">
                <a:moveTo>
                  <a:pt x="0" y="0"/>
                </a:moveTo>
                <a:lnTo>
                  <a:pt x="767850" y="0"/>
                </a:lnTo>
                <a:lnTo>
                  <a:pt x="767850" y="750304"/>
                </a:lnTo>
                <a:lnTo>
                  <a:pt x="0" y="75030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true" flipV="false" rot="0">
            <a:off x="2490529" y="4928752"/>
            <a:ext cx="1051581" cy="841565"/>
          </a:xfrm>
          <a:custGeom>
            <a:avLst/>
            <a:gdLst/>
            <a:ahLst/>
            <a:cxnLst/>
            <a:rect r="r" b="b" t="t" l="l"/>
            <a:pathLst>
              <a:path h="841565" w="1051581">
                <a:moveTo>
                  <a:pt x="1051581" y="0"/>
                </a:moveTo>
                <a:lnTo>
                  <a:pt x="0" y="0"/>
                </a:lnTo>
                <a:lnTo>
                  <a:pt x="0" y="841564"/>
                </a:lnTo>
                <a:lnTo>
                  <a:pt x="1051581" y="841564"/>
                </a:lnTo>
                <a:lnTo>
                  <a:pt x="1051581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-786717" y="6626961"/>
            <a:ext cx="4890394" cy="523342"/>
            <a:chOff x="0" y="0"/>
            <a:chExt cx="1752607" cy="187554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752607" cy="187554"/>
            </a:xfrm>
            <a:custGeom>
              <a:avLst/>
              <a:gdLst/>
              <a:ahLst/>
              <a:cxnLst/>
              <a:rect r="r" b="b" t="t" l="l"/>
              <a:pathLst>
                <a:path h="187554" w="1752607">
                  <a:moveTo>
                    <a:pt x="58574" y="0"/>
                  </a:moveTo>
                  <a:lnTo>
                    <a:pt x="1694033" y="0"/>
                  </a:lnTo>
                  <a:cubicBezTo>
                    <a:pt x="1709568" y="0"/>
                    <a:pt x="1724466" y="6171"/>
                    <a:pt x="1735451" y="17156"/>
                  </a:cubicBezTo>
                  <a:cubicBezTo>
                    <a:pt x="1746436" y="28141"/>
                    <a:pt x="1752607" y="43039"/>
                    <a:pt x="1752607" y="58574"/>
                  </a:cubicBezTo>
                  <a:lnTo>
                    <a:pt x="1752607" y="128980"/>
                  </a:lnTo>
                  <a:cubicBezTo>
                    <a:pt x="1752607" y="161329"/>
                    <a:pt x="1726382" y="187554"/>
                    <a:pt x="1694033" y="187554"/>
                  </a:cubicBezTo>
                  <a:lnTo>
                    <a:pt x="58574" y="187554"/>
                  </a:lnTo>
                  <a:cubicBezTo>
                    <a:pt x="26225" y="187554"/>
                    <a:pt x="0" y="161329"/>
                    <a:pt x="0" y="128980"/>
                  </a:cubicBezTo>
                  <a:lnTo>
                    <a:pt x="0" y="58574"/>
                  </a:lnTo>
                  <a:cubicBezTo>
                    <a:pt x="0" y="26225"/>
                    <a:pt x="26225" y="0"/>
                    <a:pt x="58574" y="0"/>
                  </a:cubicBezTo>
                  <a:close/>
                </a:path>
              </a:pathLst>
            </a:custGeom>
            <a:solidFill>
              <a:srgbClr val="1E5C96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19050"/>
              <a:ext cx="1752607" cy="16850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764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4605222" y="4900031"/>
            <a:ext cx="803748" cy="770494"/>
          </a:xfrm>
          <a:custGeom>
            <a:avLst/>
            <a:gdLst/>
            <a:ahLst/>
            <a:cxnLst/>
            <a:rect r="r" b="b" t="t" l="l"/>
            <a:pathLst>
              <a:path h="770494" w="803748">
                <a:moveTo>
                  <a:pt x="0" y="0"/>
                </a:moveTo>
                <a:lnTo>
                  <a:pt x="803748" y="0"/>
                </a:lnTo>
                <a:lnTo>
                  <a:pt x="803748" y="770494"/>
                </a:lnTo>
                <a:lnTo>
                  <a:pt x="0" y="770494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6209251" y="4939144"/>
            <a:ext cx="913900" cy="731381"/>
          </a:xfrm>
          <a:custGeom>
            <a:avLst/>
            <a:gdLst/>
            <a:ahLst/>
            <a:cxnLst/>
            <a:rect r="r" b="b" t="t" l="l"/>
            <a:pathLst>
              <a:path h="731381" w="913900">
                <a:moveTo>
                  <a:pt x="0" y="0"/>
                </a:moveTo>
                <a:lnTo>
                  <a:pt x="913901" y="0"/>
                </a:lnTo>
                <a:lnTo>
                  <a:pt x="913901" y="731381"/>
                </a:lnTo>
                <a:lnTo>
                  <a:pt x="0" y="731381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1024374" y="679800"/>
            <a:ext cx="4333652" cy="7261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912"/>
              </a:lnSpc>
            </a:pPr>
            <a:r>
              <a:rPr lang="en-US" sz="4223" b="true">
                <a:solidFill>
                  <a:srgbClr val="1E5C96"/>
                </a:solidFill>
                <a:latin typeface="Unbounded Bold"/>
                <a:ea typeface="Unbounded Bold"/>
                <a:cs typeface="Unbounded Bold"/>
                <a:sym typeface="Unbounded Bold"/>
              </a:rPr>
              <a:t>TU CARRERA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24374" y="1270016"/>
            <a:ext cx="7947241" cy="5397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72"/>
              </a:lnSpc>
            </a:pPr>
            <a:r>
              <a:rPr lang="en-US" sz="3123" b="true">
                <a:solidFill>
                  <a:srgbClr val="1E5C96"/>
                </a:solidFill>
                <a:latin typeface="Unbounded Bold"/>
                <a:ea typeface="Unbounded Bold"/>
                <a:cs typeface="Unbounded Bold"/>
                <a:sym typeface="Unbounded Bold"/>
              </a:rPr>
              <a:t>EMPIEZA ANTES DE LA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024374" y="1550894"/>
            <a:ext cx="7947241" cy="11509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272"/>
              </a:lnSpc>
            </a:pPr>
            <a:r>
              <a:rPr lang="en-US" sz="6623" b="true">
                <a:solidFill>
                  <a:srgbClr val="2DA7B1"/>
                </a:solidFill>
                <a:latin typeface="Unbounded Bold"/>
                <a:ea typeface="Unbounded Bold"/>
                <a:cs typeface="Unbounded Bold"/>
                <a:sym typeface="Unbounded Bold"/>
              </a:rPr>
              <a:t>SALIDA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024374" y="2791191"/>
            <a:ext cx="5614070" cy="17456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59"/>
              </a:lnSpc>
            </a:pPr>
            <a:r>
              <a:rPr lang="en-US" sz="1399">
                <a:solidFill>
                  <a:srgbClr val="1E5C96"/>
                </a:solidFill>
                <a:latin typeface="Poppins"/>
                <a:ea typeface="Poppins"/>
                <a:cs typeface="Poppins"/>
                <a:sym typeface="Poppins"/>
              </a:rPr>
              <a:t>Este manual reúne la información esencial para vivir la segunda edición de la Maratón 7 Colores de forma segura, informada y organizada.</a:t>
            </a:r>
          </a:p>
          <a:p>
            <a:pPr algn="l">
              <a:lnSpc>
                <a:spcPts val="1959"/>
              </a:lnSpc>
            </a:pPr>
          </a:p>
          <a:p>
            <a:pPr algn="l">
              <a:lnSpc>
                <a:spcPts val="1959"/>
              </a:lnSpc>
            </a:pPr>
            <a:r>
              <a:rPr lang="en-US" sz="1399">
                <a:solidFill>
                  <a:srgbClr val="1E5C96"/>
                </a:solidFill>
                <a:latin typeface="Poppins"/>
                <a:ea typeface="Poppins"/>
                <a:cs typeface="Poppins"/>
                <a:sym typeface="Poppins"/>
              </a:rPr>
              <a:t>Léelo completo y consúltalo nuevamente durante la semana del evento: la información operativa puede actualizarse por razones de seguridad, logística o decisión de las autoridades.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470620" y="5613375"/>
            <a:ext cx="1362075" cy="3092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0"/>
              </a:lnSpc>
            </a:pPr>
            <a:r>
              <a:rPr lang="en-US" sz="1700" b="true">
                <a:solidFill>
                  <a:srgbClr val="1E5C96"/>
                </a:solidFill>
                <a:latin typeface="Poppins Bold"/>
                <a:ea typeface="Poppins Bold"/>
                <a:cs typeface="Poppins Bold"/>
                <a:sym typeface="Poppins Bold"/>
              </a:rPr>
              <a:t>29 NOV 2026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626815" y="5867419"/>
            <a:ext cx="1049685" cy="2336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820"/>
              </a:lnSpc>
            </a:pPr>
            <a:r>
              <a:rPr lang="en-US" sz="1300" b="true">
                <a:solidFill>
                  <a:srgbClr val="1E5C96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Fecha oficial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2262170" y="5941670"/>
            <a:ext cx="1508299" cy="3220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73"/>
              </a:lnSpc>
            </a:pPr>
            <a:r>
              <a:rPr lang="en-US" sz="1299" b="true">
                <a:solidFill>
                  <a:srgbClr val="1E5C96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42K · 32K · 21K · 10K</a:t>
            </a:r>
          </a:p>
          <a:p>
            <a:pPr algn="ctr">
              <a:lnSpc>
                <a:spcPts val="1273"/>
              </a:lnSpc>
            </a:pPr>
            <a:r>
              <a:rPr lang="en-US" sz="1299" b="true">
                <a:solidFill>
                  <a:srgbClr val="1E5C96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5K · 2K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2275828" y="5613375"/>
            <a:ext cx="1505843" cy="3092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0"/>
              </a:lnSpc>
            </a:pPr>
            <a:r>
              <a:rPr lang="en-US" sz="1700" b="true">
                <a:solidFill>
                  <a:srgbClr val="1E5C96"/>
                </a:solidFill>
                <a:latin typeface="Poppins Bold"/>
                <a:ea typeface="Poppins Bold"/>
                <a:cs typeface="Poppins Bold"/>
                <a:sym typeface="Poppins Bold"/>
              </a:rPr>
              <a:t>6 DISTANCIAS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4482365" y="5613375"/>
            <a:ext cx="1049462" cy="3092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0"/>
              </a:lnSpc>
            </a:pPr>
            <a:r>
              <a:rPr lang="en-US" sz="1700" b="true">
                <a:solidFill>
                  <a:srgbClr val="1E5C96"/>
                </a:solidFill>
                <a:latin typeface="Poppins Bold"/>
                <a:ea typeface="Poppins Bold"/>
                <a:cs typeface="Poppins Bold"/>
                <a:sym typeface="Poppins Bold"/>
              </a:rPr>
              <a:t>4:30 A. M.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4205239" y="5923509"/>
            <a:ext cx="1597744" cy="1696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73"/>
              </a:lnSpc>
            </a:pPr>
            <a:r>
              <a:rPr lang="en-US" sz="1299" b="true">
                <a:solidFill>
                  <a:srgbClr val="1E5C96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Primera salida: 42K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6140206" y="5613375"/>
            <a:ext cx="1036067" cy="3092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0"/>
              </a:lnSpc>
            </a:pPr>
            <a:r>
              <a:rPr lang="en-US" sz="1700" b="true">
                <a:solidFill>
                  <a:srgbClr val="1E5C96"/>
                </a:solidFill>
                <a:latin typeface="Poppins Bold"/>
                <a:ea typeface="Poppins Bold"/>
                <a:cs typeface="Poppins Bold"/>
                <a:sym typeface="Poppins Bold"/>
              </a:rPr>
              <a:t>9:30 A. M.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6140206" y="5941670"/>
            <a:ext cx="1051992" cy="3220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73"/>
              </a:lnSpc>
            </a:pPr>
            <a:r>
              <a:rPr lang="en-US" sz="1299" b="true">
                <a:solidFill>
                  <a:srgbClr val="1E5C96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Fin del cierre</a:t>
            </a:r>
          </a:p>
          <a:p>
            <a:pPr algn="ctr">
              <a:lnSpc>
                <a:spcPts val="1273"/>
              </a:lnSpc>
            </a:pPr>
            <a:r>
              <a:rPr lang="en-US" sz="1299" b="true">
                <a:solidFill>
                  <a:srgbClr val="1E5C96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vial previsto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200256" y="6664160"/>
            <a:ext cx="4305790" cy="3917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79"/>
              </a:lnSpc>
            </a:pPr>
            <a:r>
              <a:rPr lang="en-US" sz="2199" b="true">
                <a:solidFill>
                  <a:srgbClr val="CAED69"/>
                </a:solidFill>
                <a:latin typeface="Poppins Bold"/>
                <a:ea typeface="Poppins Bold"/>
                <a:cs typeface="Poppins Bold"/>
                <a:sym typeface="Poppins Bold"/>
              </a:rPr>
              <a:t>LO NUEVO / CLAVE EN 2026</a:t>
            </a:r>
          </a:p>
        </p:txBody>
      </p:sp>
      <p:grpSp>
        <p:nvGrpSpPr>
          <p:cNvPr name="Group 24" id="24"/>
          <p:cNvGrpSpPr/>
          <p:nvPr/>
        </p:nvGrpSpPr>
        <p:grpSpPr>
          <a:xfrm rot="0">
            <a:off x="547944" y="7302703"/>
            <a:ext cx="4046488" cy="451273"/>
            <a:chOff x="0" y="0"/>
            <a:chExt cx="5395318" cy="601698"/>
          </a:xfrm>
        </p:grpSpPr>
        <p:sp>
          <p:nvSpPr>
            <p:cNvPr name="TextBox 25" id="25"/>
            <p:cNvSpPr txBox="true"/>
            <p:nvPr/>
          </p:nvSpPr>
          <p:spPr>
            <a:xfrm rot="0">
              <a:off x="0" y="19050"/>
              <a:ext cx="4344054" cy="29427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339029" indent="-169515" lvl="1">
                <a:lnSpc>
                  <a:spcPts val="1538"/>
                </a:lnSpc>
                <a:buFont typeface="Arial"/>
                <a:buChar char="•"/>
              </a:pPr>
              <a:r>
                <a:rPr lang="en-US" b="true" sz="1570">
                  <a:solidFill>
                    <a:srgbClr val="1E5C96"/>
                  </a:solidFill>
                  <a:latin typeface="Poppins Medium"/>
                  <a:ea typeface="Poppins Medium"/>
                  <a:cs typeface="Poppins Medium"/>
                  <a:sym typeface="Poppins Medium"/>
                </a:rPr>
                <a:t>Se incorpora la distancia 32K</a:t>
              </a:r>
            </a:p>
          </p:txBody>
        </p:sp>
        <p:sp>
          <p:nvSpPr>
            <p:cNvPr name="TextBox 26" id="26"/>
            <p:cNvSpPr txBox="true"/>
            <p:nvPr/>
          </p:nvSpPr>
          <p:spPr>
            <a:xfrm rot="0">
              <a:off x="294925" y="307424"/>
              <a:ext cx="5100392" cy="29427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538"/>
                </a:lnSpc>
              </a:pPr>
              <a:r>
                <a:rPr lang="en-US" sz="1570" b="true">
                  <a:solidFill>
                    <a:srgbClr val="2DA7B1"/>
                  </a:solidFill>
                  <a:latin typeface="Poppins Semi-Bold"/>
                  <a:ea typeface="Poppins Semi-Bold"/>
                  <a:cs typeface="Poppins Semi-Bold"/>
                  <a:sym typeface="Poppins Semi-Bold"/>
                </a:rPr>
                <a:t>“ La escala perfecta para la maratón”</a:t>
              </a:r>
            </a:p>
          </p:txBody>
        </p:sp>
      </p:grpSp>
      <p:sp>
        <p:nvSpPr>
          <p:cNvPr name="TextBox 27" id="27"/>
          <p:cNvSpPr txBox="true"/>
          <p:nvPr/>
        </p:nvSpPr>
        <p:spPr>
          <a:xfrm rot="0">
            <a:off x="547944" y="7954001"/>
            <a:ext cx="4281010" cy="2159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39029" indent="-169515" lvl="1">
              <a:lnSpc>
                <a:spcPts val="1538"/>
              </a:lnSpc>
              <a:buFont typeface="Arial"/>
              <a:buChar char="•"/>
            </a:pPr>
            <a:r>
              <a:rPr lang="en-US" b="true" sz="1570">
                <a:solidFill>
                  <a:srgbClr val="1E5C96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Los 2K son exclusivamente infantil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892757" y="8156654"/>
            <a:ext cx="3402378" cy="2159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38"/>
              </a:lnSpc>
            </a:pPr>
            <a:r>
              <a:rPr lang="en-US" sz="1570" b="true">
                <a:solidFill>
                  <a:srgbClr val="1E5C96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para participantes de </a:t>
            </a:r>
            <a:r>
              <a:rPr lang="en-US" sz="1570" b="true">
                <a:solidFill>
                  <a:srgbClr val="2DA7B1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7 a 15 años</a:t>
            </a:r>
          </a:p>
        </p:txBody>
      </p:sp>
      <p:grpSp>
        <p:nvGrpSpPr>
          <p:cNvPr name="Group 29" id="29"/>
          <p:cNvGrpSpPr/>
          <p:nvPr/>
        </p:nvGrpSpPr>
        <p:grpSpPr>
          <a:xfrm rot="0">
            <a:off x="547944" y="8528866"/>
            <a:ext cx="5629262" cy="424018"/>
            <a:chOff x="0" y="0"/>
            <a:chExt cx="7505683" cy="565357"/>
          </a:xfrm>
        </p:grpSpPr>
        <p:sp>
          <p:nvSpPr>
            <p:cNvPr name="TextBox 30" id="30"/>
            <p:cNvSpPr txBox="true"/>
            <p:nvPr/>
          </p:nvSpPr>
          <p:spPr>
            <a:xfrm rot="0">
              <a:off x="491854" y="19050"/>
              <a:ext cx="3168605" cy="29427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538"/>
                </a:lnSpc>
              </a:pPr>
              <a:r>
                <a:rPr lang="en-US" sz="1570" b="true">
                  <a:solidFill>
                    <a:srgbClr val="2DA7B1"/>
                  </a:solidFill>
                  <a:latin typeface="Poppins Semi-Bold"/>
                  <a:ea typeface="Poppins Semi-Bold"/>
                  <a:cs typeface="Poppins Semi-Bold"/>
                  <a:sym typeface="Poppins Semi-Bold"/>
                </a:rPr>
                <a:t>Dorsal + chip + manilla </a:t>
              </a:r>
            </a:p>
          </p:txBody>
        </p:sp>
        <p:sp>
          <p:nvSpPr>
            <p:cNvPr name="TextBox 31" id="31"/>
            <p:cNvSpPr txBox="true"/>
            <p:nvPr/>
          </p:nvSpPr>
          <p:spPr>
            <a:xfrm rot="0">
              <a:off x="491854" y="271083"/>
              <a:ext cx="7013829" cy="29427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538"/>
                </a:lnSpc>
              </a:pPr>
              <a:r>
                <a:rPr lang="en-US" sz="1570" b="true">
                  <a:solidFill>
                    <a:srgbClr val="1E5C96"/>
                  </a:solidFill>
                  <a:latin typeface="Poppins Medium"/>
                  <a:ea typeface="Poppins Medium"/>
                  <a:cs typeface="Poppins Medium"/>
                  <a:sym typeface="Poppins Medium"/>
                </a:rPr>
                <a:t>son los tres elementos de identificación del corredor</a:t>
              </a:r>
            </a:p>
          </p:txBody>
        </p:sp>
        <p:sp>
          <p:nvSpPr>
            <p:cNvPr name="TextBox 32" id="32"/>
            <p:cNvSpPr txBox="true"/>
            <p:nvPr/>
          </p:nvSpPr>
          <p:spPr>
            <a:xfrm rot="0">
              <a:off x="0" y="171104"/>
              <a:ext cx="452003" cy="29427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339029" indent="-169515" lvl="1">
                <a:lnSpc>
                  <a:spcPts val="1538"/>
                </a:lnSpc>
                <a:buFont typeface="Arial"/>
                <a:buChar char="•"/>
              </a:pPr>
            </a:p>
          </p:txBody>
        </p:sp>
      </p:grpSp>
      <p:sp>
        <p:nvSpPr>
          <p:cNvPr name="TextBox 33" id="33"/>
          <p:cNvSpPr txBox="true"/>
          <p:nvPr/>
        </p:nvSpPr>
        <p:spPr>
          <a:xfrm rot="0">
            <a:off x="555906" y="9152909"/>
            <a:ext cx="5777119" cy="4070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39029" indent="-169515" lvl="1">
              <a:lnSpc>
                <a:spcPts val="1538"/>
              </a:lnSpc>
              <a:buFont typeface="Arial"/>
              <a:buChar char="•"/>
            </a:pPr>
            <a:r>
              <a:rPr lang="en-US" b="true" sz="1570">
                <a:solidFill>
                  <a:srgbClr val="1E5C96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La medalla se entrega </a:t>
            </a:r>
            <a:r>
              <a:rPr lang="en-US" b="true" sz="1570">
                <a:solidFill>
                  <a:srgbClr val="2DA7B1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únicamente</a:t>
            </a:r>
            <a:r>
              <a:rPr lang="en-US" b="true" sz="1570">
                <a:solidFill>
                  <a:srgbClr val="1E5C96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a quien complete </a:t>
            </a:r>
          </a:p>
          <a:p>
            <a:pPr algn="l">
              <a:lnSpc>
                <a:spcPts val="1538"/>
              </a:lnSpc>
            </a:pPr>
            <a:r>
              <a:rPr lang="en-US" sz="1570" b="true">
                <a:solidFill>
                  <a:srgbClr val="1E5C96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     su distancia y porte los elementos oficiales requeridos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547944" y="9761493"/>
            <a:ext cx="6069721" cy="4070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39029" indent="-169515" lvl="1">
              <a:lnSpc>
                <a:spcPts val="1538"/>
              </a:lnSpc>
              <a:buFont typeface="Arial"/>
              <a:buChar char="•"/>
            </a:pPr>
            <a:r>
              <a:rPr lang="en-US" b="true" sz="1570">
                <a:solidFill>
                  <a:srgbClr val="1E5C96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El reglamento establece </a:t>
            </a:r>
            <a:r>
              <a:rPr lang="en-US" b="true" sz="1570">
                <a:solidFill>
                  <a:srgbClr val="2DA7B1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corrales, olas de salida, barrido progresivo y cortes operativos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E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7565433" cy="10692000"/>
          </a:xfrm>
          <a:custGeom>
            <a:avLst/>
            <a:gdLst/>
            <a:ahLst/>
            <a:cxnLst/>
            <a:rect r="r" b="b" t="t" l="l"/>
            <a:pathLst>
              <a:path h="10692000" w="7565433">
                <a:moveTo>
                  <a:pt x="0" y="0"/>
                </a:moveTo>
                <a:lnTo>
                  <a:pt x="7565433" y="0"/>
                </a:lnTo>
                <a:lnTo>
                  <a:pt x="7565433" y="10692000"/>
                </a:lnTo>
                <a:lnTo>
                  <a:pt x="0" y="10692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4000"/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417340" y="1045713"/>
            <a:ext cx="4386698" cy="5103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47"/>
              </a:lnSpc>
            </a:pPr>
            <a:r>
              <a:rPr lang="en-US" sz="2962" b="true">
                <a:solidFill>
                  <a:srgbClr val="2DA7B1"/>
                </a:solidFill>
                <a:latin typeface="Unbounded Bold"/>
                <a:ea typeface="Unbounded Bold"/>
                <a:cs typeface="Unbounded Bold"/>
                <a:sym typeface="Unbounded Bold"/>
              </a:rPr>
              <a:t>ANTES DE VIAJAR: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417340" y="1368934"/>
            <a:ext cx="6725321" cy="10086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107"/>
              </a:lnSpc>
            </a:pPr>
            <a:r>
              <a:rPr lang="en-US" sz="5790" b="true">
                <a:solidFill>
                  <a:srgbClr val="1E5C96"/>
                </a:solidFill>
                <a:latin typeface="Unbounded Bold"/>
                <a:ea typeface="Unbounded Bold"/>
                <a:cs typeface="Unbounded Bold"/>
                <a:sym typeface="Unbounded Bold"/>
              </a:rPr>
              <a:t>TU CHECKLIST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417340" y="2411726"/>
            <a:ext cx="6107528" cy="6044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6"/>
              </a:lnSpc>
            </a:pPr>
            <a:r>
              <a:rPr lang="en-US" sz="1740">
                <a:solidFill>
                  <a:srgbClr val="1E5C96"/>
                </a:solidFill>
                <a:latin typeface="Poppins"/>
                <a:ea typeface="Poppins"/>
                <a:cs typeface="Poppins"/>
                <a:sym typeface="Poppins"/>
              </a:rPr>
              <a:t>Seis puntos que debes resolver antes de llegar a la línea de salida.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421261" y="2963928"/>
            <a:ext cx="1226913" cy="25578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807"/>
              </a:lnSpc>
            </a:pPr>
            <a:r>
              <a:rPr lang="en-US" b="true" sz="14862" spc="-1055">
                <a:solidFill>
                  <a:srgbClr val="CAED69"/>
                </a:solidFill>
                <a:latin typeface="Bebas Neue Bold"/>
                <a:ea typeface="Bebas Neue Bold"/>
                <a:cs typeface="Bebas Neue Bold"/>
                <a:sym typeface="Bebas Neue Bold"/>
              </a:rPr>
              <a:t>01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353319" y="4784359"/>
            <a:ext cx="1362797" cy="25578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807"/>
              </a:lnSpc>
            </a:pPr>
            <a:r>
              <a:rPr lang="en-US" b="true" sz="14862" spc="-520">
                <a:solidFill>
                  <a:srgbClr val="CAED69"/>
                </a:solidFill>
                <a:latin typeface="Bebas Neue Bold"/>
                <a:ea typeface="Bebas Neue Bold"/>
                <a:cs typeface="Bebas Neue Bold"/>
                <a:sym typeface="Bebas Neue Bold"/>
              </a:rPr>
              <a:t>02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353319" y="6671122"/>
            <a:ext cx="1362797" cy="25578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807"/>
              </a:lnSpc>
            </a:pPr>
            <a:r>
              <a:rPr lang="en-US" b="true" sz="14862" spc="-520">
                <a:solidFill>
                  <a:srgbClr val="CAED69"/>
                </a:solidFill>
                <a:latin typeface="Bebas Neue Bold"/>
                <a:ea typeface="Bebas Neue Bold"/>
                <a:cs typeface="Bebas Neue Bold"/>
                <a:sym typeface="Bebas Neue Bold"/>
              </a:rPr>
              <a:t>03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3945404" y="2854227"/>
            <a:ext cx="1366242" cy="25647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860"/>
              </a:lnSpc>
            </a:pPr>
            <a:r>
              <a:rPr lang="en-US" b="true" sz="14900" spc="-521">
                <a:solidFill>
                  <a:srgbClr val="CAED69"/>
                </a:solidFill>
                <a:latin typeface="Bebas Neue Bold"/>
                <a:ea typeface="Bebas Neue Bold"/>
                <a:cs typeface="Bebas Neue Bold"/>
                <a:sym typeface="Bebas Neue Bold"/>
              </a:rPr>
              <a:t>04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3945404" y="4784359"/>
            <a:ext cx="1366242" cy="25647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860"/>
              </a:lnSpc>
            </a:pPr>
            <a:r>
              <a:rPr lang="en-US" b="true" sz="14900" spc="-521">
                <a:solidFill>
                  <a:srgbClr val="CAED69"/>
                </a:solidFill>
                <a:latin typeface="Bebas Neue Bold"/>
                <a:ea typeface="Bebas Neue Bold"/>
                <a:cs typeface="Bebas Neue Bold"/>
                <a:sym typeface="Bebas Neue Bold"/>
              </a:rPr>
              <a:t>05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3945404" y="6795942"/>
            <a:ext cx="1366242" cy="25647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0860"/>
              </a:lnSpc>
            </a:pPr>
            <a:r>
              <a:rPr lang="en-US" b="true" sz="14900" spc="-521">
                <a:solidFill>
                  <a:srgbClr val="CAED69"/>
                </a:solidFill>
                <a:latin typeface="Bebas Neue Bold"/>
                <a:ea typeface="Bebas Neue Bold"/>
                <a:cs typeface="Bebas Neue Bold"/>
                <a:sym typeface="Bebas Neue Bold"/>
              </a:rPr>
              <a:t>06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810728" y="3558950"/>
            <a:ext cx="1738542" cy="3608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41"/>
              </a:lnSpc>
            </a:pPr>
            <a:r>
              <a:rPr lang="en-US" sz="1368" b="true">
                <a:solidFill>
                  <a:srgbClr val="2DA7B1"/>
                </a:solidFill>
                <a:latin typeface="Poppins Bold"/>
                <a:ea typeface="Poppins Bold"/>
                <a:cs typeface="Poppins Bold"/>
                <a:sym typeface="Poppins Bold"/>
              </a:rPr>
              <a:t>REVISA TU</a:t>
            </a:r>
          </a:p>
          <a:p>
            <a:pPr algn="l">
              <a:lnSpc>
                <a:spcPts val="1341"/>
              </a:lnSpc>
            </a:pPr>
            <a:r>
              <a:rPr lang="en-US" sz="1368" b="true">
                <a:solidFill>
                  <a:srgbClr val="2DA7B1"/>
                </a:solidFill>
                <a:latin typeface="Poppins Bold"/>
                <a:ea typeface="Poppins Bold"/>
                <a:cs typeface="Poppins Bold"/>
                <a:sym typeface="Poppins Bold"/>
              </a:rPr>
              <a:t>INSCRIPCIÓN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810728" y="4004001"/>
            <a:ext cx="1972751" cy="1016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44"/>
              </a:lnSpc>
            </a:pPr>
            <a:r>
              <a:rPr lang="en-US" sz="1099" b="true">
                <a:solidFill>
                  <a:srgbClr val="1E5C96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Confirma tu nombre, distancia y datos personales antes de viajar.</a:t>
            </a:r>
          </a:p>
          <a:p>
            <a:pPr algn="l">
              <a:lnSpc>
                <a:spcPts val="1044"/>
              </a:lnSpc>
            </a:pPr>
            <a:r>
              <a:rPr lang="en-US" sz="1099" b="true">
                <a:solidFill>
                  <a:srgbClr val="1E5C96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Recuerda: tu inscripción, dorsal, chip y manilla son personales e intransferibles.</a:t>
            </a:r>
          </a:p>
          <a:p>
            <a:pPr algn="l">
              <a:lnSpc>
                <a:spcPts val="1044"/>
              </a:lnSpc>
            </a:pPr>
          </a:p>
        </p:txBody>
      </p:sp>
      <p:sp>
        <p:nvSpPr>
          <p:cNvPr name="TextBox 14" id="14"/>
          <p:cNvSpPr txBox="true"/>
          <p:nvPr/>
        </p:nvSpPr>
        <p:spPr>
          <a:xfrm rot="0">
            <a:off x="1810728" y="5429998"/>
            <a:ext cx="1738542" cy="1947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41"/>
              </a:lnSpc>
            </a:pPr>
            <a:r>
              <a:rPr lang="en-US" sz="1368" b="true">
                <a:solidFill>
                  <a:srgbClr val="2DA7B1"/>
                </a:solidFill>
                <a:latin typeface="Poppins Bold"/>
                <a:ea typeface="Poppins Bold"/>
                <a:cs typeface="Poppins Bold"/>
                <a:sym typeface="Poppins Bold"/>
              </a:rPr>
              <a:t>CUIDA TU SALUD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810728" y="5710484"/>
            <a:ext cx="2134676" cy="11398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44"/>
              </a:lnSpc>
            </a:pPr>
            <a:r>
              <a:rPr lang="en-US" sz="1099" b="true">
                <a:solidFill>
                  <a:srgbClr val="1E5C96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Corre únicamente si estás preparado y en condiciones físicas y de salud adecuadas.</a:t>
            </a:r>
          </a:p>
          <a:p>
            <a:pPr algn="l">
              <a:lnSpc>
                <a:spcPts val="1044"/>
              </a:lnSpc>
            </a:pPr>
            <a:r>
              <a:rPr lang="en-US" sz="1099" b="true">
                <a:solidFill>
                  <a:srgbClr val="1E5C96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Si tu condición cambia antes de la carrera, no tomes la salida y busca orientación médica.</a:t>
            </a:r>
          </a:p>
          <a:p>
            <a:pPr algn="l">
              <a:lnSpc>
                <a:spcPts val="1044"/>
              </a:lnSpc>
            </a:pPr>
            <a:r>
              <a:rPr lang="en-US" sz="1099" b="true">
                <a:solidFill>
                  <a:srgbClr val="1E5C96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Tu seguridad está primero.</a:t>
            </a:r>
          </a:p>
          <a:p>
            <a:pPr algn="l">
              <a:lnSpc>
                <a:spcPts val="1044"/>
              </a:lnSpc>
            </a:pPr>
          </a:p>
        </p:txBody>
      </p:sp>
      <p:sp>
        <p:nvSpPr>
          <p:cNvPr name="TextBox 16" id="16"/>
          <p:cNvSpPr txBox="true"/>
          <p:nvPr/>
        </p:nvSpPr>
        <p:spPr>
          <a:xfrm rot="0">
            <a:off x="1810728" y="7420905"/>
            <a:ext cx="1738542" cy="3608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41"/>
              </a:lnSpc>
            </a:pPr>
            <a:r>
              <a:rPr lang="en-US" sz="1368" b="true">
                <a:solidFill>
                  <a:srgbClr val="2DA7B1"/>
                </a:solidFill>
                <a:latin typeface="Poppins Bold"/>
                <a:ea typeface="Poppins Bold"/>
                <a:cs typeface="Poppins Bold"/>
                <a:sym typeface="Poppins Bold"/>
              </a:rPr>
              <a:t>PLANEA TU LLEGADA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810728" y="7865956"/>
            <a:ext cx="1926620" cy="1758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44"/>
              </a:lnSpc>
            </a:pPr>
            <a:r>
              <a:rPr lang="en-US" sz="1099" b="true">
                <a:solidFill>
                  <a:srgbClr val="1E5C96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Consulta antes de viajar los requisitos vigentes de ingreso a San Andrés y organiza con anticipación vuelos, alojamiento y traslados.</a:t>
            </a:r>
          </a:p>
          <a:p>
            <a:pPr algn="l">
              <a:lnSpc>
                <a:spcPts val="1044"/>
              </a:lnSpc>
            </a:pPr>
            <a:r>
              <a:rPr lang="en-US" sz="1099" b="true">
                <a:solidFill>
                  <a:srgbClr val="1E5C96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Los requisitos, controles, tasas y autorizaciones de ingreso a la isla dependen de las autoridades competentes y son responsabilidad de cada viajero.</a:t>
            </a:r>
          </a:p>
          <a:p>
            <a:pPr algn="l">
              <a:lnSpc>
                <a:spcPts val="1044"/>
              </a:lnSpc>
            </a:pPr>
          </a:p>
        </p:txBody>
      </p:sp>
      <p:sp>
        <p:nvSpPr>
          <p:cNvPr name="TextBox 18" id="18"/>
          <p:cNvSpPr txBox="true"/>
          <p:nvPr/>
        </p:nvSpPr>
        <p:spPr>
          <a:xfrm rot="0">
            <a:off x="5473571" y="3478363"/>
            <a:ext cx="1738542" cy="3608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41"/>
              </a:lnSpc>
            </a:pPr>
            <a:r>
              <a:rPr lang="en-US" sz="1368" b="true">
                <a:solidFill>
                  <a:srgbClr val="2DA7B1"/>
                </a:solidFill>
                <a:latin typeface="Poppins Bold"/>
                <a:ea typeface="Poppins Bold"/>
                <a:cs typeface="Poppins Bold"/>
                <a:sym typeface="Poppins Bold"/>
              </a:rPr>
              <a:t>RETIRA TU KIT</a:t>
            </a:r>
          </a:p>
          <a:p>
            <a:pPr algn="l">
              <a:lnSpc>
                <a:spcPts val="1341"/>
              </a:lnSpc>
            </a:pPr>
            <a:r>
              <a:rPr lang="en-US" sz="1368" b="true">
                <a:solidFill>
                  <a:srgbClr val="2DA7B1"/>
                </a:solidFill>
                <a:latin typeface="Poppins Bold"/>
                <a:ea typeface="Poppins Bold"/>
                <a:cs typeface="Poppins Bold"/>
                <a:sym typeface="Poppins Bold"/>
              </a:rPr>
              <a:t>A TIEMPO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5473571" y="3923414"/>
            <a:ext cx="1738542" cy="11396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39"/>
              </a:lnSpc>
            </a:pPr>
            <a:r>
              <a:rPr lang="en-US" sz="1094" b="true">
                <a:solidFill>
                  <a:srgbClr val="1E5C96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Recoge tu kit únicamente durante las fechas y horarios oficiales de la Expo.</a:t>
            </a:r>
          </a:p>
          <a:p>
            <a:pPr algn="l">
              <a:lnSpc>
                <a:spcPts val="1039"/>
              </a:lnSpc>
            </a:pPr>
            <a:r>
              <a:rPr lang="en-US" sz="1094" b="true">
                <a:solidFill>
                  <a:srgbClr val="1E5C96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No habrá entrega de kits el día de la carrera ni fuera de los horarios establecidos.</a:t>
            </a:r>
          </a:p>
          <a:p>
            <a:pPr algn="l">
              <a:lnSpc>
                <a:spcPts val="1039"/>
              </a:lnSpc>
            </a:pPr>
          </a:p>
        </p:txBody>
      </p:sp>
      <p:sp>
        <p:nvSpPr>
          <p:cNvPr name="TextBox 20" id="20"/>
          <p:cNvSpPr txBox="true"/>
          <p:nvPr/>
        </p:nvSpPr>
        <p:spPr>
          <a:xfrm rot="0">
            <a:off x="5473571" y="5322068"/>
            <a:ext cx="1738542" cy="3608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41"/>
              </a:lnSpc>
            </a:pPr>
            <a:r>
              <a:rPr lang="en-US" sz="1368" b="true">
                <a:solidFill>
                  <a:srgbClr val="2DA7B1"/>
                </a:solidFill>
                <a:latin typeface="Poppins Bold"/>
                <a:ea typeface="Poppins Bold"/>
                <a:cs typeface="Poppins Bold"/>
                <a:sym typeface="Poppins Bold"/>
              </a:rPr>
              <a:t>TEN PRESENTE TU </a:t>
            </a:r>
          </a:p>
          <a:p>
            <a:pPr algn="l">
              <a:lnSpc>
                <a:spcPts val="1341"/>
              </a:lnSpc>
            </a:pPr>
            <a:r>
              <a:rPr lang="en-US" sz="1368" b="true">
                <a:solidFill>
                  <a:srgbClr val="2DA7B1"/>
                </a:solidFill>
                <a:latin typeface="Poppins Bold"/>
                <a:ea typeface="Poppins Bold"/>
                <a:cs typeface="Poppins Bold"/>
                <a:sym typeface="Poppins Bold"/>
              </a:rPr>
              <a:t>HORARIO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5473571" y="5776644"/>
            <a:ext cx="1738542" cy="5903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34"/>
              </a:lnSpc>
            </a:pPr>
            <a:r>
              <a:rPr lang="en-US" sz="1194" b="true">
                <a:solidFill>
                  <a:srgbClr val="1E5C96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Llega a la zona de partida con mínimo 30 minutos de anticipación.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5473571" y="7420905"/>
            <a:ext cx="1738542" cy="1947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41"/>
              </a:lnSpc>
            </a:pPr>
            <a:r>
              <a:rPr lang="en-US" sz="1368" b="true">
                <a:solidFill>
                  <a:srgbClr val="2DA7B1"/>
                </a:solidFill>
                <a:latin typeface="Poppins Bold"/>
                <a:ea typeface="Poppins Bold"/>
                <a:cs typeface="Poppins Bold"/>
                <a:sym typeface="Poppins Bold"/>
              </a:rPr>
              <a:t>LEE LAS REGLAS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5473571" y="7701392"/>
            <a:ext cx="1738542" cy="16349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39"/>
              </a:lnSpc>
            </a:pPr>
            <a:r>
              <a:rPr lang="en-US" sz="1094" b="true">
                <a:solidFill>
                  <a:srgbClr val="1E5C96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Tu dorsal debe ir visible al frente durante toda la carrera.</a:t>
            </a:r>
          </a:p>
          <a:p>
            <a:pPr algn="l">
              <a:lnSpc>
                <a:spcPts val="1039"/>
              </a:lnSpc>
            </a:pPr>
            <a:r>
              <a:rPr lang="en-US" sz="1094" b="true">
                <a:solidFill>
                  <a:srgbClr val="1E5C96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La inscripción, dorsal, chip y manilla son personales e intransferibles.</a:t>
            </a:r>
          </a:p>
          <a:p>
            <a:pPr algn="l">
              <a:lnSpc>
                <a:spcPts val="1039"/>
              </a:lnSpc>
            </a:pPr>
            <a:r>
              <a:rPr lang="en-US" sz="1094" b="true">
                <a:solidFill>
                  <a:srgbClr val="1E5C96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Consulta el reglamento completo en fundacion7colores.org/terminos-y-condiciones/</a:t>
            </a:r>
          </a:p>
          <a:p>
            <a:pPr algn="l">
              <a:lnSpc>
                <a:spcPts val="1039"/>
              </a:lnSpc>
            </a:pP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E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7565433" cy="10692000"/>
          </a:xfrm>
          <a:custGeom>
            <a:avLst/>
            <a:gdLst/>
            <a:ahLst/>
            <a:cxnLst/>
            <a:rect r="r" b="b" t="t" l="l"/>
            <a:pathLst>
              <a:path h="10692000" w="7565433">
                <a:moveTo>
                  <a:pt x="0" y="0"/>
                </a:moveTo>
                <a:lnTo>
                  <a:pt x="7565433" y="0"/>
                </a:lnTo>
                <a:lnTo>
                  <a:pt x="7565433" y="10692000"/>
                </a:lnTo>
                <a:lnTo>
                  <a:pt x="0" y="10692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4000"/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296561" y="4116413"/>
            <a:ext cx="3228177" cy="3732206"/>
            <a:chOff x="0" y="0"/>
            <a:chExt cx="1156906" cy="133753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156906" cy="1337538"/>
            </a:xfrm>
            <a:custGeom>
              <a:avLst/>
              <a:gdLst/>
              <a:ahLst/>
              <a:cxnLst/>
              <a:rect r="r" b="b" t="t" l="l"/>
              <a:pathLst>
                <a:path h="1337538" w="1156906">
                  <a:moveTo>
                    <a:pt x="88735" y="0"/>
                  </a:moveTo>
                  <a:lnTo>
                    <a:pt x="1068171" y="0"/>
                  </a:lnTo>
                  <a:cubicBezTo>
                    <a:pt x="1091705" y="0"/>
                    <a:pt x="1114275" y="9349"/>
                    <a:pt x="1130916" y="25990"/>
                  </a:cubicBezTo>
                  <a:cubicBezTo>
                    <a:pt x="1147557" y="42631"/>
                    <a:pt x="1156906" y="65201"/>
                    <a:pt x="1156906" y="88735"/>
                  </a:cubicBezTo>
                  <a:lnTo>
                    <a:pt x="1156906" y="1248804"/>
                  </a:lnTo>
                  <a:cubicBezTo>
                    <a:pt x="1156906" y="1297810"/>
                    <a:pt x="1117178" y="1337538"/>
                    <a:pt x="1068171" y="1337538"/>
                  </a:cubicBezTo>
                  <a:lnTo>
                    <a:pt x="88735" y="1337538"/>
                  </a:lnTo>
                  <a:cubicBezTo>
                    <a:pt x="39728" y="1337538"/>
                    <a:pt x="0" y="1297810"/>
                    <a:pt x="0" y="1248804"/>
                  </a:cubicBezTo>
                  <a:lnTo>
                    <a:pt x="0" y="88735"/>
                  </a:lnTo>
                  <a:cubicBezTo>
                    <a:pt x="0" y="39728"/>
                    <a:pt x="39728" y="0"/>
                    <a:pt x="88735" y="0"/>
                  </a:cubicBezTo>
                  <a:close/>
                </a:path>
              </a:pathLst>
            </a:custGeom>
            <a:ln w="28575" cap="rnd">
              <a:solidFill>
                <a:srgbClr val="CAED69"/>
              </a:solidFill>
              <a:prstDash val="solid"/>
              <a:round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19050"/>
              <a:ext cx="1156906" cy="131848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201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4060438" y="4116413"/>
            <a:ext cx="3228177" cy="3732206"/>
            <a:chOff x="0" y="0"/>
            <a:chExt cx="1156906" cy="1337538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156906" cy="1337538"/>
            </a:xfrm>
            <a:custGeom>
              <a:avLst/>
              <a:gdLst/>
              <a:ahLst/>
              <a:cxnLst/>
              <a:rect r="r" b="b" t="t" l="l"/>
              <a:pathLst>
                <a:path h="1337538" w="1156906">
                  <a:moveTo>
                    <a:pt x="88735" y="0"/>
                  </a:moveTo>
                  <a:lnTo>
                    <a:pt x="1068171" y="0"/>
                  </a:lnTo>
                  <a:cubicBezTo>
                    <a:pt x="1091705" y="0"/>
                    <a:pt x="1114275" y="9349"/>
                    <a:pt x="1130916" y="25990"/>
                  </a:cubicBezTo>
                  <a:cubicBezTo>
                    <a:pt x="1147557" y="42631"/>
                    <a:pt x="1156906" y="65201"/>
                    <a:pt x="1156906" y="88735"/>
                  </a:cubicBezTo>
                  <a:lnTo>
                    <a:pt x="1156906" y="1248804"/>
                  </a:lnTo>
                  <a:cubicBezTo>
                    <a:pt x="1156906" y="1297810"/>
                    <a:pt x="1117178" y="1337538"/>
                    <a:pt x="1068171" y="1337538"/>
                  </a:cubicBezTo>
                  <a:lnTo>
                    <a:pt x="88735" y="1337538"/>
                  </a:lnTo>
                  <a:cubicBezTo>
                    <a:pt x="39728" y="1337538"/>
                    <a:pt x="0" y="1297810"/>
                    <a:pt x="0" y="1248804"/>
                  </a:cubicBezTo>
                  <a:lnTo>
                    <a:pt x="0" y="88735"/>
                  </a:lnTo>
                  <a:cubicBezTo>
                    <a:pt x="0" y="39728"/>
                    <a:pt x="39728" y="0"/>
                    <a:pt x="88735" y="0"/>
                  </a:cubicBezTo>
                  <a:close/>
                </a:path>
              </a:pathLst>
            </a:custGeom>
            <a:ln w="28575" cap="rnd">
              <a:solidFill>
                <a:srgbClr val="CAED69"/>
              </a:solidFill>
              <a:prstDash val="solid"/>
              <a:round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19050"/>
              <a:ext cx="1156906" cy="131848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201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420219" y="3869708"/>
            <a:ext cx="2968699" cy="675946"/>
            <a:chOff x="0" y="0"/>
            <a:chExt cx="1063915" cy="242244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063915" cy="242244"/>
            </a:xfrm>
            <a:custGeom>
              <a:avLst/>
              <a:gdLst/>
              <a:ahLst/>
              <a:cxnLst/>
              <a:rect r="r" b="b" t="t" l="l"/>
              <a:pathLst>
                <a:path h="242244" w="1063915">
                  <a:moveTo>
                    <a:pt x="96490" y="0"/>
                  </a:moveTo>
                  <a:lnTo>
                    <a:pt x="967424" y="0"/>
                  </a:lnTo>
                  <a:cubicBezTo>
                    <a:pt x="993015" y="0"/>
                    <a:pt x="1017558" y="10166"/>
                    <a:pt x="1035653" y="28261"/>
                  </a:cubicBezTo>
                  <a:cubicBezTo>
                    <a:pt x="1053749" y="46357"/>
                    <a:pt x="1063915" y="70900"/>
                    <a:pt x="1063915" y="96490"/>
                  </a:cubicBezTo>
                  <a:lnTo>
                    <a:pt x="1063915" y="145753"/>
                  </a:lnTo>
                  <a:cubicBezTo>
                    <a:pt x="1063915" y="199044"/>
                    <a:pt x="1020715" y="242244"/>
                    <a:pt x="967424" y="242244"/>
                  </a:cubicBezTo>
                  <a:lnTo>
                    <a:pt x="96490" y="242244"/>
                  </a:lnTo>
                  <a:cubicBezTo>
                    <a:pt x="70900" y="242244"/>
                    <a:pt x="46357" y="232078"/>
                    <a:pt x="28261" y="213982"/>
                  </a:cubicBezTo>
                  <a:cubicBezTo>
                    <a:pt x="10166" y="195887"/>
                    <a:pt x="0" y="171344"/>
                    <a:pt x="0" y="145753"/>
                  </a:cubicBezTo>
                  <a:lnTo>
                    <a:pt x="0" y="96490"/>
                  </a:lnTo>
                  <a:cubicBezTo>
                    <a:pt x="0" y="70900"/>
                    <a:pt x="10166" y="46357"/>
                    <a:pt x="28261" y="28261"/>
                  </a:cubicBezTo>
                  <a:cubicBezTo>
                    <a:pt x="46357" y="10166"/>
                    <a:pt x="70900" y="0"/>
                    <a:pt x="96490" y="0"/>
                  </a:cubicBezTo>
                  <a:close/>
                </a:path>
              </a:pathLst>
            </a:custGeom>
            <a:solidFill>
              <a:srgbClr val="1E5C96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19050"/>
              <a:ext cx="1063915" cy="22319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201"/>
                </a:lnSpc>
              </a:pP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-2088567" y="3892848"/>
            <a:ext cx="7996307" cy="3732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9"/>
              </a:lnSpc>
            </a:pPr>
            <a:r>
              <a:rPr lang="en-US" sz="2106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TODO EMPIEZA EN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756000" y="4170540"/>
            <a:ext cx="7996307" cy="3751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9"/>
              </a:lnSpc>
            </a:pPr>
            <a:r>
              <a:rPr lang="en-US" sz="2106" b="true">
                <a:solidFill>
                  <a:srgbClr val="CAED69"/>
                </a:solidFill>
                <a:latin typeface="Poppins Bold"/>
                <a:ea typeface="Poppins Bold"/>
                <a:cs typeface="Poppins Bold"/>
                <a:sym typeface="Poppins Bold"/>
              </a:rPr>
              <a:t>LA EXPO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462489" y="449642"/>
            <a:ext cx="3320227" cy="13140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630"/>
              </a:lnSpc>
            </a:pPr>
            <a:r>
              <a:rPr lang="en-US" sz="7592" b="true">
                <a:solidFill>
                  <a:srgbClr val="2DA7B1"/>
                </a:solidFill>
                <a:latin typeface="Unbounded Bold"/>
                <a:ea typeface="Unbounded Bold"/>
                <a:cs typeface="Unbounded Bold"/>
                <a:sym typeface="Unbounded Bold"/>
              </a:rPr>
              <a:t>EXPO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462489" y="1568565"/>
            <a:ext cx="6556177" cy="9394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544"/>
              </a:lnSpc>
            </a:pPr>
            <a:r>
              <a:rPr lang="en-US" sz="5389" b="true">
                <a:solidFill>
                  <a:srgbClr val="1E5C96"/>
                </a:solidFill>
                <a:latin typeface="Unbounded Bold"/>
                <a:ea typeface="Unbounded Bold"/>
                <a:cs typeface="Unbounded Bold"/>
                <a:sym typeface="Unbounded Bold"/>
              </a:rPr>
              <a:t>RETIRO DEL KIT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-884009" y="2609085"/>
            <a:ext cx="5760702" cy="3580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39"/>
              </a:lnSpc>
            </a:pPr>
            <a:r>
              <a:rPr lang="en-US" sz="2028">
                <a:solidFill>
                  <a:srgbClr val="2DA7B1"/>
                </a:solidFill>
                <a:latin typeface="Poppins"/>
                <a:ea typeface="Poppins"/>
                <a:cs typeface="Poppins"/>
                <a:sym typeface="Poppins"/>
              </a:rPr>
              <a:t>27 Y 28 DE NOVIEMBRE  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290065" y="5696408"/>
            <a:ext cx="3209900" cy="4268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54331" indent="-177165" lvl="1">
              <a:lnSpc>
                <a:spcPts val="1608"/>
              </a:lnSpc>
              <a:buFont typeface="Arial"/>
              <a:buChar char="•"/>
            </a:pPr>
            <a:r>
              <a:rPr lang="en-US" b="true" sz="1641">
                <a:solidFill>
                  <a:srgbClr val="1E5C96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Documento de identidad original.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296561" y="6373041"/>
            <a:ext cx="3209900" cy="4268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54331" indent="-177165" lvl="1">
              <a:lnSpc>
                <a:spcPts val="1608"/>
              </a:lnSpc>
              <a:buFont typeface="Arial"/>
              <a:buChar char="•"/>
            </a:pPr>
            <a:r>
              <a:rPr lang="en-US" b="true" sz="1641">
                <a:solidFill>
                  <a:srgbClr val="1E5C96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Comprobante de inscripción.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462489" y="4859978"/>
            <a:ext cx="3209900" cy="4268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08"/>
              </a:lnSpc>
            </a:pPr>
            <a:r>
              <a:rPr lang="en-US" sz="1641" b="true">
                <a:solidFill>
                  <a:srgbClr val="1E5C96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Para reclamar tu kit personalmente presenta: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4202372" y="3869708"/>
            <a:ext cx="2968699" cy="675946"/>
            <a:chOff x="0" y="0"/>
            <a:chExt cx="1063915" cy="242244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063915" cy="242244"/>
            </a:xfrm>
            <a:custGeom>
              <a:avLst/>
              <a:gdLst/>
              <a:ahLst/>
              <a:cxnLst/>
              <a:rect r="r" b="b" t="t" l="l"/>
              <a:pathLst>
                <a:path h="242244" w="1063915">
                  <a:moveTo>
                    <a:pt x="96490" y="0"/>
                  </a:moveTo>
                  <a:lnTo>
                    <a:pt x="967424" y="0"/>
                  </a:lnTo>
                  <a:cubicBezTo>
                    <a:pt x="993015" y="0"/>
                    <a:pt x="1017558" y="10166"/>
                    <a:pt x="1035653" y="28261"/>
                  </a:cubicBezTo>
                  <a:cubicBezTo>
                    <a:pt x="1053749" y="46357"/>
                    <a:pt x="1063915" y="70900"/>
                    <a:pt x="1063915" y="96490"/>
                  </a:cubicBezTo>
                  <a:lnTo>
                    <a:pt x="1063915" y="145753"/>
                  </a:lnTo>
                  <a:cubicBezTo>
                    <a:pt x="1063915" y="199044"/>
                    <a:pt x="1020715" y="242244"/>
                    <a:pt x="967424" y="242244"/>
                  </a:cubicBezTo>
                  <a:lnTo>
                    <a:pt x="96490" y="242244"/>
                  </a:lnTo>
                  <a:cubicBezTo>
                    <a:pt x="70900" y="242244"/>
                    <a:pt x="46357" y="232078"/>
                    <a:pt x="28261" y="213982"/>
                  </a:cubicBezTo>
                  <a:cubicBezTo>
                    <a:pt x="10166" y="195887"/>
                    <a:pt x="0" y="171344"/>
                    <a:pt x="0" y="145753"/>
                  </a:cubicBezTo>
                  <a:lnTo>
                    <a:pt x="0" y="96490"/>
                  </a:lnTo>
                  <a:cubicBezTo>
                    <a:pt x="0" y="70900"/>
                    <a:pt x="10166" y="46357"/>
                    <a:pt x="28261" y="28261"/>
                  </a:cubicBezTo>
                  <a:cubicBezTo>
                    <a:pt x="46357" y="10166"/>
                    <a:pt x="70900" y="0"/>
                    <a:pt x="96490" y="0"/>
                  </a:cubicBezTo>
                  <a:close/>
                </a:path>
              </a:pathLst>
            </a:custGeom>
            <a:solidFill>
              <a:srgbClr val="1E5C96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0" y="19050"/>
              <a:ext cx="1063915" cy="22319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201"/>
                </a:lnSpc>
              </a:pPr>
            </a:p>
          </p:txBody>
        </p:sp>
      </p:grpSp>
      <p:sp>
        <p:nvSpPr>
          <p:cNvPr name="TextBox 23" id="23"/>
          <p:cNvSpPr txBox="true"/>
          <p:nvPr/>
        </p:nvSpPr>
        <p:spPr>
          <a:xfrm rot="0">
            <a:off x="4535869" y="3832567"/>
            <a:ext cx="7996307" cy="3751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9"/>
              </a:lnSpc>
            </a:pPr>
            <a:r>
              <a:rPr lang="en-US" sz="2106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EL KIT DE CARRERA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4535869" y="4132939"/>
            <a:ext cx="7996307" cy="3751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9"/>
              </a:lnSpc>
            </a:pPr>
            <a:r>
              <a:rPr lang="en-US" sz="2106" b="true">
                <a:solidFill>
                  <a:srgbClr val="CAED69"/>
                </a:solidFill>
                <a:latin typeface="Poppins Bold"/>
                <a:ea typeface="Poppins Bold"/>
                <a:cs typeface="Poppins Bold"/>
                <a:sym typeface="Poppins Bold"/>
              </a:rPr>
              <a:t>INCLUYE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4078715" y="4887423"/>
            <a:ext cx="3209900" cy="4268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54331" indent="-177165" lvl="1">
              <a:lnSpc>
                <a:spcPts val="1608"/>
              </a:lnSpc>
              <a:buFont typeface="Arial"/>
              <a:buChar char="•"/>
            </a:pPr>
            <a:r>
              <a:rPr lang="en-US" b="true" sz="1641">
                <a:solidFill>
                  <a:srgbClr val="1E5C96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Dorsal con chip de cronometraje.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4096992" y="5635835"/>
            <a:ext cx="3209900" cy="2268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54331" indent="-177165" lvl="1">
              <a:lnSpc>
                <a:spcPts val="1608"/>
              </a:lnSpc>
              <a:buFont typeface="Arial"/>
              <a:buChar char="•"/>
            </a:pPr>
            <a:r>
              <a:rPr lang="en-US" b="true" sz="1641">
                <a:solidFill>
                  <a:srgbClr val="1E5C96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Camiseta oficial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4096992" y="6173016"/>
            <a:ext cx="3209900" cy="6268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54331" indent="-177165" lvl="1">
              <a:lnSpc>
                <a:spcPts val="1608"/>
              </a:lnSpc>
              <a:buFont typeface="Arial"/>
              <a:buChar char="•"/>
            </a:pPr>
            <a:r>
              <a:rPr lang="en-US" b="true" sz="1641">
                <a:solidFill>
                  <a:srgbClr val="1E5C96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Manilla oficial y demás elementos dispuestos por la Organización.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4096992" y="7026805"/>
            <a:ext cx="3209900" cy="6268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54331" indent="-177165" lvl="1">
              <a:lnSpc>
                <a:spcPts val="1608"/>
              </a:lnSpc>
              <a:buFont typeface="Arial"/>
              <a:buChar char="•"/>
            </a:pPr>
            <a:r>
              <a:rPr lang="en-US" b="true" sz="1641">
                <a:solidFill>
                  <a:srgbClr val="1E5C96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Información operativa/manual del corredor.</a:t>
            </a:r>
          </a:p>
        </p:txBody>
      </p:sp>
      <p:grpSp>
        <p:nvGrpSpPr>
          <p:cNvPr name="Group 29" id="29"/>
          <p:cNvGrpSpPr/>
          <p:nvPr/>
        </p:nvGrpSpPr>
        <p:grpSpPr>
          <a:xfrm rot="0">
            <a:off x="294281" y="8143894"/>
            <a:ext cx="6411367" cy="2194005"/>
            <a:chOff x="0" y="0"/>
            <a:chExt cx="2927707" cy="1001877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2927707" cy="1001877"/>
            </a:xfrm>
            <a:custGeom>
              <a:avLst/>
              <a:gdLst/>
              <a:ahLst/>
              <a:cxnLst/>
              <a:rect r="r" b="b" t="t" l="l"/>
              <a:pathLst>
                <a:path h="1001877" w="2927707">
                  <a:moveTo>
                    <a:pt x="44679" y="0"/>
                  </a:moveTo>
                  <a:lnTo>
                    <a:pt x="2883028" y="0"/>
                  </a:lnTo>
                  <a:cubicBezTo>
                    <a:pt x="2894878" y="0"/>
                    <a:pt x="2906242" y="4707"/>
                    <a:pt x="2914621" y="13086"/>
                  </a:cubicBezTo>
                  <a:cubicBezTo>
                    <a:pt x="2923000" y="21465"/>
                    <a:pt x="2927707" y="32829"/>
                    <a:pt x="2927707" y="44679"/>
                  </a:cubicBezTo>
                  <a:lnTo>
                    <a:pt x="2927707" y="957199"/>
                  </a:lnTo>
                  <a:cubicBezTo>
                    <a:pt x="2927707" y="981874"/>
                    <a:pt x="2907704" y="1001877"/>
                    <a:pt x="2883028" y="1001877"/>
                  </a:cubicBezTo>
                  <a:lnTo>
                    <a:pt x="44679" y="1001877"/>
                  </a:lnTo>
                  <a:cubicBezTo>
                    <a:pt x="20003" y="1001877"/>
                    <a:pt x="0" y="981874"/>
                    <a:pt x="0" y="957199"/>
                  </a:cubicBezTo>
                  <a:lnTo>
                    <a:pt x="0" y="44679"/>
                  </a:lnTo>
                  <a:cubicBezTo>
                    <a:pt x="0" y="20003"/>
                    <a:pt x="20003" y="0"/>
                    <a:pt x="44679" y="0"/>
                  </a:cubicBezTo>
                  <a:close/>
                </a:path>
              </a:pathLst>
            </a:custGeom>
            <a:solidFill>
              <a:srgbClr val="1E5C96"/>
            </a:solidFill>
          </p:spPr>
        </p:sp>
        <p:sp>
          <p:nvSpPr>
            <p:cNvPr name="TextBox 31" id="31"/>
            <p:cNvSpPr txBox="true"/>
            <p:nvPr/>
          </p:nvSpPr>
          <p:spPr>
            <a:xfrm>
              <a:off x="0" y="19050"/>
              <a:ext cx="2927707" cy="98282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134"/>
                </a:lnSpc>
              </a:pPr>
            </a:p>
          </p:txBody>
        </p:sp>
      </p:grpSp>
      <p:sp>
        <p:nvSpPr>
          <p:cNvPr name="Freeform 32" id="32"/>
          <p:cNvSpPr/>
          <p:nvPr/>
        </p:nvSpPr>
        <p:spPr>
          <a:xfrm flipH="false" flipV="false" rot="0">
            <a:off x="165362" y="8394338"/>
            <a:ext cx="1830980" cy="1830980"/>
          </a:xfrm>
          <a:custGeom>
            <a:avLst/>
            <a:gdLst/>
            <a:ahLst/>
            <a:cxnLst/>
            <a:rect r="r" b="b" t="t" l="l"/>
            <a:pathLst>
              <a:path h="1830980" w="1830980">
                <a:moveTo>
                  <a:pt x="0" y="0"/>
                </a:moveTo>
                <a:lnTo>
                  <a:pt x="1830980" y="0"/>
                </a:lnTo>
                <a:lnTo>
                  <a:pt x="1830980" y="1830980"/>
                </a:lnTo>
                <a:lnTo>
                  <a:pt x="0" y="183098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33" id="33"/>
          <p:cNvSpPr txBox="true"/>
          <p:nvPr/>
        </p:nvSpPr>
        <p:spPr>
          <a:xfrm rot="0">
            <a:off x="1996342" y="8422913"/>
            <a:ext cx="4843453" cy="5178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84"/>
              </a:lnSpc>
            </a:pPr>
            <a:r>
              <a:rPr lang="en-US" sz="2024" b="true">
                <a:solidFill>
                  <a:srgbClr val="CAED69"/>
                </a:solidFill>
                <a:latin typeface="Poppins Bold"/>
                <a:ea typeface="Poppins Bold"/>
                <a:cs typeface="Poppins Bold"/>
                <a:sym typeface="Poppins Bold"/>
              </a:rPr>
              <a:t>NO HABRÁ ENTREGA EL DÍA DE LA CARRERA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996342" y="9025603"/>
            <a:ext cx="4521014" cy="10029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09"/>
              </a:lnSpc>
            </a:pPr>
            <a:r>
              <a:rPr lang="en-US" sz="134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Quien no se presente dentro del horario oficial no podrá participar, no tendrá derecho a recibir el kit y no tendrá derecho a reembolso.</a:t>
            </a:r>
          </a:p>
          <a:p>
            <a:pPr algn="l">
              <a:lnSpc>
                <a:spcPts val="1609"/>
              </a:lnSpc>
            </a:pPr>
            <a:r>
              <a:rPr lang="en-US" sz="134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La Organización tampoco realiza envíos posteriores a ningun otro lugar. 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3937156" y="984081"/>
            <a:ext cx="319693" cy="4797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19"/>
              </a:lnSpc>
            </a:pPr>
            <a:r>
              <a:rPr lang="en-US" sz="2728" b="true">
                <a:solidFill>
                  <a:srgbClr val="1E5C96"/>
                </a:solidFill>
                <a:latin typeface="Unbounded Bold"/>
                <a:ea typeface="Unbounded Bold"/>
                <a:cs typeface="Unbounded Bold"/>
                <a:sym typeface="Unbounded Bold"/>
              </a:rPr>
              <a:t>Y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3499965" y="2516670"/>
            <a:ext cx="6438673" cy="5143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56"/>
              </a:lnSpc>
            </a:pPr>
            <a:r>
              <a:rPr lang="en-US" sz="2825" b="true">
                <a:solidFill>
                  <a:srgbClr val="1E5C96"/>
                </a:solidFill>
                <a:latin typeface="Poppins Ultra-Bold"/>
                <a:ea typeface="Poppins Ultra-Bold"/>
                <a:cs typeface="Poppins Ultra-Bold"/>
                <a:sym typeface="Poppins Ultra-Bold"/>
              </a:rPr>
              <a:t>·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2067439" y="2625829"/>
            <a:ext cx="5760702" cy="3580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39"/>
              </a:lnSpc>
            </a:pPr>
            <a:r>
              <a:rPr lang="en-US" sz="2028" b="true">
                <a:solidFill>
                  <a:srgbClr val="1E5C96"/>
                </a:solidFill>
                <a:latin typeface="Poppins Bold"/>
                <a:ea typeface="Poppins Bold"/>
                <a:cs typeface="Poppins Bold"/>
                <a:sym typeface="Poppins Bold"/>
              </a:rPr>
              <a:t>9:00 AM - 6:00 PM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DA7B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7560000" cy="10692000"/>
          </a:xfrm>
          <a:custGeom>
            <a:avLst/>
            <a:gdLst/>
            <a:ahLst/>
            <a:cxnLst/>
            <a:rect r="r" b="b" t="t" l="l"/>
            <a:pathLst>
              <a:path h="10692000" w="7560000">
                <a:moveTo>
                  <a:pt x="0" y="0"/>
                </a:moveTo>
                <a:lnTo>
                  <a:pt x="7560000" y="0"/>
                </a:lnTo>
                <a:lnTo>
                  <a:pt x="7560000" y="10692000"/>
                </a:lnTo>
                <a:lnTo>
                  <a:pt x="0" y="10692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45" r="0" b="-45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417340" y="689325"/>
            <a:ext cx="6056451" cy="6434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77"/>
              </a:lnSpc>
            </a:pPr>
            <a:r>
              <a:rPr lang="en-US" sz="3769" b="true">
                <a:solidFill>
                  <a:srgbClr val="2DA7B1"/>
                </a:solidFill>
                <a:latin typeface="Unbounded Bold"/>
                <a:ea typeface="Unbounded Bold"/>
                <a:cs typeface="Unbounded Bold"/>
                <a:sym typeface="Unbounded Bold"/>
              </a:rPr>
              <a:t>¿OTRA PERSONA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417340" y="1154313"/>
            <a:ext cx="7135856" cy="7761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258"/>
              </a:lnSpc>
            </a:pPr>
            <a:r>
              <a:rPr lang="en-US" sz="4470" b="true">
                <a:solidFill>
                  <a:srgbClr val="1E5C96"/>
                </a:solidFill>
                <a:latin typeface="Unbounded Bold"/>
                <a:ea typeface="Unbounded Bold"/>
                <a:cs typeface="Unbounded Bold"/>
                <a:sym typeface="Unbounded Bold"/>
              </a:rPr>
              <a:t>RECOGERA TU KIT?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417340" y="2090519"/>
            <a:ext cx="5760702" cy="7993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39"/>
              </a:lnSpc>
            </a:pPr>
            <a:r>
              <a:rPr lang="en-US" sz="1528">
                <a:solidFill>
                  <a:srgbClr val="1E5C96"/>
                </a:solidFill>
                <a:latin typeface="Poppins"/>
                <a:ea typeface="Poppins"/>
                <a:cs typeface="Poppins"/>
                <a:sym typeface="Poppins"/>
              </a:rPr>
              <a:t>Si es posible, pero únicamente </a:t>
            </a:r>
            <a:r>
              <a:rPr lang="en-US" sz="1528" b="true">
                <a:solidFill>
                  <a:srgbClr val="1E5C96"/>
                </a:solidFill>
                <a:latin typeface="Poppins Bold"/>
                <a:ea typeface="Poppins Bold"/>
                <a:cs typeface="Poppins Bold"/>
                <a:sym typeface="Poppins Bold"/>
              </a:rPr>
              <a:t>para el retiro físico</a:t>
            </a:r>
            <a:r>
              <a:rPr lang="en-US" sz="1528">
                <a:solidFill>
                  <a:srgbClr val="1E5C96"/>
                </a:solidFill>
                <a:latin typeface="Poppins"/>
                <a:ea typeface="Poppins"/>
                <a:cs typeface="Poppins"/>
                <a:sym typeface="Poppins"/>
              </a:rPr>
              <a:t>. La autorización no transfiere la inscripción, el dorsal, el chip, ni la manilla.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465272" y="2880372"/>
            <a:ext cx="865574" cy="18057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679"/>
              </a:lnSpc>
            </a:pPr>
            <a:r>
              <a:rPr lang="en-US" b="true" sz="10485" spc="-744">
                <a:solidFill>
                  <a:srgbClr val="CAED69"/>
                </a:solidFill>
                <a:latin typeface="Bebas Neue Bold"/>
                <a:ea typeface="Bebas Neue Bold"/>
                <a:cs typeface="Bebas Neue Bold"/>
                <a:sym typeface="Bebas Neue Bold"/>
              </a:rPr>
              <a:t>01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417340" y="4164667"/>
            <a:ext cx="961439" cy="18057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679"/>
              </a:lnSpc>
            </a:pPr>
            <a:r>
              <a:rPr lang="en-US" b="true" sz="10485" spc="-366">
                <a:solidFill>
                  <a:srgbClr val="CAED69"/>
                </a:solidFill>
                <a:latin typeface="Bebas Neue Bold"/>
                <a:ea typeface="Bebas Neue Bold"/>
                <a:cs typeface="Bebas Neue Bold"/>
                <a:sym typeface="Bebas Neue Bold"/>
              </a:rPr>
              <a:t>02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417340" y="5495759"/>
            <a:ext cx="961439" cy="18057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679"/>
              </a:lnSpc>
            </a:pPr>
            <a:r>
              <a:rPr lang="en-US" b="true" sz="10485" spc="-366">
                <a:solidFill>
                  <a:srgbClr val="CAED69"/>
                </a:solidFill>
                <a:latin typeface="Bebas Neue Bold"/>
                <a:ea typeface="Bebas Neue Bold"/>
                <a:cs typeface="Bebas Neue Bold"/>
                <a:sym typeface="Bebas Neue Bold"/>
              </a:rPr>
              <a:t>03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417340" y="6853489"/>
            <a:ext cx="961439" cy="18057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679"/>
              </a:lnSpc>
            </a:pPr>
            <a:r>
              <a:rPr lang="en-US" b="true" sz="10485" spc="-366">
                <a:solidFill>
                  <a:srgbClr val="CAED69"/>
                </a:solidFill>
                <a:latin typeface="Bebas Neue Bold"/>
                <a:ea typeface="Bebas Neue Bold"/>
                <a:cs typeface="Bebas Neue Bold"/>
                <a:sym typeface="Bebas Neue Bold"/>
              </a:rPr>
              <a:t>04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630176" y="3332391"/>
            <a:ext cx="4709154" cy="2740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29"/>
              </a:lnSpc>
            </a:pPr>
            <a:r>
              <a:rPr lang="en-US" sz="1968" b="true">
                <a:solidFill>
                  <a:srgbClr val="1E5C96"/>
                </a:solidFill>
                <a:latin typeface="Poppins Bold"/>
                <a:ea typeface="Poppins Bold"/>
                <a:cs typeface="Poppins Bold"/>
                <a:sym typeface="Poppins Bold"/>
              </a:rPr>
              <a:t>AUTORIZACIÓN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632233" y="3635046"/>
            <a:ext cx="4709154" cy="3712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19"/>
              </a:lnSpc>
            </a:pPr>
            <a:r>
              <a:rPr lang="en-US" sz="1494" b="true">
                <a:solidFill>
                  <a:srgbClr val="1E5C96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Formato oficial diligenciado y firmado por el participante.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630176" y="4588770"/>
            <a:ext cx="4709154" cy="2740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29"/>
              </a:lnSpc>
            </a:pPr>
            <a:r>
              <a:rPr lang="en-US" sz="1968" b="true">
                <a:solidFill>
                  <a:srgbClr val="1E5C96"/>
                </a:solidFill>
                <a:latin typeface="Poppins Bold"/>
                <a:ea typeface="Poppins Bold"/>
                <a:cs typeface="Poppins Bold"/>
                <a:sym typeface="Poppins Bold"/>
              </a:rPr>
              <a:t>COPIA DEL DOCUMENTO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634289" y="4881901"/>
            <a:ext cx="4709154" cy="1998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19"/>
              </a:lnSpc>
            </a:pPr>
            <a:r>
              <a:rPr lang="en-US" sz="1494" b="true">
                <a:solidFill>
                  <a:srgbClr val="1E5C96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Del participante inscrito.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634289" y="5980273"/>
            <a:ext cx="4709154" cy="2740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29"/>
              </a:lnSpc>
            </a:pPr>
            <a:r>
              <a:rPr lang="en-US" sz="1968" b="true">
                <a:solidFill>
                  <a:srgbClr val="1E5C96"/>
                </a:solidFill>
                <a:latin typeface="Poppins Bold"/>
                <a:ea typeface="Poppins Bold"/>
                <a:cs typeface="Poppins Bold"/>
                <a:sym typeface="Poppins Bold"/>
              </a:rPr>
              <a:t>DOCUMENTO ORIGINAL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634289" y="6273403"/>
            <a:ext cx="4709154" cy="1998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19"/>
              </a:lnSpc>
            </a:pPr>
            <a:r>
              <a:rPr lang="en-US" sz="1494" b="true">
                <a:solidFill>
                  <a:srgbClr val="1E5C96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De la persona autorizada.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630176" y="7320604"/>
            <a:ext cx="4709154" cy="2740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29"/>
              </a:lnSpc>
            </a:pPr>
            <a:r>
              <a:rPr lang="en-US" sz="1968" b="true">
                <a:solidFill>
                  <a:srgbClr val="1E5C96"/>
                </a:solidFill>
                <a:latin typeface="Poppins Bold"/>
                <a:ea typeface="Poppins Bold"/>
                <a:cs typeface="Poppins Bold"/>
                <a:sym typeface="Poppins Bold"/>
              </a:rPr>
              <a:t>COMPROBANTE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634289" y="7623260"/>
            <a:ext cx="4709154" cy="3712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19"/>
              </a:lnSpc>
            </a:pPr>
            <a:r>
              <a:rPr lang="en-US" sz="1494" b="true">
                <a:solidFill>
                  <a:srgbClr val="1E5C96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Inscripción o número de pedido, cuando sea requerido.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-745195" y="8556531"/>
            <a:ext cx="6512728" cy="523342"/>
            <a:chOff x="0" y="0"/>
            <a:chExt cx="2334015" cy="187554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334015" cy="187554"/>
            </a:xfrm>
            <a:custGeom>
              <a:avLst/>
              <a:gdLst/>
              <a:ahLst/>
              <a:cxnLst/>
              <a:rect r="r" b="b" t="t" l="l"/>
              <a:pathLst>
                <a:path h="187554" w="2334015">
                  <a:moveTo>
                    <a:pt x="43983" y="0"/>
                  </a:moveTo>
                  <a:lnTo>
                    <a:pt x="2290032" y="0"/>
                  </a:lnTo>
                  <a:cubicBezTo>
                    <a:pt x="2314323" y="0"/>
                    <a:pt x="2334015" y="19692"/>
                    <a:pt x="2334015" y="43983"/>
                  </a:cubicBezTo>
                  <a:lnTo>
                    <a:pt x="2334015" y="143571"/>
                  </a:lnTo>
                  <a:cubicBezTo>
                    <a:pt x="2334015" y="155236"/>
                    <a:pt x="2329381" y="166423"/>
                    <a:pt x="2321132" y="174671"/>
                  </a:cubicBezTo>
                  <a:cubicBezTo>
                    <a:pt x="2312884" y="182920"/>
                    <a:pt x="2301697" y="187554"/>
                    <a:pt x="2290032" y="187554"/>
                  </a:cubicBezTo>
                  <a:lnTo>
                    <a:pt x="43983" y="187554"/>
                  </a:lnTo>
                  <a:cubicBezTo>
                    <a:pt x="32318" y="187554"/>
                    <a:pt x="21131" y="182920"/>
                    <a:pt x="12882" y="174671"/>
                  </a:cubicBezTo>
                  <a:cubicBezTo>
                    <a:pt x="4634" y="166423"/>
                    <a:pt x="0" y="155236"/>
                    <a:pt x="0" y="143571"/>
                  </a:cubicBezTo>
                  <a:lnTo>
                    <a:pt x="0" y="43983"/>
                  </a:lnTo>
                  <a:cubicBezTo>
                    <a:pt x="0" y="32318"/>
                    <a:pt x="4634" y="21131"/>
                    <a:pt x="12882" y="12882"/>
                  </a:cubicBezTo>
                  <a:cubicBezTo>
                    <a:pt x="21131" y="4634"/>
                    <a:pt x="32318" y="0"/>
                    <a:pt x="43983" y="0"/>
                  </a:cubicBezTo>
                  <a:close/>
                </a:path>
              </a:pathLst>
            </a:custGeom>
            <a:solidFill>
              <a:srgbClr val="1E5C96"/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0" y="19050"/>
              <a:ext cx="2334015" cy="16850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764"/>
                </a:lnSpc>
              </a:pPr>
            </a:p>
          </p:txBody>
        </p:sp>
      </p:grpSp>
      <p:sp>
        <p:nvSpPr>
          <p:cNvPr name="TextBox 21" id="21"/>
          <p:cNvSpPr txBox="true"/>
          <p:nvPr/>
        </p:nvSpPr>
        <p:spPr>
          <a:xfrm rot="0">
            <a:off x="465272" y="8593730"/>
            <a:ext cx="5134983" cy="3917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79"/>
              </a:lnSpc>
            </a:pPr>
            <a:r>
              <a:rPr lang="en-US" sz="2199" b="true">
                <a:solidFill>
                  <a:srgbClr val="CAED69"/>
                </a:solidFill>
                <a:latin typeface="Poppins Bold"/>
                <a:ea typeface="Poppins Bold"/>
                <a:cs typeface="Poppins Bold"/>
                <a:sym typeface="Poppins Bold"/>
              </a:rPr>
              <a:t>DESCARGA EL FORMATO OFICIAL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465272" y="9223072"/>
            <a:ext cx="5970159" cy="7892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38"/>
              </a:lnSpc>
            </a:pPr>
            <a:r>
              <a:rPr lang="en-US" sz="1570" b="true">
                <a:solidFill>
                  <a:srgbClr val="1E5C96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Está publicado por la Fundación 7 Colores en su sitio web. El documento establece expresamente que la persona autorizada no puede usar el dorsal, chip o manilla ni participar en la carrera en nombre del titular.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E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7560000" cy="10684322"/>
          </a:xfrm>
          <a:custGeom>
            <a:avLst/>
            <a:gdLst/>
            <a:ahLst/>
            <a:cxnLst/>
            <a:rect r="r" b="b" t="t" l="l"/>
            <a:pathLst>
              <a:path h="10684322" w="7560000">
                <a:moveTo>
                  <a:pt x="0" y="0"/>
                </a:moveTo>
                <a:lnTo>
                  <a:pt x="7560000" y="0"/>
                </a:lnTo>
                <a:lnTo>
                  <a:pt x="7560000" y="10684322"/>
                </a:lnTo>
                <a:lnTo>
                  <a:pt x="0" y="1068432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417340" y="1563408"/>
            <a:ext cx="5337643" cy="806025"/>
            <a:chOff x="0" y="0"/>
            <a:chExt cx="2288835" cy="345632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288835" cy="345632"/>
            </a:xfrm>
            <a:custGeom>
              <a:avLst/>
              <a:gdLst/>
              <a:ahLst/>
              <a:cxnLst/>
              <a:rect r="r" b="b" t="t" l="l"/>
              <a:pathLst>
                <a:path h="345632" w="2288835">
                  <a:moveTo>
                    <a:pt x="53666" y="0"/>
                  </a:moveTo>
                  <a:lnTo>
                    <a:pt x="2235169" y="0"/>
                  </a:lnTo>
                  <a:cubicBezTo>
                    <a:pt x="2249402" y="0"/>
                    <a:pt x="2263052" y="5654"/>
                    <a:pt x="2273116" y="15718"/>
                  </a:cubicBezTo>
                  <a:cubicBezTo>
                    <a:pt x="2283181" y="25783"/>
                    <a:pt x="2288835" y="39433"/>
                    <a:pt x="2288835" y="53666"/>
                  </a:cubicBezTo>
                  <a:lnTo>
                    <a:pt x="2288835" y="291965"/>
                  </a:lnTo>
                  <a:cubicBezTo>
                    <a:pt x="2288835" y="321604"/>
                    <a:pt x="2264808" y="345632"/>
                    <a:pt x="2235169" y="345632"/>
                  </a:cubicBezTo>
                  <a:lnTo>
                    <a:pt x="53666" y="345632"/>
                  </a:lnTo>
                  <a:cubicBezTo>
                    <a:pt x="24027" y="345632"/>
                    <a:pt x="0" y="321604"/>
                    <a:pt x="0" y="291965"/>
                  </a:cubicBezTo>
                  <a:lnTo>
                    <a:pt x="0" y="53666"/>
                  </a:lnTo>
                  <a:cubicBezTo>
                    <a:pt x="0" y="24027"/>
                    <a:pt x="24027" y="0"/>
                    <a:pt x="53666" y="0"/>
                  </a:cubicBezTo>
                  <a:close/>
                </a:path>
              </a:pathLst>
            </a:custGeom>
            <a:solidFill>
              <a:srgbClr val="2DA7B1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19050"/>
              <a:ext cx="2288835" cy="32658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134"/>
                </a:lnSpc>
              </a:pPr>
            </a:p>
          </p:txBody>
        </p:sp>
      </p:grpSp>
      <p:sp>
        <p:nvSpPr>
          <p:cNvPr name="AutoShape 6" id="6"/>
          <p:cNvSpPr/>
          <p:nvPr/>
        </p:nvSpPr>
        <p:spPr>
          <a:xfrm flipH="true" flipV="true">
            <a:off x="712998" y="3994057"/>
            <a:ext cx="0" cy="1124260"/>
          </a:xfrm>
          <a:prstGeom prst="line">
            <a:avLst/>
          </a:prstGeom>
          <a:ln cap="rnd" w="66675">
            <a:solidFill>
              <a:srgbClr val="2DA7B1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7" id="7"/>
          <p:cNvGrpSpPr/>
          <p:nvPr/>
        </p:nvGrpSpPr>
        <p:grpSpPr>
          <a:xfrm rot="0">
            <a:off x="536575" y="3817635"/>
            <a:ext cx="352845" cy="352845"/>
            <a:chOff x="0" y="0"/>
            <a:chExt cx="812800" cy="8128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AED69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76200" y="95250"/>
              <a:ext cx="660400" cy="6413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134"/>
                </a:lnSpc>
              </a:pPr>
            </a:p>
          </p:txBody>
        </p:sp>
      </p:grpSp>
      <p:sp>
        <p:nvSpPr>
          <p:cNvPr name="AutoShape 10" id="10"/>
          <p:cNvSpPr/>
          <p:nvPr/>
        </p:nvSpPr>
        <p:spPr>
          <a:xfrm flipH="true" flipV="true">
            <a:off x="712998" y="5187263"/>
            <a:ext cx="0" cy="1124260"/>
          </a:xfrm>
          <a:prstGeom prst="line">
            <a:avLst/>
          </a:prstGeom>
          <a:ln cap="rnd" w="66675">
            <a:solidFill>
              <a:srgbClr val="2DA7B1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1" id="11"/>
          <p:cNvGrpSpPr/>
          <p:nvPr/>
        </p:nvGrpSpPr>
        <p:grpSpPr>
          <a:xfrm rot="0">
            <a:off x="536575" y="4941895"/>
            <a:ext cx="352845" cy="352845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AED69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76200" y="95250"/>
              <a:ext cx="660400" cy="6413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134"/>
                </a:lnSpc>
              </a:pPr>
            </a:p>
          </p:txBody>
        </p:sp>
      </p:grpSp>
      <p:sp>
        <p:nvSpPr>
          <p:cNvPr name="AutoShape 14" id="14"/>
          <p:cNvSpPr/>
          <p:nvPr/>
        </p:nvSpPr>
        <p:spPr>
          <a:xfrm flipH="true" flipV="true">
            <a:off x="712998" y="6377975"/>
            <a:ext cx="0" cy="1124260"/>
          </a:xfrm>
          <a:prstGeom prst="line">
            <a:avLst/>
          </a:prstGeom>
          <a:ln cap="rnd" w="66675">
            <a:solidFill>
              <a:srgbClr val="2DA7B1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5" id="15"/>
          <p:cNvGrpSpPr/>
          <p:nvPr/>
        </p:nvGrpSpPr>
        <p:grpSpPr>
          <a:xfrm rot="0">
            <a:off x="536575" y="6135101"/>
            <a:ext cx="352845" cy="352845"/>
            <a:chOff x="0" y="0"/>
            <a:chExt cx="812800" cy="8128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AED69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76200" y="95250"/>
              <a:ext cx="660400" cy="6413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134"/>
                </a:lnSpc>
              </a:pPr>
            </a:p>
          </p:txBody>
        </p:sp>
      </p:grpSp>
      <p:sp>
        <p:nvSpPr>
          <p:cNvPr name="AutoShape 18" id="18"/>
          <p:cNvSpPr/>
          <p:nvPr/>
        </p:nvSpPr>
        <p:spPr>
          <a:xfrm flipH="true" flipV="true">
            <a:off x="712998" y="7560260"/>
            <a:ext cx="0" cy="1124260"/>
          </a:xfrm>
          <a:prstGeom prst="line">
            <a:avLst/>
          </a:prstGeom>
          <a:ln cap="rnd" w="66675">
            <a:solidFill>
              <a:srgbClr val="2DA7B1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9" id="19"/>
          <p:cNvGrpSpPr/>
          <p:nvPr/>
        </p:nvGrpSpPr>
        <p:grpSpPr>
          <a:xfrm rot="0">
            <a:off x="536575" y="8508098"/>
            <a:ext cx="352845" cy="352845"/>
            <a:chOff x="0" y="0"/>
            <a:chExt cx="812800" cy="8128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AED69"/>
            </a:solidFill>
          </p:spPr>
        </p:sp>
        <p:sp>
          <p:nvSpPr>
            <p:cNvPr name="TextBox 21" id="21"/>
            <p:cNvSpPr txBox="true"/>
            <p:nvPr/>
          </p:nvSpPr>
          <p:spPr>
            <a:xfrm>
              <a:off x="76200" y="95250"/>
              <a:ext cx="660400" cy="6413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134"/>
                </a:lnSpc>
              </a:pP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536575" y="7325813"/>
            <a:ext cx="352845" cy="352845"/>
            <a:chOff x="0" y="0"/>
            <a:chExt cx="812800" cy="8128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AED69"/>
            </a:solidFill>
          </p:spPr>
        </p:sp>
        <p:sp>
          <p:nvSpPr>
            <p:cNvPr name="TextBox 24" id="24"/>
            <p:cNvSpPr txBox="true"/>
            <p:nvPr/>
          </p:nvSpPr>
          <p:spPr>
            <a:xfrm>
              <a:off x="76200" y="95250"/>
              <a:ext cx="660400" cy="6413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134"/>
                </a:lnSpc>
              </a:pPr>
            </a:p>
          </p:txBody>
        </p:sp>
      </p:grpSp>
      <p:sp>
        <p:nvSpPr>
          <p:cNvPr name="TextBox 25" id="25"/>
          <p:cNvSpPr txBox="true"/>
          <p:nvPr/>
        </p:nvSpPr>
        <p:spPr>
          <a:xfrm rot="0">
            <a:off x="417340" y="641700"/>
            <a:ext cx="6101321" cy="10086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107"/>
              </a:lnSpc>
            </a:pPr>
            <a:r>
              <a:rPr lang="en-US" sz="5790" b="true">
                <a:solidFill>
                  <a:srgbClr val="1E5C96"/>
                </a:solidFill>
                <a:latin typeface="Unbounded Bold"/>
                <a:ea typeface="Unbounded Bold"/>
                <a:cs typeface="Unbounded Bold"/>
                <a:sym typeface="Unbounded Bold"/>
              </a:rPr>
              <a:t>TU MAÑANA,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536575" y="1506985"/>
            <a:ext cx="5097006" cy="8331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75"/>
              </a:lnSpc>
            </a:pPr>
            <a:r>
              <a:rPr lang="en-US" sz="4839" b="true">
                <a:solidFill>
                  <a:srgbClr val="FFFFFF"/>
                </a:solidFill>
                <a:latin typeface="Unbounded Bold"/>
                <a:ea typeface="Unbounded Bold"/>
                <a:cs typeface="Unbounded Bold"/>
                <a:sym typeface="Unbounded Bold"/>
              </a:rPr>
              <a:t>PASO A PASO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038925" y="3861736"/>
            <a:ext cx="5475653" cy="3027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43"/>
              </a:lnSpc>
            </a:pPr>
            <a:r>
              <a:rPr lang="en-US" sz="2289" b="true">
                <a:solidFill>
                  <a:srgbClr val="1E5C96"/>
                </a:solidFill>
                <a:latin typeface="Poppins Bold"/>
                <a:ea typeface="Poppins Bold"/>
                <a:cs typeface="Poppins Bold"/>
                <a:sym typeface="Poppins Bold"/>
              </a:rPr>
              <a:t>ANTES DE SALIR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040121" y="4189530"/>
            <a:ext cx="5475653" cy="3831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29"/>
              </a:lnSpc>
            </a:pPr>
            <a:r>
              <a:rPr lang="en-US" sz="1505" b="true">
                <a:solidFill>
                  <a:srgbClr val="1E5C96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Desayuna y prepárate según tu rutina.</a:t>
            </a:r>
          </a:p>
          <a:p>
            <a:pPr algn="l">
              <a:lnSpc>
                <a:spcPts val="1429"/>
              </a:lnSpc>
            </a:pPr>
            <a:r>
              <a:rPr lang="en-US" sz="1505" b="true">
                <a:solidFill>
                  <a:srgbClr val="1E5C96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No estrenes calzado, nutrición ni equipamiento.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040121" y="4979995"/>
            <a:ext cx="5475653" cy="3027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43"/>
              </a:lnSpc>
            </a:pPr>
            <a:r>
              <a:rPr lang="en-US" sz="2289" b="true">
                <a:solidFill>
                  <a:srgbClr val="1E5C96"/>
                </a:solidFill>
                <a:latin typeface="Poppins Bold"/>
                <a:ea typeface="Poppins Bold"/>
                <a:cs typeface="Poppins Bold"/>
                <a:sym typeface="Poppins Bold"/>
              </a:rPr>
              <a:t>30 MINUTOS ANTES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040121" y="5312863"/>
            <a:ext cx="5475653" cy="3831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29"/>
              </a:lnSpc>
            </a:pPr>
            <a:r>
              <a:rPr lang="en-US" sz="1505" b="true">
                <a:solidFill>
                  <a:srgbClr val="1E5C96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Ubícate en la zona de partida de tu distancia con dorsal visible y manilla oficial.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038925" y="6173201"/>
            <a:ext cx="5475653" cy="3027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43"/>
              </a:lnSpc>
            </a:pPr>
            <a:r>
              <a:rPr lang="en-US" sz="2289" b="true">
                <a:solidFill>
                  <a:srgbClr val="1E5C96"/>
                </a:solidFill>
                <a:latin typeface="Poppins Bold"/>
                <a:ea typeface="Poppins Bold"/>
                <a:cs typeface="Poppins Bold"/>
                <a:sym typeface="Poppins Bold"/>
              </a:rPr>
              <a:t>LLAMADO A CORRALES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037730" y="6506069"/>
            <a:ext cx="5475653" cy="3831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29"/>
              </a:lnSpc>
            </a:pPr>
            <a:r>
              <a:rPr lang="en-US" sz="1505" b="true">
                <a:solidFill>
                  <a:srgbClr val="1E5C96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Sigue megafonía, señalización y las indicaciones del personal de organización.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040121" y="7363913"/>
            <a:ext cx="5475653" cy="3027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43"/>
              </a:lnSpc>
            </a:pPr>
            <a:r>
              <a:rPr lang="en-US" sz="2289" b="true">
                <a:solidFill>
                  <a:srgbClr val="1E5C96"/>
                </a:solidFill>
                <a:latin typeface="Poppins Bold"/>
                <a:ea typeface="Poppins Bold"/>
                <a:cs typeface="Poppins Bold"/>
                <a:sym typeface="Poppins Bold"/>
              </a:rPr>
              <a:t>EN RUTA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040121" y="7697707"/>
            <a:ext cx="6210480" cy="5603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29"/>
              </a:lnSpc>
            </a:pPr>
            <a:r>
              <a:rPr lang="en-US" sz="1505" b="true">
                <a:solidFill>
                  <a:srgbClr val="1E5C96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Usa los puntos oficiales de hidratación y atención. Si abandonas, informa al equipo oficial. Está prohibida la entrega de hidratación o alimentación externa por parte de terceros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040121" y="8527522"/>
            <a:ext cx="5475653" cy="3027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43"/>
              </a:lnSpc>
            </a:pPr>
            <a:r>
              <a:rPr lang="en-US" sz="2289" b="true">
                <a:solidFill>
                  <a:srgbClr val="1E5C96"/>
                </a:solidFill>
                <a:latin typeface="Poppins Bold"/>
                <a:ea typeface="Poppins Bold"/>
                <a:cs typeface="Poppins Bold"/>
                <a:sym typeface="Poppins Bold"/>
              </a:rPr>
              <a:t>META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1040121" y="8849315"/>
            <a:ext cx="5475653" cy="3831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29"/>
              </a:lnSpc>
            </a:pPr>
            <a:r>
              <a:rPr lang="en-US" sz="1505" b="true">
                <a:solidFill>
                  <a:srgbClr val="1E5C96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Mantén dorsal, chip y manilla.</a:t>
            </a:r>
          </a:p>
          <a:p>
            <a:pPr algn="l">
              <a:lnSpc>
                <a:spcPts val="1429"/>
              </a:lnSpc>
            </a:pPr>
            <a:r>
              <a:rPr lang="en-US" sz="1505" b="true">
                <a:solidFill>
                  <a:srgbClr val="1E5C96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Son requeridos para control y entrega de medalla.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536575" y="2619751"/>
            <a:ext cx="5760702" cy="6488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59"/>
              </a:lnSpc>
            </a:pPr>
            <a:r>
              <a:rPr lang="en-US" sz="1828">
                <a:solidFill>
                  <a:srgbClr val="1E5C96"/>
                </a:solidFill>
                <a:latin typeface="Poppins"/>
                <a:ea typeface="Poppins"/>
                <a:cs typeface="Poppins"/>
                <a:sym typeface="Poppins"/>
              </a:rPr>
              <a:t>sigue estas recomendaciones para vivir una gran experiencia desde el inicio.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E5C9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7560000" cy="10701632"/>
          </a:xfrm>
          <a:custGeom>
            <a:avLst/>
            <a:gdLst/>
            <a:ahLst/>
            <a:cxnLst/>
            <a:rect r="r" b="b" t="t" l="l"/>
            <a:pathLst>
              <a:path h="10701632" w="7560000">
                <a:moveTo>
                  <a:pt x="0" y="0"/>
                </a:moveTo>
                <a:lnTo>
                  <a:pt x="7560000" y="0"/>
                </a:lnTo>
                <a:lnTo>
                  <a:pt x="7560000" y="10701632"/>
                </a:lnTo>
                <a:lnTo>
                  <a:pt x="0" y="1070163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61000"/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409977" y="3801981"/>
            <a:ext cx="3013228" cy="701585"/>
            <a:chOff x="0" y="0"/>
            <a:chExt cx="973764" cy="226726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973764" cy="226726"/>
            </a:xfrm>
            <a:custGeom>
              <a:avLst/>
              <a:gdLst/>
              <a:ahLst/>
              <a:cxnLst/>
              <a:rect r="r" b="b" t="t" l="l"/>
              <a:pathLst>
                <a:path h="226726" w="973764">
                  <a:moveTo>
                    <a:pt x="41109" y="0"/>
                  </a:moveTo>
                  <a:lnTo>
                    <a:pt x="932655" y="0"/>
                  </a:lnTo>
                  <a:cubicBezTo>
                    <a:pt x="943558" y="0"/>
                    <a:pt x="954014" y="4331"/>
                    <a:pt x="961723" y="12041"/>
                  </a:cubicBezTo>
                  <a:cubicBezTo>
                    <a:pt x="969433" y="19750"/>
                    <a:pt x="973764" y="30206"/>
                    <a:pt x="973764" y="41109"/>
                  </a:cubicBezTo>
                  <a:lnTo>
                    <a:pt x="973764" y="185617"/>
                  </a:lnTo>
                  <a:cubicBezTo>
                    <a:pt x="973764" y="208321"/>
                    <a:pt x="955359" y="226726"/>
                    <a:pt x="932655" y="226726"/>
                  </a:cubicBezTo>
                  <a:lnTo>
                    <a:pt x="41109" y="226726"/>
                  </a:lnTo>
                  <a:cubicBezTo>
                    <a:pt x="18405" y="226726"/>
                    <a:pt x="0" y="208321"/>
                    <a:pt x="0" y="185617"/>
                  </a:cubicBezTo>
                  <a:lnTo>
                    <a:pt x="0" y="41109"/>
                  </a:lnTo>
                  <a:cubicBezTo>
                    <a:pt x="0" y="18405"/>
                    <a:pt x="18405" y="0"/>
                    <a:pt x="41109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19050"/>
              <a:ext cx="973764" cy="20767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134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716290" y="3801981"/>
            <a:ext cx="1706915" cy="701585"/>
            <a:chOff x="0" y="0"/>
            <a:chExt cx="551612" cy="226726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51612" cy="226726"/>
            </a:xfrm>
            <a:custGeom>
              <a:avLst/>
              <a:gdLst/>
              <a:ahLst/>
              <a:cxnLst/>
              <a:rect r="r" b="b" t="t" l="l"/>
              <a:pathLst>
                <a:path h="226726" w="551612">
                  <a:moveTo>
                    <a:pt x="72570" y="0"/>
                  </a:moveTo>
                  <a:lnTo>
                    <a:pt x="479042" y="0"/>
                  </a:lnTo>
                  <a:cubicBezTo>
                    <a:pt x="519121" y="0"/>
                    <a:pt x="551612" y="32491"/>
                    <a:pt x="551612" y="72570"/>
                  </a:cubicBezTo>
                  <a:lnTo>
                    <a:pt x="551612" y="154156"/>
                  </a:lnTo>
                  <a:cubicBezTo>
                    <a:pt x="551612" y="194236"/>
                    <a:pt x="519121" y="226726"/>
                    <a:pt x="479042" y="226726"/>
                  </a:cubicBezTo>
                  <a:lnTo>
                    <a:pt x="72570" y="226726"/>
                  </a:lnTo>
                  <a:cubicBezTo>
                    <a:pt x="32491" y="226726"/>
                    <a:pt x="0" y="194236"/>
                    <a:pt x="0" y="154156"/>
                  </a:cubicBezTo>
                  <a:lnTo>
                    <a:pt x="0" y="72570"/>
                  </a:lnTo>
                  <a:cubicBezTo>
                    <a:pt x="0" y="32491"/>
                    <a:pt x="32491" y="0"/>
                    <a:pt x="72570" y="0"/>
                  </a:cubicBezTo>
                  <a:close/>
                </a:path>
              </a:pathLst>
            </a:custGeom>
            <a:solidFill>
              <a:srgbClr val="CAED69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19050"/>
              <a:ext cx="551612" cy="20767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134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4136795" y="3801981"/>
            <a:ext cx="3013228" cy="701585"/>
            <a:chOff x="0" y="0"/>
            <a:chExt cx="973764" cy="226726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973764" cy="226726"/>
            </a:xfrm>
            <a:custGeom>
              <a:avLst/>
              <a:gdLst/>
              <a:ahLst/>
              <a:cxnLst/>
              <a:rect r="r" b="b" t="t" l="l"/>
              <a:pathLst>
                <a:path h="226726" w="973764">
                  <a:moveTo>
                    <a:pt x="41109" y="0"/>
                  </a:moveTo>
                  <a:lnTo>
                    <a:pt x="932655" y="0"/>
                  </a:lnTo>
                  <a:cubicBezTo>
                    <a:pt x="943558" y="0"/>
                    <a:pt x="954014" y="4331"/>
                    <a:pt x="961723" y="12041"/>
                  </a:cubicBezTo>
                  <a:cubicBezTo>
                    <a:pt x="969433" y="19750"/>
                    <a:pt x="973764" y="30206"/>
                    <a:pt x="973764" y="41109"/>
                  </a:cubicBezTo>
                  <a:lnTo>
                    <a:pt x="973764" y="185617"/>
                  </a:lnTo>
                  <a:cubicBezTo>
                    <a:pt x="973764" y="208321"/>
                    <a:pt x="955359" y="226726"/>
                    <a:pt x="932655" y="226726"/>
                  </a:cubicBezTo>
                  <a:lnTo>
                    <a:pt x="41109" y="226726"/>
                  </a:lnTo>
                  <a:cubicBezTo>
                    <a:pt x="18405" y="226726"/>
                    <a:pt x="0" y="208321"/>
                    <a:pt x="0" y="185617"/>
                  </a:cubicBezTo>
                  <a:lnTo>
                    <a:pt x="0" y="41109"/>
                  </a:lnTo>
                  <a:cubicBezTo>
                    <a:pt x="0" y="18405"/>
                    <a:pt x="18405" y="0"/>
                    <a:pt x="41109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19050"/>
              <a:ext cx="973764" cy="20767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134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5443108" y="3801981"/>
            <a:ext cx="1706915" cy="701585"/>
            <a:chOff x="0" y="0"/>
            <a:chExt cx="551612" cy="226726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551612" cy="226726"/>
            </a:xfrm>
            <a:custGeom>
              <a:avLst/>
              <a:gdLst/>
              <a:ahLst/>
              <a:cxnLst/>
              <a:rect r="r" b="b" t="t" l="l"/>
              <a:pathLst>
                <a:path h="226726" w="551612">
                  <a:moveTo>
                    <a:pt x="72570" y="0"/>
                  </a:moveTo>
                  <a:lnTo>
                    <a:pt x="479042" y="0"/>
                  </a:lnTo>
                  <a:cubicBezTo>
                    <a:pt x="519121" y="0"/>
                    <a:pt x="551612" y="32491"/>
                    <a:pt x="551612" y="72570"/>
                  </a:cubicBezTo>
                  <a:lnTo>
                    <a:pt x="551612" y="154156"/>
                  </a:lnTo>
                  <a:cubicBezTo>
                    <a:pt x="551612" y="194236"/>
                    <a:pt x="519121" y="226726"/>
                    <a:pt x="479042" y="226726"/>
                  </a:cubicBezTo>
                  <a:lnTo>
                    <a:pt x="72570" y="226726"/>
                  </a:lnTo>
                  <a:cubicBezTo>
                    <a:pt x="32491" y="226726"/>
                    <a:pt x="0" y="194236"/>
                    <a:pt x="0" y="154156"/>
                  </a:cubicBezTo>
                  <a:lnTo>
                    <a:pt x="0" y="72570"/>
                  </a:lnTo>
                  <a:cubicBezTo>
                    <a:pt x="0" y="32491"/>
                    <a:pt x="32491" y="0"/>
                    <a:pt x="72570" y="0"/>
                  </a:cubicBezTo>
                  <a:close/>
                </a:path>
              </a:pathLst>
            </a:custGeom>
            <a:solidFill>
              <a:srgbClr val="CAED69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19050"/>
              <a:ext cx="551612" cy="20767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134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409977" y="5000023"/>
            <a:ext cx="3013228" cy="701585"/>
            <a:chOff x="0" y="0"/>
            <a:chExt cx="973764" cy="226726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973764" cy="226726"/>
            </a:xfrm>
            <a:custGeom>
              <a:avLst/>
              <a:gdLst/>
              <a:ahLst/>
              <a:cxnLst/>
              <a:rect r="r" b="b" t="t" l="l"/>
              <a:pathLst>
                <a:path h="226726" w="973764">
                  <a:moveTo>
                    <a:pt x="41109" y="0"/>
                  </a:moveTo>
                  <a:lnTo>
                    <a:pt x="932655" y="0"/>
                  </a:lnTo>
                  <a:cubicBezTo>
                    <a:pt x="943558" y="0"/>
                    <a:pt x="954014" y="4331"/>
                    <a:pt x="961723" y="12041"/>
                  </a:cubicBezTo>
                  <a:cubicBezTo>
                    <a:pt x="969433" y="19750"/>
                    <a:pt x="973764" y="30206"/>
                    <a:pt x="973764" y="41109"/>
                  </a:cubicBezTo>
                  <a:lnTo>
                    <a:pt x="973764" y="185617"/>
                  </a:lnTo>
                  <a:cubicBezTo>
                    <a:pt x="973764" y="208321"/>
                    <a:pt x="955359" y="226726"/>
                    <a:pt x="932655" y="226726"/>
                  </a:cubicBezTo>
                  <a:lnTo>
                    <a:pt x="41109" y="226726"/>
                  </a:lnTo>
                  <a:cubicBezTo>
                    <a:pt x="18405" y="226726"/>
                    <a:pt x="0" y="208321"/>
                    <a:pt x="0" y="185617"/>
                  </a:cubicBezTo>
                  <a:lnTo>
                    <a:pt x="0" y="41109"/>
                  </a:lnTo>
                  <a:cubicBezTo>
                    <a:pt x="0" y="18405"/>
                    <a:pt x="18405" y="0"/>
                    <a:pt x="41109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19050"/>
              <a:ext cx="973764" cy="20767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134"/>
                </a:lnSpc>
              </a:pP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716290" y="5000023"/>
            <a:ext cx="1706915" cy="701585"/>
            <a:chOff x="0" y="0"/>
            <a:chExt cx="551612" cy="226726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551612" cy="226726"/>
            </a:xfrm>
            <a:custGeom>
              <a:avLst/>
              <a:gdLst/>
              <a:ahLst/>
              <a:cxnLst/>
              <a:rect r="r" b="b" t="t" l="l"/>
              <a:pathLst>
                <a:path h="226726" w="551612">
                  <a:moveTo>
                    <a:pt x="72570" y="0"/>
                  </a:moveTo>
                  <a:lnTo>
                    <a:pt x="479042" y="0"/>
                  </a:lnTo>
                  <a:cubicBezTo>
                    <a:pt x="519121" y="0"/>
                    <a:pt x="551612" y="32491"/>
                    <a:pt x="551612" y="72570"/>
                  </a:cubicBezTo>
                  <a:lnTo>
                    <a:pt x="551612" y="154156"/>
                  </a:lnTo>
                  <a:cubicBezTo>
                    <a:pt x="551612" y="194236"/>
                    <a:pt x="519121" y="226726"/>
                    <a:pt x="479042" y="226726"/>
                  </a:cubicBezTo>
                  <a:lnTo>
                    <a:pt x="72570" y="226726"/>
                  </a:lnTo>
                  <a:cubicBezTo>
                    <a:pt x="32491" y="226726"/>
                    <a:pt x="0" y="194236"/>
                    <a:pt x="0" y="154156"/>
                  </a:cubicBezTo>
                  <a:lnTo>
                    <a:pt x="0" y="72570"/>
                  </a:lnTo>
                  <a:cubicBezTo>
                    <a:pt x="0" y="32491"/>
                    <a:pt x="32491" y="0"/>
                    <a:pt x="72570" y="0"/>
                  </a:cubicBezTo>
                  <a:close/>
                </a:path>
              </a:pathLst>
            </a:custGeom>
            <a:solidFill>
              <a:srgbClr val="CAED69"/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0" y="19050"/>
              <a:ext cx="551612" cy="20767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134"/>
                </a:lnSpc>
              </a:pP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4136795" y="5000023"/>
            <a:ext cx="3013228" cy="701585"/>
            <a:chOff x="0" y="0"/>
            <a:chExt cx="973764" cy="226726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973764" cy="226726"/>
            </a:xfrm>
            <a:custGeom>
              <a:avLst/>
              <a:gdLst/>
              <a:ahLst/>
              <a:cxnLst/>
              <a:rect r="r" b="b" t="t" l="l"/>
              <a:pathLst>
                <a:path h="226726" w="973764">
                  <a:moveTo>
                    <a:pt x="41109" y="0"/>
                  </a:moveTo>
                  <a:lnTo>
                    <a:pt x="932655" y="0"/>
                  </a:lnTo>
                  <a:cubicBezTo>
                    <a:pt x="943558" y="0"/>
                    <a:pt x="954014" y="4331"/>
                    <a:pt x="961723" y="12041"/>
                  </a:cubicBezTo>
                  <a:cubicBezTo>
                    <a:pt x="969433" y="19750"/>
                    <a:pt x="973764" y="30206"/>
                    <a:pt x="973764" y="41109"/>
                  </a:cubicBezTo>
                  <a:lnTo>
                    <a:pt x="973764" y="185617"/>
                  </a:lnTo>
                  <a:cubicBezTo>
                    <a:pt x="973764" y="208321"/>
                    <a:pt x="955359" y="226726"/>
                    <a:pt x="932655" y="226726"/>
                  </a:cubicBezTo>
                  <a:lnTo>
                    <a:pt x="41109" y="226726"/>
                  </a:lnTo>
                  <a:cubicBezTo>
                    <a:pt x="18405" y="226726"/>
                    <a:pt x="0" y="208321"/>
                    <a:pt x="0" y="185617"/>
                  </a:cubicBezTo>
                  <a:lnTo>
                    <a:pt x="0" y="41109"/>
                  </a:lnTo>
                  <a:cubicBezTo>
                    <a:pt x="0" y="18405"/>
                    <a:pt x="18405" y="0"/>
                    <a:pt x="41109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23" id="23"/>
            <p:cNvSpPr txBox="true"/>
            <p:nvPr/>
          </p:nvSpPr>
          <p:spPr>
            <a:xfrm>
              <a:off x="0" y="19050"/>
              <a:ext cx="973764" cy="20767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134"/>
                </a:lnSpc>
              </a:pP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5443108" y="5000023"/>
            <a:ext cx="1706915" cy="701585"/>
            <a:chOff x="0" y="0"/>
            <a:chExt cx="551612" cy="226726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551612" cy="226726"/>
            </a:xfrm>
            <a:custGeom>
              <a:avLst/>
              <a:gdLst/>
              <a:ahLst/>
              <a:cxnLst/>
              <a:rect r="r" b="b" t="t" l="l"/>
              <a:pathLst>
                <a:path h="226726" w="551612">
                  <a:moveTo>
                    <a:pt x="72570" y="0"/>
                  </a:moveTo>
                  <a:lnTo>
                    <a:pt x="479042" y="0"/>
                  </a:lnTo>
                  <a:cubicBezTo>
                    <a:pt x="519121" y="0"/>
                    <a:pt x="551612" y="32491"/>
                    <a:pt x="551612" y="72570"/>
                  </a:cubicBezTo>
                  <a:lnTo>
                    <a:pt x="551612" y="154156"/>
                  </a:lnTo>
                  <a:cubicBezTo>
                    <a:pt x="551612" y="194236"/>
                    <a:pt x="519121" y="226726"/>
                    <a:pt x="479042" y="226726"/>
                  </a:cubicBezTo>
                  <a:lnTo>
                    <a:pt x="72570" y="226726"/>
                  </a:lnTo>
                  <a:cubicBezTo>
                    <a:pt x="32491" y="226726"/>
                    <a:pt x="0" y="194236"/>
                    <a:pt x="0" y="154156"/>
                  </a:cubicBezTo>
                  <a:lnTo>
                    <a:pt x="0" y="72570"/>
                  </a:lnTo>
                  <a:cubicBezTo>
                    <a:pt x="0" y="32491"/>
                    <a:pt x="32491" y="0"/>
                    <a:pt x="72570" y="0"/>
                  </a:cubicBezTo>
                  <a:close/>
                </a:path>
              </a:pathLst>
            </a:custGeom>
            <a:solidFill>
              <a:srgbClr val="CAED69"/>
            </a:solidFill>
          </p:spPr>
        </p:sp>
        <p:sp>
          <p:nvSpPr>
            <p:cNvPr name="TextBox 26" id="26"/>
            <p:cNvSpPr txBox="true"/>
            <p:nvPr/>
          </p:nvSpPr>
          <p:spPr>
            <a:xfrm>
              <a:off x="0" y="19050"/>
              <a:ext cx="551612" cy="20767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134"/>
                </a:lnSpc>
              </a:pPr>
            </a:p>
          </p:txBody>
        </p:sp>
      </p:grpSp>
      <p:grpSp>
        <p:nvGrpSpPr>
          <p:cNvPr name="Group 27" id="27"/>
          <p:cNvGrpSpPr/>
          <p:nvPr/>
        </p:nvGrpSpPr>
        <p:grpSpPr>
          <a:xfrm rot="0">
            <a:off x="409977" y="6198066"/>
            <a:ext cx="3013228" cy="701585"/>
            <a:chOff x="0" y="0"/>
            <a:chExt cx="973764" cy="226726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973764" cy="226726"/>
            </a:xfrm>
            <a:custGeom>
              <a:avLst/>
              <a:gdLst/>
              <a:ahLst/>
              <a:cxnLst/>
              <a:rect r="r" b="b" t="t" l="l"/>
              <a:pathLst>
                <a:path h="226726" w="973764">
                  <a:moveTo>
                    <a:pt x="41109" y="0"/>
                  </a:moveTo>
                  <a:lnTo>
                    <a:pt x="932655" y="0"/>
                  </a:lnTo>
                  <a:cubicBezTo>
                    <a:pt x="943558" y="0"/>
                    <a:pt x="954014" y="4331"/>
                    <a:pt x="961723" y="12041"/>
                  </a:cubicBezTo>
                  <a:cubicBezTo>
                    <a:pt x="969433" y="19750"/>
                    <a:pt x="973764" y="30206"/>
                    <a:pt x="973764" y="41109"/>
                  </a:cubicBezTo>
                  <a:lnTo>
                    <a:pt x="973764" y="185617"/>
                  </a:lnTo>
                  <a:cubicBezTo>
                    <a:pt x="973764" y="208321"/>
                    <a:pt x="955359" y="226726"/>
                    <a:pt x="932655" y="226726"/>
                  </a:cubicBezTo>
                  <a:lnTo>
                    <a:pt x="41109" y="226726"/>
                  </a:lnTo>
                  <a:cubicBezTo>
                    <a:pt x="18405" y="226726"/>
                    <a:pt x="0" y="208321"/>
                    <a:pt x="0" y="185617"/>
                  </a:cubicBezTo>
                  <a:lnTo>
                    <a:pt x="0" y="41109"/>
                  </a:lnTo>
                  <a:cubicBezTo>
                    <a:pt x="0" y="18405"/>
                    <a:pt x="18405" y="0"/>
                    <a:pt x="41109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29" id="29"/>
            <p:cNvSpPr txBox="true"/>
            <p:nvPr/>
          </p:nvSpPr>
          <p:spPr>
            <a:xfrm>
              <a:off x="0" y="19050"/>
              <a:ext cx="973764" cy="20767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134"/>
                </a:lnSpc>
              </a:pPr>
            </a:p>
          </p:txBody>
        </p:sp>
      </p:grpSp>
      <p:grpSp>
        <p:nvGrpSpPr>
          <p:cNvPr name="Group 30" id="30"/>
          <p:cNvGrpSpPr/>
          <p:nvPr/>
        </p:nvGrpSpPr>
        <p:grpSpPr>
          <a:xfrm rot="0">
            <a:off x="1716290" y="6198066"/>
            <a:ext cx="1706915" cy="701585"/>
            <a:chOff x="0" y="0"/>
            <a:chExt cx="551612" cy="226726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551612" cy="226726"/>
            </a:xfrm>
            <a:custGeom>
              <a:avLst/>
              <a:gdLst/>
              <a:ahLst/>
              <a:cxnLst/>
              <a:rect r="r" b="b" t="t" l="l"/>
              <a:pathLst>
                <a:path h="226726" w="551612">
                  <a:moveTo>
                    <a:pt x="72570" y="0"/>
                  </a:moveTo>
                  <a:lnTo>
                    <a:pt x="479042" y="0"/>
                  </a:lnTo>
                  <a:cubicBezTo>
                    <a:pt x="519121" y="0"/>
                    <a:pt x="551612" y="32491"/>
                    <a:pt x="551612" y="72570"/>
                  </a:cubicBezTo>
                  <a:lnTo>
                    <a:pt x="551612" y="154156"/>
                  </a:lnTo>
                  <a:cubicBezTo>
                    <a:pt x="551612" y="194236"/>
                    <a:pt x="519121" y="226726"/>
                    <a:pt x="479042" y="226726"/>
                  </a:cubicBezTo>
                  <a:lnTo>
                    <a:pt x="72570" y="226726"/>
                  </a:lnTo>
                  <a:cubicBezTo>
                    <a:pt x="32491" y="226726"/>
                    <a:pt x="0" y="194236"/>
                    <a:pt x="0" y="154156"/>
                  </a:cubicBezTo>
                  <a:lnTo>
                    <a:pt x="0" y="72570"/>
                  </a:lnTo>
                  <a:cubicBezTo>
                    <a:pt x="0" y="32491"/>
                    <a:pt x="32491" y="0"/>
                    <a:pt x="72570" y="0"/>
                  </a:cubicBezTo>
                  <a:close/>
                </a:path>
              </a:pathLst>
            </a:custGeom>
            <a:solidFill>
              <a:srgbClr val="CAED69"/>
            </a:solidFill>
          </p:spPr>
        </p:sp>
        <p:sp>
          <p:nvSpPr>
            <p:cNvPr name="TextBox 32" id="32"/>
            <p:cNvSpPr txBox="true"/>
            <p:nvPr/>
          </p:nvSpPr>
          <p:spPr>
            <a:xfrm>
              <a:off x="0" y="19050"/>
              <a:ext cx="551612" cy="20767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134"/>
                </a:lnSpc>
              </a:pPr>
            </a:p>
          </p:txBody>
        </p:sp>
      </p:grpSp>
      <p:grpSp>
        <p:nvGrpSpPr>
          <p:cNvPr name="Group 33" id="33"/>
          <p:cNvGrpSpPr/>
          <p:nvPr/>
        </p:nvGrpSpPr>
        <p:grpSpPr>
          <a:xfrm rot="0">
            <a:off x="4136795" y="6198066"/>
            <a:ext cx="3013228" cy="701585"/>
            <a:chOff x="0" y="0"/>
            <a:chExt cx="973764" cy="226726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973764" cy="226726"/>
            </a:xfrm>
            <a:custGeom>
              <a:avLst/>
              <a:gdLst/>
              <a:ahLst/>
              <a:cxnLst/>
              <a:rect r="r" b="b" t="t" l="l"/>
              <a:pathLst>
                <a:path h="226726" w="973764">
                  <a:moveTo>
                    <a:pt x="41109" y="0"/>
                  </a:moveTo>
                  <a:lnTo>
                    <a:pt x="932655" y="0"/>
                  </a:lnTo>
                  <a:cubicBezTo>
                    <a:pt x="943558" y="0"/>
                    <a:pt x="954014" y="4331"/>
                    <a:pt x="961723" y="12041"/>
                  </a:cubicBezTo>
                  <a:cubicBezTo>
                    <a:pt x="969433" y="19750"/>
                    <a:pt x="973764" y="30206"/>
                    <a:pt x="973764" y="41109"/>
                  </a:cubicBezTo>
                  <a:lnTo>
                    <a:pt x="973764" y="185617"/>
                  </a:lnTo>
                  <a:cubicBezTo>
                    <a:pt x="973764" y="208321"/>
                    <a:pt x="955359" y="226726"/>
                    <a:pt x="932655" y="226726"/>
                  </a:cubicBezTo>
                  <a:lnTo>
                    <a:pt x="41109" y="226726"/>
                  </a:lnTo>
                  <a:cubicBezTo>
                    <a:pt x="18405" y="226726"/>
                    <a:pt x="0" y="208321"/>
                    <a:pt x="0" y="185617"/>
                  </a:cubicBezTo>
                  <a:lnTo>
                    <a:pt x="0" y="41109"/>
                  </a:lnTo>
                  <a:cubicBezTo>
                    <a:pt x="0" y="18405"/>
                    <a:pt x="18405" y="0"/>
                    <a:pt x="41109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35" id="35"/>
            <p:cNvSpPr txBox="true"/>
            <p:nvPr/>
          </p:nvSpPr>
          <p:spPr>
            <a:xfrm>
              <a:off x="0" y="19050"/>
              <a:ext cx="973764" cy="20767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134"/>
                </a:lnSpc>
              </a:pPr>
            </a:p>
          </p:txBody>
        </p:sp>
      </p:grpSp>
      <p:grpSp>
        <p:nvGrpSpPr>
          <p:cNvPr name="Group 36" id="36"/>
          <p:cNvGrpSpPr/>
          <p:nvPr/>
        </p:nvGrpSpPr>
        <p:grpSpPr>
          <a:xfrm rot="0">
            <a:off x="5443108" y="6198066"/>
            <a:ext cx="1706915" cy="701585"/>
            <a:chOff x="0" y="0"/>
            <a:chExt cx="551612" cy="226726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551612" cy="226726"/>
            </a:xfrm>
            <a:custGeom>
              <a:avLst/>
              <a:gdLst/>
              <a:ahLst/>
              <a:cxnLst/>
              <a:rect r="r" b="b" t="t" l="l"/>
              <a:pathLst>
                <a:path h="226726" w="551612">
                  <a:moveTo>
                    <a:pt x="72570" y="0"/>
                  </a:moveTo>
                  <a:lnTo>
                    <a:pt x="479042" y="0"/>
                  </a:lnTo>
                  <a:cubicBezTo>
                    <a:pt x="519121" y="0"/>
                    <a:pt x="551612" y="32491"/>
                    <a:pt x="551612" y="72570"/>
                  </a:cubicBezTo>
                  <a:lnTo>
                    <a:pt x="551612" y="154156"/>
                  </a:lnTo>
                  <a:cubicBezTo>
                    <a:pt x="551612" y="194236"/>
                    <a:pt x="519121" y="226726"/>
                    <a:pt x="479042" y="226726"/>
                  </a:cubicBezTo>
                  <a:lnTo>
                    <a:pt x="72570" y="226726"/>
                  </a:lnTo>
                  <a:cubicBezTo>
                    <a:pt x="32491" y="226726"/>
                    <a:pt x="0" y="194236"/>
                    <a:pt x="0" y="154156"/>
                  </a:cubicBezTo>
                  <a:lnTo>
                    <a:pt x="0" y="72570"/>
                  </a:lnTo>
                  <a:cubicBezTo>
                    <a:pt x="0" y="32491"/>
                    <a:pt x="32491" y="0"/>
                    <a:pt x="72570" y="0"/>
                  </a:cubicBezTo>
                  <a:close/>
                </a:path>
              </a:pathLst>
            </a:custGeom>
            <a:solidFill>
              <a:srgbClr val="CAED69"/>
            </a:solidFill>
          </p:spPr>
        </p:sp>
        <p:sp>
          <p:nvSpPr>
            <p:cNvPr name="TextBox 38" id="38"/>
            <p:cNvSpPr txBox="true"/>
            <p:nvPr/>
          </p:nvSpPr>
          <p:spPr>
            <a:xfrm>
              <a:off x="0" y="19050"/>
              <a:ext cx="551612" cy="20767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134"/>
                </a:lnSpc>
              </a:pPr>
            </a:p>
          </p:txBody>
        </p:sp>
      </p:grpSp>
      <p:sp>
        <p:nvSpPr>
          <p:cNvPr name="TextBox 39" id="39"/>
          <p:cNvSpPr txBox="true"/>
          <p:nvPr/>
        </p:nvSpPr>
        <p:spPr>
          <a:xfrm rot="0">
            <a:off x="1409107" y="1093098"/>
            <a:ext cx="4741785" cy="7527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038"/>
              </a:lnSpc>
            </a:pPr>
            <a:r>
              <a:rPr lang="en-US" b="true" sz="4313">
                <a:solidFill>
                  <a:srgbClr val="FFFFFF"/>
                </a:solidFill>
                <a:latin typeface="Unbounded Bold"/>
                <a:ea typeface="Unbounded Bold"/>
                <a:cs typeface="Unbounded Bold"/>
                <a:sym typeface="Unbounded Bold"/>
              </a:rPr>
              <a:t>HORARIOS DE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1258133" y="1340892"/>
            <a:ext cx="5043733" cy="14827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803"/>
              </a:lnSpc>
            </a:pPr>
            <a:r>
              <a:rPr lang="en-US" sz="8431" b="true">
                <a:solidFill>
                  <a:srgbClr val="CAED69"/>
                </a:solidFill>
                <a:latin typeface="Unbounded Bold"/>
                <a:ea typeface="Unbounded Bold"/>
                <a:cs typeface="Unbounded Bold"/>
                <a:sym typeface="Unbounded Bold"/>
              </a:rPr>
              <a:t>SALIDA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726236" y="2776013"/>
            <a:ext cx="6107528" cy="3247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76"/>
              </a:lnSpc>
            </a:pPr>
            <a:r>
              <a:rPr lang="en-US" sz="184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Domingo, 29 de noviembre 2026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603788" y="3876350"/>
            <a:ext cx="944804" cy="4956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65"/>
              </a:lnSpc>
            </a:pPr>
            <a:r>
              <a:rPr lang="en-US" sz="2903" b="true">
                <a:solidFill>
                  <a:srgbClr val="1E5C96"/>
                </a:solidFill>
                <a:latin typeface="Unbounded Bold"/>
                <a:ea typeface="Unbounded Bold"/>
                <a:cs typeface="Unbounded Bold"/>
                <a:sym typeface="Unbounded Bold"/>
              </a:rPr>
              <a:t>42K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1808351" y="3942406"/>
            <a:ext cx="1522794" cy="3826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33"/>
              </a:lnSpc>
            </a:pPr>
            <a:r>
              <a:rPr lang="en-US" sz="2238" b="true">
                <a:solidFill>
                  <a:srgbClr val="1E5C96"/>
                </a:solidFill>
                <a:latin typeface="Unbounded Bold"/>
                <a:ea typeface="Unbounded Bold"/>
                <a:cs typeface="Unbounded Bold"/>
                <a:sym typeface="Unbounded Bold"/>
              </a:rPr>
              <a:t>4:30 AM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4330606" y="3876350"/>
            <a:ext cx="937954" cy="4956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65"/>
              </a:lnSpc>
            </a:pPr>
            <a:r>
              <a:rPr lang="en-US" sz="2903" b="true">
                <a:solidFill>
                  <a:srgbClr val="1E5C96"/>
                </a:solidFill>
                <a:latin typeface="Unbounded Bold"/>
                <a:ea typeface="Unbounded Bold"/>
                <a:cs typeface="Unbounded Bold"/>
                <a:sym typeface="Unbounded Bold"/>
              </a:rPr>
              <a:t>32K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5535169" y="3942406"/>
            <a:ext cx="1528900" cy="3826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33"/>
              </a:lnSpc>
            </a:pPr>
            <a:r>
              <a:rPr lang="en-US" sz="2238" b="true">
                <a:solidFill>
                  <a:srgbClr val="1E5C96"/>
                </a:solidFill>
                <a:latin typeface="Unbounded Bold"/>
                <a:ea typeface="Unbounded Bold"/>
                <a:cs typeface="Unbounded Bold"/>
                <a:sym typeface="Unbounded Bold"/>
              </a:rPr>
              <a:t>4:40 AM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666134" y="5074393"/>
            <a:ext cx="820112" cy="4956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65"/>
              </a:lnSpc>
            </a:pPr>
            <a:r>
              <a:rPr lang="en-US" sz="2903" b="true">
                <a:solidFill>
                  <a:srgbClr val="1E5C96"/>
                </a:solidFill>
                <a:latin typeface="Unbounded Bold"/>
                <a:ea typeface="Unbounded Bold"/>
                <a:cs typeface="Unbounded Bold"/>
                <a:sym typeface="Unbounded Bold"/>
              </a:rPr>
              <a:t>21K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1808351" y="5140448"/>
            <a:ext cx="1507527" cy="3826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33"/>
              </a:lnSpc>
            </a:pPr>
            <a:r>
              <a:rPr lang="en-US" sz="2238" b="true">
                <a:solidFill>
                  <a:srgbClr val="1E5C96"/>
                </a:solidFill>
                <a:latin typeface="Unbounded Bold"/>
                <a:ea typeface="Unbounded Bold"/>
                <a:cs typeface="Unbounded Bold"/>
                <a:sym typeface="Unbounded Bold"/>
              </a:rPr>
              <a:t>5:30 AM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4372816" y="5074393"/>
            <a:ext cx="853533" cy="4956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65"/>
              </a:lnSpc>
            </a:pPr>
            <a:r>
              <a:rPr lang="en-US" sz="2903" b="true">
                <a:solidFill>
                  <a:srgbClr val="1E5C96"/>
                </a:solidFill>
                <a:latin typeface="Unbounded Bold"/>
                <a:ea typeface="Unbounded Bold"/>
                <a:cs typeface="Unbounded Bold"/>
                <a:sym typeface="Unbounded Bold"/>
              </a:rPr>
              <a:t>10K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5535169" y="5140448"/>
            <a:ext cx="1513633" cy="3826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33"/>
              </a:lnSpc>
            </a:pPr>
            <a:r>
              <a:rPr lang="en-US" sz="2238" b="true">
                <a:solidFill>
                  <a:srgbClr val="1E5C96"/>
                </a:solidFill>
                <a:latin typeface="Unbounded Bold"/>
                <a:ea typeface="Unbounded Bold"/>
                <a:cs typeface="Unbounded Bold"/>
                <a:sym typeface="Unbounded Bold"/>
              </a:rPr>
              <a:t>5:40 AM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766977" y="6272435"/>
            <a:ext cx="618426" cy="4956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65"/>
              </a:lnSpc>
            </a:pPr>
            <a:r>
              <a:rPr lang="en-US" sz="2903" b="true">
                <a:solidFill>
                  <a:srgbClr val="1E5C96"/>
                </a:solidFill>
                <a:latin typeface="Unbounded Bold"/>
                <a:ea typeface="Unbounded Bold"/>
                <a:cs typeface="Unbounded Bold"/>
                <a:sym typeface="Unbounded Bold"/>
              </a:rPr>
              <a:t>5K</a:t>
            </a:r>
          </a:p>
        </p:txBody>
      </p:sp>
      <p:sp>
        <p:nvSpPr>
          <p:cNvPr name="TextBox 51" id="51"/>
          <p:cNvSpPr txBox="true"/>
          <p:nvPr/>
        </p:nvSpPr>
        <p:spPr>
          <a:xfrm rot="0">
            <a:off x="1796633" y="6338490"/>
            <a:ext cx="1546230" cy="3826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33"/>
              </a:lnSpc>
            </a:pPr>
            <a:r>
              <a:rPr lang="en-US" sz="2238" b="true">
                <a:solidFill>
                  <a:srgbClr val="1E5C96"/>
                </a:solidFill>
                <a:latin typeface="Unbounded Bold"/>
                <a:ea typeface="Unbounded Bold"/>
                <a:cs typeface="Unbounded Bold"/>
                <a:sym typeface="Unbounded Bold"/>
              </a:rPr>
              <a:t>6:00 AM</a:t>
            </a:r>
          </a:p>
        </p:txBody>
      </p:sp>
      <p:sp>
        <p:nvSpPr>
          <p:cNvPr name="TextBox 52" id="52"/>
          <p:cNvSpPr txBox="true"/>
          <p:nvPr/>
        </p:nvSpPr>
        <p:spPr>
          <a:xfrm rot="0">
            <a:off x="4485295" y="6267671"/>
            <a:ext cx="628576" cy="4956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65"/>
              </a:lnSpc>
            </a:pPr>
            <a:r>
              <a:rPr lang="en-US" sz="2903" b="true">
                <a:solidFill>
                  <a:srgbClr val="1E5C96"/>
                </a:solidFill>
                <a:latin typeface="Unbounded Bold"/>
                <a:ea typeface="Unbounded Bold"/>
                <a:cs typeface="Unbounded Bold"/>
                <a:sym typeface="Unbounded Bold"/>
              </a:rPr>
              <a:t>2K</a:t>
            </a:r>
          </a:p>
        </p:txBody>
      </p:sp>
      <p:sp>
        <p:nvSpPr>
          <p:cNvPr name="TextBox 53" id="53"/>
          <p:cNvSpPr txBox="true"/>
          <p:nvPr/>
        </p:nvSpPr>
        <p:spPr>
          <a:xfrm rot="0">
            <a:off x="5535169" y="6338490"/>
            <a:ext cx="1492095" cy="3826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33"/>
              </a:lnSpc>
            </a:pPr>
            <a:r>
              <a:rPr lang="en-US" sz="2238" b="true">
                <a:solidFill>
                  <a:srgbClr val="1E5C96"/>
                </a:solidFill>
                <a:latin typeface="Unbounded Bold"/>
                <a:ea typeface="Unbounded Bold"/>
                <a:cs typeface="Unbounded Bold"/>
                <a:sym typeface="Unbounded Bold"/>
              </a:rPr>
              <a:t>7:30 AM</a:t>
            </a:r>
          </a:p>
        </p:txBody>
      </p:sp>
      <p:sp>
        <p:nvSpPr>
          <p:cNvPr name="TextBox 54" id="54"/>
          <p:cNvSpPr txBox="true"/>
          <p:nvPr/>
        </p:nvSpPr>
        <p:spPr>
          <a:xfrm rot="0">
            <a:off x="4485295" y="6685415"/>
            <a:ext cx="643464" cy="1463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38"/>
              </a:lnSpc>
            </a:pPr>
            <a:r>
              <a:rPr lang="en-US" sz="884" b="true">
                <a:solidFill>
                  <a:srgbClr val="1E5C96"/>
                </a:solidFill>
                <a:latin typeface="Unbounded Medium"/>
                <a:ea typeface="Unbounded Medium"/>
                <a:cs typeface="Unbounded Medium"/>
                <a:sym typeface="Unbounded Medium"/>
              </a:rPr>
              <a:t>INFANTIL</a:t>
            </a:r>
          </a:p>
        </p:txBody>
      </p:sp>
      <p:sp>
        <p:nvSpPr>
          <p:cNvPr name="TextBox 55" id="55"/>
          <p:cNvSpPr txBox="true"/>
          <p:nvPr/>
        </p:nvSpPr>
        <p:spPr>
          <a:xfrm rot="0">
            <a:off x="409977" y="7928351"/>
            <a:ext cx="6740046" cy="5757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22"/>
              </a:lnSpc>
            </a:pPr>
            <a:r>
              <a:rPr lang="en-US" sz="2233" b="true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Llega a la zona de partida al menos </a:t>
            </a:r>
            <a:r>
              <a:rPr lang="en-US" sz="2233" b="true">
                <a:solidFill>
                  <a:srgbClr val="CAED69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30 minutos</a:t>
            </a:r>
            <a:r>
              <a:rPr lang="en-US" sz="2233" b="true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antes de tu hora de salida.</a:t>
            </a:r>
          </a:p>
        </p:txBody>
      </p:sp>
      <p:sp>
        <p:nvSpPr>
          <p:cNvPr name="TextBox 56" id="56"/>
          <p:cNvSpPr txBox="true"/>
          <p:nvPr/>
        </p:nvSpPr>
        <p:spPr>
          <a:xfrm rot="0">
            <a:off x="409977" y="8861997"/>
            <a:ext cx="6740046" cy="5764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43"/>
              </a:lnSpc>
            </a:pPr>
            <a:r>
              <a:rPr lang="en-US" sz="2256" b="true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Salir en un horario distinto al asignado es causal de </a:t>
            </a:r>
            <a:r>
              <a:rPr lang="en-US" sz="2256" b="true">
                <a:solidFill>
                  <a:srgbClr val="CAED69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descalificación.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E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2716" y="0"/>
            <a:ext cx="7562716" cy="10688161"/>
          </a:xfrm>
          <a:custGeom>
            <a:avLst/>
            <a:gdLst/>
            <a:ahLst/>
            <a:cxnLst/>
            <a:rect r="r" b="b" t="t" l="l"/>
            <a:pathLst>
              <a:path h="10688161" w="7562716">
                <a:moveTo>
                  <a:pt x="0" y="0"/>
                </a:moveTo>
                <a:lnTo>
                  <a:pt x="7562716" y="0"/>
                </a:lnTo>
                <a:lnTo>
                  <a:pt x="7562716" y="10688161"/>
                </a:lnTo>
                <a:lnTo>
                  <a:pt x="0" y="1068816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5000"/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417340" y="5344081"/>
            <a:ext cx="6827515" cy="2336413"/>
            <a:chOff x="0" y="0"/>
            <a:chExt cx="2927707" cy="1001877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927707" cy="1001877"/>
            </a:xfrm>
            <a:custGeom>
              <a:avLst/>
              <a:gdLst/>
              <a:ahLst/>
              <a:cxnLst/>
              <a:rect r="r" b="b" t="t" l="l"/>
              <a:pathLst>
                <a:path h="1001877" w="2927707">
                  <a:moveTo>
                    <a:pt x="41955" y="0"/>
                  </a:moveTo>
                  <a:lnTo>
                    <a:pt x="2885752" y="0"/>
                  </a:lnTo>
                  <a:cubicBezTo>
                    <a:pt x="2896879" y="0"/>
                    <a:pt x="2907550" y="4420"/>
                    <a:pt x="2915419" y="12288"/>
                  </a:cubicBezTo>
                  <a:cubicBezTo>
                    <a:pt x="2923287" y="20157"/>
                    <a:pt x="2927707" y="30828"/>
                    <a:pt x="2927707" y="41955"/>
                  </a:cubicBezTo>
                  <a:lnTo>
                    <a:pt x="2927707" y="959922"/>
                  </a:lnTo>
                  <a:cubicBezTo>
                    <a:pt x="2927707" y="971049"/>
                    <a:pt x="2923287" y="981721"/>
                    <a:pt x="2915419" y="989589"/>
                  </a:cubicBezTo>
                  <a:cubicBezTo>
                    <a:pt x="2907550" y="997457"/>
                    <a:pt x="2896879" y="1001877"/>
                    <a:pt x="2885752" y="1001877"/>
                  </a:cubicBezTo>
                  <a:lnTo>
                    <a:pt x="41955" y="1001877"/>
                  </a:lnTo>
                  <a:cubicBezTo>
                    <a:pt x="30828" y="1001877"/>
                    <a:pt x="20157" y="997457"/>
                    <a:pt x="12288" y="989589"/>
                  </a:cubicBezTo>
                  <a:cubicBezTo>
                    <a:pt x="4420" y="981721"/>
                    <a:pt x="0" y="971049"/>
                    <a:pt x="0" y="959922"/>
                  </a:cubicBezTo>
                  <a:lnTo>
                    <a:pt x="0" y="41955"/>
                  </a:lnTo>
                  <a:cubicBezTo>
                    <a:pt x="0" y="30828"/>
                    <a:pt x="4420" y="20157"/>
                    <a:pt x="12288" y="12288"/>
                  </a:cubicBezTo>
                  <a:cubicBezTo>
                    <a:pt x="20157" y="4420"/>
                    <a:pt x="30828" y="0"/>
                    <a:pt x="41955" y="0"/>
                  </a:cubicBezTo>
                  <a:close/>
                </a:path>
              </a:pathLst>
            </a:custGeom>
            <a:solidFill>
              <a:srgbClr val="1E5C96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19050"/>
              <a:ext cx="2927707" cy="98282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134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2799004" y="5913016"/>
            <a:ext cx="5317859" cy="457685"/>
            <a:chOff x="0" y="0"/>
            <a:chExt cx="7090479" cy="610246"/>
          </a:xfrm>
        </p:grpSpPr>
        <p:grpSp>
          <p:nvGrpSpPr>
            <p:cNvPr name="Group 7" id="7"/>
            <p:cNvGrpSpPr/>
            <p:nvPr/>
          </p:nvGrpSpPr>
          <p:grpSpPr>
            <a:xfrm rot="0">
              <a:off x="0" y="0"/>
              <a:ext cx="2123745" cy="610246"/>
              <a:chOff x="0" y="0"/>
              <a:chExt cx="466257" cy="133976"/>
            </a:xfrm>
          </p:grpSpPr>
          <p:sp>
            <p:nvSpPr>
              <p:cNvPr name="Freeform 8" id="8"/>
              <p:cNvSpPr/>
              <p:nvPr/>
            </p:nvSpPr>
            <p:spPr>
              <a:xfrm flipH="false" flipV="false" rot="0">
                <a:off x="0" y="0"/>
                <a:ext cx="466257" cy="133976"/>
              </a:xfrm>
              <a:custGeom>
                <a:avLst/>
                <a:gdLst/>
                <a:ahLst/>
                <a:cxnLst/>
                <a:rect r="r" b="b" t="t" l="l"/>
                <a:pathLst>
                  <a:path h="133976" w="466257">
                    <a:moveTo>
                      <a:pt x="66988" y="0"/>
                    </a:moveTo>
                    <a:lnTo>
                      <a:pt x="399269" y="0"/>
                    </a:lnTo>
                    <a:cubicBezTo>
                      <a:pt x="417035" y="0"/>
                      <a:pt x="434074" y="7058"/>
                      <a:pt x="446637" y="19620"/>
                    </a:cubicBezTo>
                    <a:cubicBezTo>
                      <a:pt x="459200" y="32183"/>
                      <a:pt x="466257" y="49222"/>
                      <a:pt x="466257" y="66988"/>
                    </a:cubicBezTo>
                    <a:lnTo>
                      <a:pt x="466257" y="66988"/>
                    </a:lnTo>
                    <a:cubicBezTo>
                      <a:pt x="466257" y="103985"/>
                      <a:pt x="436266" y="133976"/>
                      <a:pt x="399269" y="133976"/>
                    </a:cubicBezTo>
                    <a:lnTo>
                      <a:pt x="66988" y="133976"/>
                    </a:lnTo>
                    <a:cubicBezTo>
                      <a:pt x="29992" y="133976"/>
                      <a:pt x="0" y="103985"/>
                      <a:pt x="0" y="66988"/>
                    </a:cubicBezTo>
                    <a:lnTo>
                      <a:pt x="0" y="66988"/>
                    </a:lnTo>
                    <a:cubicBezTo>
                      <a:pt x="0" y="29992"/>
                      <a:pt x="29992" y="0"/>
                      <a:pt x="66988" y="0"/>
                    </a:cubicBezTo>
                    <a:close/>
                  </a:path>
                </a:pathLst>
              </a:custGeom>
              <a:solidFill>
                <a:srgbClr val="CAED69"/>
              </a:solidFill>
            </p:spPr>
          </p:sp>
          <p:sp>
            <p:nvSpPr>
              <p:cNvPr name="TextBox 9" id="9"/>
              <p:cNvSpPr txBox="true"/>
              <p:nvPr/>
            </p:nvSpPr>
            <p:spPr>
              <a:xfrm>
                <a:off x="0" y="19050"/>
                <a:ext cx="466257" cy="11492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134"/>
                  </a:lnSpc>
                </a:pPr>
              </a:p>
            </p:txBody>
          </p:sp>
        </p:grpSp>
        <p:sp>
          <p:nvSpPr>
            <p:cNvPr name="TextBox 10" id="10"/>
            <p:cNvSpPr txBox="true"/>
            <p:nvPr/>
          </p:nvSpPr>
          <p:spPr>
            <a:xfrm rot="0">
              <a:off x="158755" y="108434"/>
              <a:ext cx="6931724" cy="41242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129"/>
                </a:lnSpc>
              </a:pPr>
              <a:r>
                <a:rPr lang="en-US" sz="2173" b="true">
                  <a:solidFill>
                    <a:srgbClr val="1E5C96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42K + 21K</a:t>
              </a: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0">
            <a:off x="417340" y="5649947"/>
            <a:ext cx="2549421" cy="1699614"/>
          </a:xfrm>
          <a:custGeom>
            <a:avLst/>
            <a:gdLst/>
            <a:ahLst/>
            <a:cxnLst/>
            <a:rect r="r" b="b" t="t" l="l"/>
            <a:pathLst>
              <a:path h="1699614" w="2549421">
                <a:moveTo>
                  <a:pt x="0" y="0"/>
                </a:moveTo>
                <a:lnTo>
                  <a:pt x="2549420" y="0"/>
                </a:lnTo>
                <a:lnTo>
                  <a:pt x="2549420" y="1699614"/>
                </a:lnTo>
                <a:lnTo>
                  <a:pt x="0" y="169961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679043" y="3972306"/>
            <a:ext cx="537344" cy="5063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13"/>
              </a:lnSpc>
            </a:pPr>
            <a:r>
              <a:rPr lang="en-US" sz="2938" b="true">
                <a:solidFill>
                  <a:srgbClr val="CAED69"/>
                </a:solidFill>
                <a:latin typeface="Unbounded Bold"/>
                <a:ea typeface="Unbounded Bold"/>
                <a:cs typeface="Unbounded Bold"/>
                <a:sym typeface="Unbounded Bold"/>
              </a:rPr>
              <a:t>01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2096041" y="3996956"/>
            <a:ext cx="656555" cy="5063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13"/>
              </a:lnSpc>
            </a:pPr>
            <a:r>
              <a:rPr lang="en-US" sz="2938" b="true">
                <a:solidFill>
                  <a:srgbClr val="CAED69"/>
                </a:solidFill>
                <a:latin typeface="Unbounded Bold"/>
                <a:ea typeface="Unbounded Bold"/>
                <a:cs typeface="Unbounded Bold"/>
                <a:sym typeface="Unbounded Bold"/>
              </a:rPr>
              <a:t>02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3577813" y="3996956"/>
            <a:ext cx="658267" cy="5063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13"/>
              </a:lnSpc>
            </a:pPr>
            <a:r>
              <a:rPr lang="en-US" sz="2938" b="true">
                <a:solidFill>
                  <a:srgbClr val="CAED69"/>
                </a:solidFill>
                <a:latin typeface="Unbounded Bold"/>
                <a:ea typeface="Unbounded Bold"/>
                <a:cs typeface="Unbounded Bold"/>
                <a:sym typeface="Unbounded Bold"/>
              </a:rPr>
              <a:t>03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4928618" y="3996956"/>
            <a:ext cx="666304" cy="5063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13"/>
              </a:lnSpc>
            </a:pPr>
            <a:r>
              <a:rPr lang="en-US" sz="2938" b="true">
                <a:solidFill>
                  <a:srgbClr val="CAED69"/>
                </a:solidFill>
                <a:latin typeface="Unbounded Bold"/>
                <a:ea typeface="Unbounded Bold"/>
                <a:cs typeface="Unbounded Bold"/>
                <a:sym typeface="Unbounded Bold"/>
              </a:rPr>
              <a:t>04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6289142" y="3996956"/>
            <a:ext cx="646286" cy="5063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13"/>
              </a:lnSpc>
            </a:pPr>
            <a:r>
              <a:rPr lang="en-US" sz="2938" b="true">
                <a:solidFill>
                  <a:srgbClr val="CAED69"/>
                </a:solidFill>
                <a:latin typeface="Unbounded Bold"/>
                <a:ea typeface="Unbounded Bold"/>
                <a:cs typeface="Unbounded Bold"/>
                <a:sym typeface="Unbounded Bold"/>
              </a:rPr>
              <a:t>05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78444" y="4522397"/>
            <a:ext cx="1738542" cy="2029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39"/>
              </a:lnSpc>
            </a:pPr>
            <a:r>
              <a:rPr lang="en-US" b="true" sz="1468">
                <a:solidFill>
                  <a:srgbClr val="1E5C96"/>
                </a:solidFill>
                <a:latin typeface="Poppins Bold"/>
                <a:ea typeface="Poppins Bold"/>
                <a:cs typeface="Poppins Bold"/>
                <a:sym typeface="Poppins Bold"/>
              </a:rPr>
              <a:t>LLEGA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78444" y="4718304"/>
            <a:ext cx="1738542" cy="1617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34"/>
              </a:lnSpc>
            </a:pPr>
            <a:r>
              <a:rPr lang="en-US" sz="1194" b="true">
                <a:solidFill>
                  <a:srgbClr val="1E5C96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Con antelación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596933" y="4522397"/>
            <a:ext cx="1738542" cy="2029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39"/>
              </a:lnSpc>
            </a:pPr>
            <a:r>
              <a:rPr lang="en-US" sz="1468" b="true">
                <a:solidFill>
                  <a:srgbClr val="1E5C96"/>
                </a:solidFill>
                <a:latin typeface="Poppins Bold"/>
                <a:ea typeface="Poppins Bold"/>
                <a:cs typeface="Poppins Bold"/>
                <a:sym typeface="Poppins Bold"/>
              </a:rPr>
              <a:t>IDENTIFÍCATE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596933" y="4718304"/>
            <a:ext cx="1738542" cy="1617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34"/>
              </a:lnSpc>
            </a:pPr>
            <a:r>
              <a:rPr lang="en-US" sz="1194" b="true">
                <a:solidFill>
                  <a:srgbClr val="1E5C96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Dorsal visible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3037676" y="4500553"/>
            <a:ext cx="1738542" cy="2029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39"/>
              </a:lnSpc>
            </a:pPr>
            <a:r>
              <a:rPr lang="en-US" sz="1468" b="true">
                <a:solidFill>
                  <a:srgbClr val="1E5C96"/>
                </a:solidFill>
                <a:latin typeface="Poppins Bold"/>
                <a:ea typeface="Poppins Bold"/>
                <a:cs typeface="Poppins Bold"/>
                <a:sym typeface="Poppins Bold"/>
              </a:rPr>
              <a:t>UBÍCATE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3037676" y="4718304"/>
            <a:ext cx="1738542" cy="1617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34"/>
              </a:lnSpc>
            </a:pPr>
            <a:r>
              <a:rPr lang="en-US" sz="1194" b="true">
                <a:solidFill>
                  <a:srgbClr val="1E5C96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Corral / ola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4392499" y="4500553"/>
            <a:ext cx="1738542" cy="2029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39"/>
              </a:lnSpc>
            </a:pPr>
            <a:r>
              <a:rPr lang="en-US" sz="1468" b="true">
                <a:solidFill>
                  <a:srgbClr val="1E5C96"/>
                </a:solidFill>
                <a:latin typeface="Poppins Bold"/>
                <a:ea typeface="Poppins Bold"/>
                <a:cs typeface="Poppins Bold"/>
                <a:sym typeface="Poppins Bold"/>
              </a:rPr>
              <a:t>ESPERA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4332025" y="4718304"/>
            <a:ext cx="1738542" cy="1617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34"/>
              </a:lnSpc>
            </a:pPr>
            <a:r>
              <a:rPr lang="en-US" sz="1194" b="true">
                <a:solidFill>
                  <a:srgbClr val="1E5C96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Llamado oficial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5743014" y="4522397"/>
            <a:ext cx="1738542" cy="2029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39"/>
              </a:lnSpc>
            </a:pPr>
            <a:r>
              <a:rPr lang="en-US" sz="1468" b="true">
                <a:solidFill>
                  <a:srgbClr val="1E5C96"/>
                </a:solidFill>
                <a:latin typeface="Poppins Bold"/>
                <a:ea typeface="Poppins Bold"/>
                <a:cs typeface="Poppins Bold"/>
                <a:sym typeface="Poppins Bold"/>
              </a:rPr>
              <a:t>CORRE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5743014" y="4718304"/>
            <a:ext cx="1738542" cy="1617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34"/>
              </a:lnSpc>
            </a:pPr>
            <a:r>
              <a:rPr lang="en-US" sz="1194" b="true">
                <a:solidFill>
                  <a:srgbClr val="1E5C96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Solo a tu hora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417340" y="689325"/>
            <a:ext cx="5646643" cy="6434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77"/>
              </a:lnSpc>
            </a:pPr>
            <a:r>
              <a:rPr lang="en-US" sz="3769" b="true">
                <a:solidFill>
                  <a:srgbClr val="2DA7B1"/>
                </a:solidFill>
                <a:latin typeface="Unbounded Bold"/>
                <a:ea typeface="Unbounded Bold"/>
                <a:cs typeface="Unbounded Bold"/>
                <a:sym typeface="Unbounded Bold"/>
              </a:rPr>
              <a:t>ENTRA AL CORRAL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417340" y="1116213"/>
            <a:ext cx="5703640" cy="11092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933"/>
              </a:lnSpc>
            </a:pPr>
            <a:r>
              <a:rPr lang="en-US" sz="6381" b="true">
                <a:solidFill>
                  <a:srgbClr val="1E5C96"/>
                </a:solidFill>
                <a:latin typeface="Unbounded Bold"/>
                <a:ea typeface="Unbounded Bold"/>
                <a:cs typeface="Unbounded Bold"/>
                <a:sym typeface="Unbounded Bold"/>
              </a:rPr>
              <a:t>CORRECTO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528440" y="2436985"/>
            <a:ext cx="5760702" cy="13327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39"/>
              </a:lnSpc>
            </a:pPr>
            <a:r>
              <a:rPr lang="en-US" sz="1528">
                <a:solidFill>
                  <a:srgbClr val="1E5C96"/>
                </a:solidFill>
                <a:latin typeface="Poppins"/>
                <a:ea typeface="Poppins"/>
                <a:cs typeface="Poppins"/>
                <a:sym typeface="Poppins"/>
              </a:rPr>
              <a:t>Las salidad se organizarán por corrales según </a:t>
            </a:r>
            <a:r>
              <a:rPr lang="en-US" sz="1528" b="true">
                <a:solidFill>
                  <a:srgbClr val="1E5C96"/>
                </a:solidFill>
                <a:latin typeface="Poppins Bold"/>
                <a:ea typeface="Poppins Bold"/>
                <a:cs typeface="Poppins Bold"/>
                <a:sym typeface="Poppins Bold"/>
              </a:rPr>
              <a:t>tiempos objetivos</a:t>
            </a:r>
            <a:r>
              <a:rPr lang="en-US" sz="1528">
                <a:solidFill>
                  <a:srgbClr val="1E5C96"/>
                </a:solidFill>
                <a:latin typeface="Poppins"/>
                <a:ea typeface="Poppins"/>
                <a:cs typeface="Poppins"/>
                <a:sym typeface="Poppins"/>
              </a:rPr>
              <a:t> y por </a:t>
            </a:r>
            <a:r>
              <a:rPr lang="en-US" sz="1528" b="true">
                <a:solidFill>
                  <a:srgbClr val="1E5C96"/>
                </a:solidFill>
                <a:latin typeface="Poppins Bold"/>
                <a:ea typeface="Poppins Bold"/>
                <a:cs typeface="Poppins Bold"/>
                <a:sym typeface="Poppins Bold"/>
              </a:rPr>
              <a:t>olas</a:t>
            </a:r>
            <a:r>
              <a:rPr lang="en-US" sz="1528">
                <a:solidFill>
                  <a:srgbClr val="1E5C96"/>
                </a:solidFill>
                <a:latin typeface="Poppins"/>
                <a:ea typeface="Poppins"/>
                <a:cs typeface="Poppins"/>
                <a:sym typeface="Poppins"/>
              </a:rPr>
              <a:t> para mejorar el flujo y la seguridad.</a:t>
            </a:r>
          </a:p>
          <a:p>
            <a:pPr algn="l">
              <a:lnSpc>
                <a:spcPts val="2139"/>
              </a:lnSpc>
            </a:pPr>
          </a:p>
          <a:p>
            <a:pPr algn="l">
              <a:lnSpc>
                <a:spcPts val="2139"/>
              </a:lnSpc>
            </a:pPr>
            <a:r>
              <a:rPr lang="en-US" sz="1528">
                <a:solidFill>
                  <a:srgbClr val="1E5C96"/>
                </a:solidFill>
                <a:latin typeface="Poppins"/>
                <a:ea typeface="Poppins"/>
                <a:cs typeface="Poppins"/>
                <a:sym typeface="Poppins"/>
              </a:rPr>
              <a:t>El acceso requiere </a:t>
            </a:r>
            <a:r>
              <a:rPr lang="en-US" sz="1528" b="true">
                <a:solidFill>
                  <a:srgbClr val="1E5C96"/>
                </a:solidFill>
                <a:latin typeface="Poppins Bold"/>
                <a:ea typeface="Poppins Bold"/>
                <a:cs typeface="Poppins Bold"/>
                <a:sym typeface="Poppins Bold"/>
              </a:rPr>
              <a:t>dorsal visible</a:t>
            </a:r>
            <a:r>
              <a:rPr lang="en-US" sz="1528">
                <a:solidFill>
                  <a:srgbClr val="1E5C96"/>
                </a:solidFill>
                <a:latin typeface="Poppins"/>
                <a:ea typeface="Poppins"/>
                <a:cs typeface="Poppins"/>
                <a:sym typeface="Poppins"/>
              </a:rPr>
              <a:t> y la verificación que defina la Organización.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2815101" y="5495025"/>
            <a:ext cx="2970386" cy="4179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73"/>
              </a:lnSpc>
            </a:pPr>
            <a:r>
              <a:rPr lang="en-US" sz="2481" b="true">
                <a:solidFill>
                  <a:srgbClr val="FFFFFF"/>
                </a:solidFill>
                <a:latin typeface="Unbounded Bold"/>
                <a:ea typeface="Unbounded Bold"/>
                <a:cs typeface="Unbounded Bold"/>
                <a:sym typeface="Unbounded Bold"/>
              </a:rPr>
              <a:t>ATLETAS ÉLITE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2752596" y="6471179"/>
            <a:ext cx="5760702" cy="866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14"/>
              </a:lnSpc>
            </a:pPr>
            <a:r>
              <a:rPr lang="en-US" sz="1428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Las categorías Élite de 42K Y 21K se </a:t>
            </a:r>
          </a:p>
          <a:p>
            <a:pPr algn="l">
              <a:lnSpc>
                <a:spcPts val="1714"/>
              </a:lnSpc>
            </a:pPr>
            <a:r>
              <a:rPr lang="en-US" sz="1428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ubicarán en la parte delantera de su </a:t>
            </a:r>
          </a:p>
          <a:p>
            <a:pPr algn="l">
              <a:lnSpc>
                <a:spcPts val="1714"/>
              </a:lnSpc>
            </a:pPr>
            <a:r>
              <a:rPr lang="en-US" sz="1428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respectiva distancia para su identificación</a:t>
            </a:r>
          </a:p>
          <a:p>
            <a:pPr algn="l">
              <a:lnSpc>
                <a:spcPts val="1714"/>
              </a:lnSpc>
            </a:pPr>
            <a:r>
              <a:rPr lang="en-US" sz="1428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y confirmación de su participación.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528440" y="7939316"/>
            <a:ext cx="3515767" cy="5626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26"/>
              </a:lnSpc>
            </a:pPr>
            <a:r>
              <a:rPr lang="en-US" sz="3161" b="true">
                <a:solidFill>
                  <a:srgbClr val="1E5C96"/>
                </a:solidFill>
                <a:latin typeface="Unbounded Bold"/>
                <a:ea typeface="Unbounded Bold"/>
                <a:cs typeface="Unbounded Bold"/>
                <a:sym typeface="Unbounded Bold"/>
              </a:rPr>
              <a:t>IMPORTANTE: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528440" y="8606722"/>
            <a:ext cx="6406988" cy="16996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01049" indent="-150525" lvl="1">
              <a:lnSpc>
                <a:spcPts val="1715"/>
              </a:lnSpc>
              <a:buFont typeface="Arial"/>
              <a:buChar char="•"/>
            </a:pPr>
            <a:r>
              <a:rPr lang="en-US" b="true" sz="1394">
                <a:solidFill>
                  <a:srgbClr val="1E5C96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No saltes vallas, ni ingreses por accesos no habilitados.</a:t>
            </a:r>
          </a:p>
          <a:p>
            <a:pPr algn="l" marL="301049" indent="-150525" lvl="1">
              <a:lnSpc>
                <a:spcPts val="1715"/>
              </a:lnSpc>
              <a:buFont typeface="Arial"/>
              <a:buChar char="•"/>
            </a:pPr>
            <a:r>
              <a:rPr lang="en-US" b="true" sz="1394">
                <a:solidFill>
                  <a:srgbClr val="1E5C96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Sigue en todo momento la señalización y las instrucciones de jueces, seguridad y logística.</a:t>
            </a:r>
          </a:p>
          <a:p>
            <a:pPr algn="l" marL="301049" indent="-150525" lvl="1">
              <a:lnSpc>
                <a:spcPts val="1715"/>
              </a:lnSpc>
              <a:buFont typeface="Arial"/>
              <a:buChar char="•"/>
            </a:pPr>
            <a:r>
              <a:rPr lang="en-US" b="true" sz="1394">
                <a:solidFill>
                  <a:srgbClr val="1E5C96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No está permitido cambiar de dorsal, suplantar a otro corredor, ni alterar el chip.</a:t>
            </a:r>
          </a:p>
          <a:p>
            <a:pPr algn="l">
              <a:lnSpc>
                <a:spcPts val="1715"/>
              </a:lnSpc>
            </a:pPr>
          </a:p>
          <a:p>
            <a:pPr algn="l">
              <a:lnSpc>
                <a:spcPts val="1715"/>
              </a:lnSpc>
            </a:pPr>
            <a:r>
              <a:rPr lang="en-US" sz="1394" b="true">
                <a:solidFill>
                  <a:srgbClr val="1E5C96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Estas acciones son causal de descalificación inmediata y prohibición de participación futura. 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2DA7B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7678"/>
            <a:ext cx="7560000" cy="10684322"/>
          </a:xfrm>
          <a:custGeom>
            <a:avLst/>
            <a:gdLst/>
            <a:ahLst/>
            <a:cxnLst/>
            <a:rect r="r" b="b" t="t" l="l"/>
            <a:pathLst>
              <a:path h="10684322" w="7560000">
                <a:moveTo>
                  <a:pt x="0" y="0"/>
                </a:moveTo>
                <a:lnTo>
                  <a:pt x="7560000" y="0"/>
                </a:lnTo>
                <a:lnTo>
                  <a:pt x="7560000" y="10684322"/>
                </a:lnTo>
                <a:lnTo>
                  <a:pt x="0" y="1068432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756000" y="5053080"/>
            <a:ext cx="5790497" cy="2949985"/>
            <a:chOff x="0" y="0"/>
            <a:chExt cx="2927707" cy="1491529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927707" cy="1491529"/>
            </a:xfrm>
            <a:custGeom>
              <a:avLst/>
              <a:gdLst/>
              <a:ahLst/>
              <a:cxnLst/>
              <a:rect r="r" b="b" t="t" l="l"/>
              <a:pathLst>
                <a:path h="1491529" w="2927707">
                  <a:moveTo>
                    <a:pt x="49469" y="0"/>
                  </a:moveTo>
                  <a:lnTo>
                    <a:pt x="2878238" y="0"/>
                  </a:lnTo>
                  <a:cubicBezTo>
                    <a:pt x="2891358" y="0"/>
                    <a:pt x="2903941" y="5212"/>
                    <a:pt x="2913218" y="14489"/>
                  </a:cubicBezTo>
                  <a:cubicBezTo>
                    <a:pt x="2922495" y="23766"/>
                    <a:pt x="2927707" y="36349"/>
                    <a:pt x="2927707" y="49469"/>
                  </a:cubicBezTo>
                  <a:lnTo>
                    <a:pt x="2927707" y="1442059"/>
                  </a:lnTo>
                  <a:cubicBezTo>
                    <a:pt x="2927707" y="1455179"/>
                    <a:pt x="2922495" y="1467762"/>
                    <a:pt x="2913218" y="1477039"/>
                  </a:cubicBezTo>
                  <a:cubicBezTo>
                    <a:pt x="2903941" y="1486317"/>
                    <a:pt x="2891358" y="1491529"/>
                    <a:pt x="2878238" y="1491529"/>
                  </a:cubicBezTo>
                  <a:lnTo>
                    <a:pt x="49469" y="1491529"/>
                  </a:lnTo>
                  <a:cubicBezTo>
                    <a:pt x="36349" y="1491529"/>
                    <a:pt x="23766" y="1486317"/>
                    <a:pt x="14489" y="1477039"/>
                  </a:cubicBezTo>
                  <a:cubicBezTo>
                    <a:pt x="5212" y="1467762"/>
                    <a:pt x="0" y="1455179"/>
                    <a:pt x="0" y="1442059"/>
                  </a:cubicBezTo>
                  <a:lnTo>
                    <a:pt x="0" y="49469"/>
                  </a:lnTo>
                  <a:cubicBezTo>
                    <a:pt x="0" y="36349"/>
                    <a:pt x="5212" y="23766"/>
                    <a:pt x="14489" y="14489"/>
                  </a:cubicBezTo>
                  <a:cubicBezTo>
                    <a:pt x="23766" y="5212"/>
                    <a:pt x="36349" y="0"/>
                    <a:pt x="49469" y="0"/>
                  </a:cubicBezTo>
                  <a:close/>
                </a:path>
              </a:pathLst>
            </a:custGeom>
            <a:solidFill>
              <a:srgbClr val="CAED69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19050"/>
              <a:ext cx="2927707" cy="147247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134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986422" y="476789"/>
            <a:ext cx="5587157" cy="8478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817"/>
              </a:lnSpc>
            </a:pPr>
            <a:r>
              <a:rPr lang="en-US" sz="4869" b="true">
                <a:solidFill>
                  <a:srgbClr val="FFFFFF"/>
                </a:solidFill>
                <a:latin typeface="Unbounded Bold"/>
                <a:ea typeface="Unbounded Bold"/>
                <a:cs typeface="Unbounded Bold"/>
                <a:sym typeface="Unbounded Bold"/>
              </a:rPr>
              <a:t>3 ELEMENTOS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578744" y="1005375"/>
            <a:ext cx="6402512" cy="11190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933"/>
              </a:lnSpc>
            </a:pPr>
            <a:r>
              <a:rPr lang="en-US" b="true" sz="6381">
                <a:solidFill>
                  <a:srgbClr val="CAED69"/>
                </a:solidFill>
                <a:latin typeface="Unbounded Bold"/>
                <a:ea typeface="Unbounded Bold"/>
                <a:cs typeface="Unbounded Bold"/>
                <a:sym typeface="Unbounded Bold"/>
              </a:rPr>
              <a:t>1 CORREDOR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726236" y="2128776"/>
            <a:ext cx="6107528" cy="3742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96"/>
              </a:lnSpc>
            </a:pPr>
            <a:r>
              <a:rPr lang="en-US" sz="214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Dorsal + Chip + Manilla oficial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72256" y="2597767"/>
            <a:ext cx="2473680" cy="5992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76"/>
              </a:lnSpc>
            </a:pPr>
            <a:r>
              <a:rPr lang="en-US" sz="3483" b="true">
                <a:solidFill>
                  <a:srgbClr val="CAED69"/>
                </a:solidFill>
                <a:latin typeface="Unbounded Bold"/>
                <a:ea typeface="Unbounded Bold"/>
                <a:cs typeface="Unbounded Bold"/>
                <a:sym typeface="Unbounded Bold"/>
              </a:rPr>
              <a:t>DORSAL: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3675106" y="2644355"/>
            <a:ext cx="8512861" cy="6250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64"/>
              </a:lnSpc>
            </a:pPr>
            <a:r>
              <a:rPr lang="en-US" sz="176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Visible al frente, </a:t>
            </a:r>
          </a:p>
          <a:p>
            <a:pPr algn="l">
              <a:lnSpc>
                <a:spcPts val="2464"/>
              </a:lnSpc>
            </a:pPr>
            <a:r>
              <a:rPr lang="en-US" sz="176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sin enmendaduras.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2059576" y="3378176"/>
            <a:ext cx="1486360" cy="5992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76"/>
              </a:lnSpc>
            </a:pPr>
            <a:r>
              <a:rPr lang="en-US" sz="3483" b="true">
                <a:solidFill>
                  <a:srgbClr val="CAED69"/>
                </a:solidFill>
                <a:latin typeface="Unbounded Bold"/>
                <a:ea typeface="Unbounded Bold"/>
                <a:cs typeface="Unbounded Bold"/>
                <a:sym typeface="Unbounded Bold"/>
              </a:rPr>
              <a:t>CHIP: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3675106" y="3397226"/>
            <a:ext cx="3044541" cy="6250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64"/>
              </a:lnSpc>
            </a:pPr>
            <a:r>
              <a:rPr lang="en-US" sz="176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No manipular, retirar, ni intercambiar.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756000" y="4161327"/>
            <a:ext cx="2789936" cy="5992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76"/>
              </a:lnSpc>
            </a:pPr>
            <a:r>
              <a:rPr lang="en-US" sz="3483" b="true">
                <a:solidFill>
                  <a:srgbClr val="CAED69"/>
                </a:solidFill>
                <a:latin typeface="Unbounded Bold"/>
                <a:ea typeface="Unbounded Bold"/>
                <a:cs typeface="Unbounded Bold"/>
                <a:sym typeface="Unbounded Bold"/>
              </a:rPr>
              <a:t>MANILLA: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3675106" y="4180377"/>
            <a:ext cx="3044541" cy="6250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64"/>
              </a:lnSpc>
            </a:pPr>
            <a:r>
              <a:rPr lang="en-US" sz="176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Debe portarse durante todo el evento.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238316" y="5297359"/>
            <a:ext cx="3090126" cy="5797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51"/>
              </a:lnSpc>
            </a:pPr>
            <a:r>
              <a:rPr lang="en-US" sz="2104" b="true">
                <a:solidFill>
                  <a:srgbClr val="1E5C96"/>
                </a:solidFill>
                <a:latin typeface="Unbounded Bold"/>
                <a:ea typeface="Unbounded Bold"/>
                <a:cs typeface="Unbounded Bold"/>
                <a:sym typeface="Unbounded Bold"/>
              </a:rPr>
              <a:t>TU MEDALLA</a:t>
            </a:r>
          </a:p>
          <a:p>
            <a:pPr algn="l">
              <a:lnSpc>
                <a:spcPts val="2251"/>
              </a:lnSpc>
            </a:pPr>
            <a:r>
              <a:rPr lang="en-US" sz="2104" b="true">
                <a:solidFill>
                  <a:srgbClr val="1E5C96"/>
                </a:solidFill>
                <a:latin typeface="Unbounded Bold"/>
                <a:ea typeface="Unbounded Bold"/>
                <a:cs typeface="Unbounded Bold"/>
                <a:sym typeface="Unbounded Bold"/>
              </a:rPr>
              <a:t>DEPENDE DE ESTO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238316" y="5991024"/>
            <a:ext cx="4933958" cy="7410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23"/>
              </a:lnSpc>
            </a:pPr>
            <a:r>
              <a:rPr lang="en-US" sz="1373">
                <a:solidFill>
                  <a:srgbClr val="1E5C96"/>
                </a:solidFill>
                <a:latin typeface="Poppins"/>
                <a:ea typeface="Poppins"/>
                <a:cs typeface="Poppins"/>
                <a:sym typeface="Poppins"/>
              </a:rPr>
              <a:t>La medalla se entrega únicamente a corredores oficialmente inscritos que completen válidamente su distancia y puedan acreditar al llegar a meta: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1213073" y="6893682"/>
            <a:ext cx="9101518" cy="281434"/>
            <a:chOff x="0" y="0"/>
            <a:chExt cx="12135358" cy="375246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4710420" y="56174"/>
              <a:ext cx="359479" cy="246243"/>
            </a:xfrm>
            <a:custGeom>
              <a:avLst/>
              <a:gdLst/>
              <a:ahLst/>
              <a:cxnLst/>
              <a:rect r="r" b="b" t="t" l="l"/>
              <a:pathLst>
                <a:path h="246243" w="359479">
                  <a:moveTo>
                    <a:pt x="0" y="0"/>
                  </a:moveTo>
                  <a:lnTo>
                    <a:pt x="359480" y="0"/>
                  </a:lnTo>
                  <a:lnTo>
                    <a:pt x="359480" y="246243"/>
                  </a:lnTo>
                  <a:lnTo>
                    <a:pt x="0" y="2462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19" id="19"/>
            <p:cNvSpPr txBox="true"/>
            <p:nvPr/>
          </p:nvSpPr>
          <p:spPr>
            <a:xfrm rot="0">
              <a:off x="0" y="-30970"/>
              <a:ext cx="6906490" cy="40621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541"/>
                </a:lnSpc>
              </a:pPr>
              <a:r>
                <a:rPr lang="en-US" sz="1815">
                  <a:solidFill>
                    <a:srgbClr val="1E5C96"/>
                  </a:solidFill>
                  <a:latin typeface="Poppins"/>
                  <a:ea typeface="Poppins"/>
                  <a:cs typeface="Poppins"/>
                  <a:sym typeface="Poppins"/>
                </a:rPr>
                <a:t>Dorsal + Chip + Manilla oficial </a:t>
              </a:r>
            </a:p>
          </p:txBody>
        </p:sp>
        <p:sp>
          <p:nvSpPr>
            <p:cNvPr name="TextBox 20" id="20"/>
            <p:cNvSpPr txBox="true"/>
            <p:nvPr/>
          </p:nvSpPr>
          <p:spPr>
            <a:xfrm rot="0">
              <a:off x="5228868" y="-47625"/>
              <a:ext cx="6906490" cy="40621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541"/>
                </a:lnSpc>
              </a:pPr>
              <a:r>
                <a:rPr lang="en-US" sz="1815" b="true">
                  <a:solidFill>
                    <a:srgbClr val="1E5C96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Medalla</a:t>
              </a:r>
            </a:p>
          </p:txBody>
        </p:sp>
      </p:grpSp>
      <p:sp>
        <p:nvSpPr>
          <p:cNvPr name="TextBox 21" id="21"/>
          <p:cNvSpPr txBox="true"/>
          <p:nvPr/>
        </p:nvSpPr>
        <p:spPr>
          <a:xfrm rot="0">
            <a:off x="1238316" y="7289056"/>
            <a:ext cx="4933958" cy="4983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23"/>
              </a:lnSpc>
            </a:pPr>
            <a:r>
              <a:rPr lang="en-US" sz="1373">
                <a:solidFill>
                  <a:srgbClr val="1E5C96"/>
                </a:solidFill>
                <a:latin typeface="Poppins"/>
                <a:ea typeface="Poppins"/>
                <a:cs typeface="Poppins"/>
                <a:sym typeface="Poppins"/>
              </a:rPr>
              <a:t>La medalla es personal y no puede ser reclamada por acompañantes, espectadores ni terceros.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578744" y="9277658"/>
            <a:ext cx="6402512" cy="9840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14"/>
              </a:lnSpc>
            </a:pPr>
            <a:r>
              <a:rPr lang="en-US" sz="1594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Cruza </a:t>
            </a:r>
            <a:r>
              <a:rPr lang="en-US" sz="1594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→ </a:t>
            </a:r>
            <a:r>
              <a:rPr lang="en-US" sz="1594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sigue el flujo </a:t>
            </a:r>
            <a:r>
              <a:rPr lang="en-US" sz="1594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→</a:t>
            </a:r>
            <a:r>
              <a:rPr lang="en-US" sz="1594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conserva tus elementos </a:t>
            </a:r>
            <a:r>
              <a:rPr lang="en-US" sz="1594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→ </a:t>
            </a:r>
            <a:r>
              <a:rPr lang="en-US" sz="1594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recibe tu medalla </a:t>
            </a:r>
            <a:r>
              <a:rPr lang="en-US" sz="1594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→</a:t>
            </a:r>
            <a:r>
              <a:rPr lang="en-US" sz="1594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ingresa a recuperación.</a:t>
            </a:r>
          </a:p>
          <a:p>
            <a:pPr algn="l">
              <a:lnSpc>
                <a:spcPts val="1514"/>
              </a:lnSpc>
            </a:pPr>
          </a:p>
          <a:p>
            <a:pPr algn="l">
              <a:lnSpc>
                <a:spcPts val="1514"/>
              </a:lnSpc>
            </a:pPr>
            <a:r>
              <a:rPr lang="en-US" sz="1594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No retires tu dorsal, chip o manilla antes de finalizar el proceso de llegada.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578744" y="8193565"/>
            <a:ext cx="4941540" cy="9031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06"/>
              </a:lnSpc>
            </a:pPr>
            <a:r>
              <a:rPr lang="en-US" sz="2861" b="true">
                <a:solidFill>
                  <a:srgbClr val="CAED69"/>
                </a:solidFill>
                <a:latin typeface="Unbounded Bold"/>
                <a:ea typeface="Unbounded Bold"/>
                <a:cs typeface="Unbounded Bold"/>
                <a:sym typeface="Unbounded Bold"/>
              </a:rPr>
              <a:t>DESPUÉS DE CRUZAR </a:t>
            </a:r>
          </a:p>
          <a:p>
            <a:pPr algn="l">
              <a:lnSpc>
                <a:spcPts val="2289"/>
              </a:lnSpc>
            </a:pPr>
            <a:r>
              <a:rPr lang="en-US" sz="2861" b="true">
                <a:solidFill>
                  <a:srgbClr val="CAED69"/>
                </a:solidFill>
                <a:latin typeface="Unbounded Bold"/>
                <a:ea typeface="Unbounded Bold"/>
                <a:cs typeface="Unbounded Bold"/>
                <a:sym typeface="Unbounded Bold"/>
              </a:rPr>
              <a:t>LA META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E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38918" y="0"/>
            <a:ext cx="7698918" cy="10813878"/>
          </a:xfrm>
          <a:custGeom>
            <a:avLst/>
            <a:gdLst/>
            <a:ahLst/>
            <a:cxnLst/>
            <a:rect r="r" b="b" t="t" l="l"/>
            <a:pathLst>
              <a:path h="10813878" w="7698918">
                <a:moveTo>
                  <a:pt x="0" y="0"/>
                </a:moveTo>
                <a:lnTo>
                  <a:pt x="7698918" y="0"/>
                </a:lnTo>
                <a:lnTo>
                  <a:pt x="7698918" y="10813878"/>
                </a:lnTo>
                <a:lnTo>
                  <a:pt x="0" y="1081387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6000"/>
            </a:blip>
            <a:stretch>
              <a:fillRect l="0" t="-687" r="-752" b="-687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5185972" y="5909909"/>
            <a:ext cx="1631000" cy="1631000"/>
            <a:chOff x="0" y="0"/>
            <a:chExt cx="812800" cy="812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80694" y="0"/>
                  </a:moveTo>
                  <a:lnTo>
                    <a:pt x="732106" y="0"/>
                  </a:lnTo>
                  <a:cubicBezTo>
                    <a:pt x="776672" y="0"/>
                    <a:pt x="812800" y="36128"/>
                    <a:pt x="812800" y="80694"/>
                  </a:cubicBezTo>
                  <a:lnTo>
                    <a:pt x="812800" y="732106"/>
                  </a:lnTo>
                  <a:cubicBezTo>
                    <a:pt x="812800" y="776672"/>
                    <a:pt x="776672" y="812800"/>
                    <a:pt x="732106" y="812800"/>
                  </a:cubicBezTo>
                  <a:lnTo>
                    <a:pt x="80694" y="812800"/>
                  </a:lnTo>
                  <a:cubicBezTo>
                    <a:pt x="36128" y="812800"/>
                    <a:pt x="0" y="776672"/>
                    <a:pt x="0" y="732106"/>
                  </a:cubicBezTo>
                  <a:lnTo>
                    <a:pt x="0" y="80694"/>
                  </a:lnTo>
                  <a:cubicBezTo>
                    <a:pt x="0" y="36128"/>
                    <a:pt x="36128" y="0"/>
                    <a:pt x="80694" y="0"/>
                  </a:cubicBezTo>
                  <a:close/>
                </a:path>
              </a:pathLst>
            </a:custGeom>
            <a:blipFill>
              <a:blip r:embed="rId3"/>
              <a:stretch>
                <a:fillRect l="-24976" t="0" r="-24976" b="0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2957882" y="5909909"/>
            <a:ext cx="1631000" cy="1631000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80694" y="0"/>
                  </a:moveTo>
                  <a:lnTo>
                    <a:pt x="732106" y="0"/>
                  </a:lnTo>
                  <a:cubicBezTo>
                    <a:pt x="776672" y="0"/>
                    <a:pt x="812800" y="36128"/>
                    <a:pt x="812800" y="80694"/>
                  </a:cubicBezTo>
                  <a:lnTo>
                    <a:pt x="812800" y="732106"/>
                  </a:lnTo>
                  <a:cubicBezTo>
                    <a:pt x="812800" y="776672"/>
                    <a:pt x="776672" y="812800"/>
                    <a:pt x="732106" y="812800"/>
                  </a:cubicBezTo>
                  <a:lnTo>
                    <a:pt x="80694" y="812800"/>
                  </a:lnTo>
                  <a:cubicBezTo>
                    <a:pt x="36128" y="812800"/>
                    <a:pt x="0" y="776672"/>
                    <a:pt x="0" y="732106"/>
                  </a:cubicBezTo>
                  <a:lnTo>
                    <a:pt x="0" y="80694"/>
                  </a:lnTo>
                  <a:cubicBezTo>
                    <a:pt x="0" y="36128"/>
                    <a:pt x="36128" y="0"/>
                    <a:pt x="80694" y="0"/>
                  </a:cubicBezTo>
                  <a:close/>
                </a:path>
              </a:pathLst>
            </a:custGeom>
            <a:blipFill>
              <a:blip r:embed="rId4"/>
              <a:stretch>
                <a:fillRect l="0" t="0" r="-49953" b="0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0">
            <a:off x="765683" y="5909909"/>
            <a:ext cx="1631000" cy="1631000"/>
            <a:chOff x="0" y="0"/>
            <a:chExt cx="812800" cy="8128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80694" y="0"/>
                  </a:moveTo>
                  <a:lnTo>
                    <a:pt x="732106" y="0"/>
                  </a:lnTo>
                  <a:cubicBezTo>
                    <a:pt x="776672" y="0"/>
                    <a:pt x="812800" y="36128"/>
                    <a:pt x="812800" y="80694"/>
                  </a:cubicBezTo>
                  <a:lnTo>
                    <a:pt x="812800" y="732106"/>
                  </a:lnTo>
                  <a:cubicBezTo>
                    <a:pt x="812800" y="776672"/>
                    <a:pt x="776672" y="812800"/>
                    <a:pt x="732106" y="812800"/>
                  </a:cubicBezTo>
                  <a:lnTo>
                    <a:pt x="80694" y="812800"/>
                  </a:lnTo>
                  <a:cubicBezTo>
                    <a:pt x="36128" y="812800"/>
                    <a:pt x="0" y="776672"/>
                    <a:pt x="0" y="732106"/>
                  </a:cubicBezTo>
                  <a:lnTo>
                    <a:pt x="0" y="80694"/>
                  </a:lnTo>
                  <a:cubicBezTo>
                    <a:pt x="0" y="36128"/>
                    <a:pt x="36128" y="0"/>
                    <a:pt x="80694" y="0"/>
                  </a:cubicBezTo>
                  <a:close/>
                </a:path>
              </a:pathLst>
            </a:custGeom>
            <a:blipFill>
              <a:blip r:embed="rId5"/>
              <a:stretch>
                <a:fillRect l="0" t="-12477" r="0" b="-12477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5185972" y="3256261"/>
            <a:ext cx="1631000" cy="1631000"/>
            <a:chOff x="0" y="0"/>
            <a:chExt cx="812800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80694" y="0"/>
                  </a:moveTo>
                  <a:lnTo>
                    <a:pt x="732106" y="0"/>
                  </a:lnTo>
                  <a:cubicBezTo>
                    <a:pt x="776672" y="0"/>
                    <a:pt x="812800" y="36128"/>
                    <a:pt x="812800" y="80694"/>
                  </a:cubicBezTo>
                  <a:lnTo>
                    <a:pt x="812800" y="732106"/>
                  </a:lnTo>
                  <a:cubicBezTo>
                    <a:pt x="812800" y="776672"/>
                    <a:pt x="776672" y="812800"/>
                    <a:pt x="732106" y="812800"/>
                  </a:cubicBezTo>
                  <a:lnTo>
                    <a:pt x="80694" y="812800"/>
                  </a:lnTo>
                  <a:cubicBezTo>
                    <a:pt x="36128" y="812800"/>
                    <a:pt x="0" y="776672"/>
                    <a:pt x="0" y="732106"/>
                  </a:cubicBezTo>
                  <a:lnTo>
                    <a:pt x="0" y="80694"/>
                  </a:lnTo>
                  <a:cubicBezTo>
                    <a:pt x="0" y="36128"/>
                    <a:pt x="36128" y="0"/>
                    <a:pt x="80694" y="0"/>
                  </a:cubicBezTo>
                  <a:close/>
                </a:path>
              </a:pathLst>
            </a:custGeom>
            <a:blipFill>
              <a:blip r:embed="rId6"/>
              <a:stretch>
                <a:fillRect l="0" t="-3579" r="0" b="-3579"/>
              </a:stretch>
            </a:blipFill>
          </p:spPr>
        </p:sp>
      </p:grpSp>
      <p:grpSp>
        <p:nvGrpSpPr>
          <p:cNvPr name="Group 11" id="11"/>
          <p:cNvGrpSpPr/>
          <p:nvPr/>
        </p:nvGrpSpPr>
        <p:grpSpPr>
          <a:xfrm rot="0">
            <a:off x="2957882" y="3256261"/>
            <a:ext cx="1631000" cy="1631000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80694" y="0"/>
                  </a:moveTo>
                  <a:lnTo>
                    <a:pt x="732106" y="0"/>
                  </a:lnTo>
                  <a:cubicBezTo>
                    <a:pt x="776672" y="0"/>
                    <a:pt x="812800" y="36128"/>
                    <a:pt x="812800" y="80694"/>
                  </a:cubicBezTo>
                  <a:lnTo>
                    <a:pt x="812800" y="732106"/>
                  </a:lnTo>
                  <a:cubicBezTo>
                    <a:pt x="812800" y="776672"/>
                    <a:pt x="776672" y="812800"/>
                    <a:pt x="732106" y="812800"/>
                  </a:cubicBezTo>
                  <a:lnTo>
                    <a:pt x="80694" y="812800"/>
                  </a:lnTo>
                  <a:cubicBezTo>
                    <a:pt x="36128" y="812800"/>
                    <a:pt x="0" y="776672"/>
                    <a:pt x="0" y="732106"/>
                  </a:cubicBezTo>
                  <a:lnTo>
                    <a:pt x="0" y="80694"/>
                  </a:lnTo>
                  <a:cubicBezTo>
                    <a:pt x="0" y="36128"/>
                    <a:pt x="36128" y="0"/>
                    <a:pt x="80694" y="0"/>
                  </a:cubicBezTo>
                  <a:close/>
                </a:path>
              </a:pathLst>
            </a:custGeom>
            <a:blipFill>
              <a:blip r:embed="rId7"/>
              <a:stretch>
                <a:fillRect l="0" t="-12477" r="0" b="-12477"/>
              </a:stretch>
            </a:blip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716762" y="3256261"/>
            <a:ext cx="1631000" cy="1631000"/>
            <a:chOff x="0" y="0"/>
            <a:chExt cx="812800" cy="8128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80694" y="0"/>
                  </a:moveTo>
                  <a:lnTo>
                    <a:pt x="732106" y="0"/>
                  </a:lnTo>
                  <a:cubicBezTo>
                    <a:pt x="776672" y="0"/>
                    <a:pt x="812800" y="36128"/>
                    <a:pt x="812800" y="80694"/>
                  </a:cubicBezTo>
                  <a:lnTo>
                    <a:pt x="812800" y="732106"/>
                  </a:lnTo>
                  <a:cubicBezTo>
                    <a:pt x="812800" y="776672"/>
                    <a:pt x="776672" y="812800"/>
                    <a:pt x="732106" y="812800"/>
                  </a:cubicBezTo>
                  <a:lnTo>
                    <a:pt x="80694" y="812800"/>
                  </a:lnTo>
                  <a:cubicBezTo>
                    <a:pt x="36128" y="812800"/>
                    <a:pt x="0" y="776672"/>
                    <a:pt x="0" y="732106"/>
                  </a:cubicBezTo>
                  <a:lnTo>
                    <a:pt x="0" y="80694"/>
                  </a:lnTo>
                  <a:cubicBezTo>
                    <a:pt x="0" y="36128"/>
                    <a:pt x="36128" y="0"/>
                    <a:pt x="80694" y="0"/>
                  </a:cubicBezTo>
                  <a:close/>
                </a:path>
              </a:pathLst>
            </a:custGeom>
            <a:blipFill>
              <a:blip r:embed="rId8"/>
              <a:stretch>
                <a:fillRect l="-19383" t="0" r="-19383" b="0"/>
              </a:stretch>
            </a:blipFill>
          </p:spPr>
        </p:sp>
      </p:grpSp>
      <p:sp>
        <p:nvSpPr>
          <p:cNvPr name="TextBox 15" id="15"/>
          <p:cNvSpPr txBox="true"/>
          <p:nvPr/>
        </p:nvSpPr>
        <p:spPr>
          <a:xfrm rot="0">
            <a:off x="1074540" y="4890308"/>
            <a:ext cx="1013285" cy="5453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60"/>
              </a:lnSpc>
            </a:pPr>
            <a:r>
              <a:rPr lang="en-US" sz="3114" b="true">
                <a:solidFill>
                  <a:srgbClr val="2DA7B1"/>
                </a:solidFill>
                <a:latin typeface="Unbounded Bold"/>
                <a:ea typeface="Unbounded Bold"/>
                <a:cs typeface="Unbounded Bold"/>
                <a:sym typeface="Unbounded Bold"/>
              </a:rPr>
              <a:t>42K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3260018" y="4890308"/>
            <a:ext cx="1006000" cy="5453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60"/>
              </a:lnSpc>
            </a:pPr>
            <a:r>
              <a:rPr lang="en-US" sz="3114" b="true">
                <a:solidFill>
                  <a:srgbClr val="2DA7B1"/>
                </a:solidFill>
                <a:latin typeface="Unbounded Bold"/>
                <a:ea typeface="Unbounded Bold"/>
                <a:cs typeface="Unbounded Bold"/>
                <a:sym typeface="Unbounded Bold"/>
              </a:rPr>
              <a:t>32K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5561658" y="4890308"/>
            <a:ext cx="879628" cy="5453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60"/>
              </a:lnSpc>
            </a:pPr>
            <a:r>
              <a:rPr lang="en-US" sz="3114" b="true">
                <a:solidFill>
                  <a:srgbClr val="2DA7B1"/>
                </a:solidFill>
                <a:latin typeface="Unbounded Bold"/>
                <a:ea typeface="Unbounded Bold"/>
                <a:cs typeface="Unbounded Bold"/>
                <a:sym typeface="Unbounded Bold"/>
              </a:rPr>
              <a:t>21K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123462" y="7639824"/>
            <a:ext cx="915443" cy="5453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60"/>
              </a:lnSpc>
            </a:pPr>
            <a:r>
              <a:rPr lang="en-US" sz="3114" b="true">
                <a:solidFill>
                  <a:srgbClr val="2DA7B1"/>
                </a:solidFill>
                <a:latin typeface="Unbounded Bold"/>
                <a:ea typeface="Unbounded Bold"/>
                <a:cs typeface="Unbounded Bold"/>
                <a:sym typeface="Unbounded Bold"/>
              </a:rPr>
              <a:t>10K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3441726" y="7639824"/>
            <a:ext cx="663313" cy="5453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60"/>
              </a:lnSpc>
            </a:pPr>
            <a:r>
              <a:rPr lang="en-US" sz="3114" b="true">
                <a:solidFill>
                  <a:srgbClr val="2DA7B1"/>
                </a:solidFill>
                <a:latin typeface="Unbounded Bold"/>
                <a:ea typeface="Unbounded Bold"/>
                <a:cs typeface="Unbounded Bold"/>
                <a:sym typeface="Unbounded Bold"/>
              </a:rPr>
              <a:t>5K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5664403" y="7639824"/>
            <a:ext cx="674139" cy="5453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60"/>
              </a:lnSpc>
            </a:pPr>
            <a:r>
              <a:rPr lang="en-US" sz="3114" b="true">
                <a:solidFill>
                  <a:srgbClr val="2DA7B1"/>
                </a:solidFill>
                <a:latin typeface="Unbounded Bold"/>
                <a:ea typeface="Unbounded Bold"/>
                <a:cs typeface="Unbounded Bold"/>
                <a:sym typeface="Unbounded Bold"/>
              </a:rPr>
              <a:t>2K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751775" y="615070"/>
            <a:ext cx="6056451" cy="6519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277"/>
              </a:lnSpc>
            </a:pPr>
            <a:r>
              <a:rPr lang="en-US" b="true" sz="3769">
                <a:solidFill>
                  <a:srgbClr val="1E5C96"/>
                </a:solidFill>
                <a:latin typeface="Unbounded Bold"/>
                <a:ea typeface="Unbounded Bold"/>
                <a:cs typeface="Unbounded Bold"/>
                <a:sym typeface="Unbounded Bold"/>
              </a:rPr>
              <a:t>ELIGE TU RETO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212072" y="1071020"/>
            <a:ext cx="7135856" cy="7770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258"/>
              </a:lnSpc>
            </a:pPr>
            <a:r>
              <a:rPr lang="en-US" b="true" sz="4470">
                <a:solidFill>
                  <a:srgbClr val="2DA7B1"/>
                </a:solidFill>
                <a:latin typeface="Unbounded Bold"/>
                <a:ea typeface="Unbounded Bold"/>
                <a:cs typeface="Unbounded Bold"/>
                <a:sym typeface="Unbounded Bold"/>
              </a:rPr>
              <a:t>CONOCE TU RUTA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899649" y="2152082"/>
            <a:ext cx="5760702" cy="5326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39"/>
              </a:lnSpc>
            </a:pPr>
            <a:r>
              <a:rPr lang="en-US" sz="1528">
                <a:solidFill>
                  <a:srgbClr val="1E5C96"/>
                </a:solidFill>
                <a:latin typeface="Poppins"/>
                <a:ea typeface="Poppins"/>
                <a:cs typeface="Poppins"/>
                <a:sym typeface="Poppins"/>
              </a:rPr>
              <a:t>Seis circuitos cronometrados · Todos con </a:t>
            </a:r>
            <a:r>
              <a:rPr lang="en-US" sz="1528" b="true">
                <a:solidFill>
                  <a:srgbClr val="1E5C96"/>
                </a:solidFill>
                <a:latin typeface="Poppins Bold"/>
                <a:ea typeface="Poppins Bold"/>
                <a:cs typeface="Poppins Bold"/>
                <a:sym typeface="Poppins Bold"/>
              </a:rPr>
              <a:t>hidratación</a:t>
            </a:r>
            <a:r>
              <a:rPr lang="en-US" sz="1528">
                <a:solidFill>
                  <a:srgbClr val="1E5C96"/>
                </a:solidFill>
                <a:latin typeface="Poppins"/>
                <a:ea typeface="Poppins"/>
                <a:cs typeface="Poppins"/>
                <a:sym typeface="Poppins"/>
              </a:rPr>
              <a:t> y </a:t>
            </a:r>
            <a:r>
              <a:rPr lang="en-US" sz="1528" b="true">
                <a:solidFill>
                  <a:srgbClr val="1E5C96"/>
                </a:solidFill>
                <a:latin typeface="Poppins Bold"/>
                <a:ea typeface="Poppins Bold"/>
                <a:cs typeface="Poppins Bold"/>
                <a:sym typeface="Poppins Bold"/>
              </a:rPr>
              <a:t>atención médica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3847063" y="8204221"/>
            <a:ext cx="4308819" cy="3381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98"/>
              </a:lnSpc>
            </a:pPr>
            <a:r>
              <a:rPr lang="en-US" sz="1367" b="true">
                <a:solidFill>
                  <a:srgbClr val="1E5C96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Haz historia </a:t>
            </a:r>
          </a:p>
          <a:p>
            <a:pPr algn="ctr">
              <a:lnSpc>
                <a:spcPts val="1298"/>
              </a:lnSpc>
            </a:pPr>
            <a:r>
              <a:rPr lang="en-US" sz="1367" b="true">
                <a:solidFill>
                  <a:srgbClr val="1E5C96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desde pequeño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618973" y="8204221"/>
            <a:ext cx="4308819" cy="3381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98"/>
              </a:lnSpc>
            </a:pPr>
            <a:r>
              <a:rPr lang="en-US" sz="1367" b="true">
                <a:solidFill>
                  <a:srgbClr val="1E5C96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Corre y disfruta</a:t>
            </a:r>
          </a:p>
          <a:p>
            <a:pPr algn="ctr">
              <a:lnSpc>
                <a:spcPts val="1298"/>
              </a:lnSpc>
            </a:pPr>
            <a:r>
              <a:rPr lang="en-US" sz="1367" b="true">
                <a:solidFill>
                  <a:srgbClr val="1E5C96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la magia del Caribe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-573226" y="8204221"/>
            <a:ext cx="4308819" cy="3381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98"/>
              </a:lnSpc>
            </a:pPr>
            <a:r>
              <a:rPr lang="en-US" sz="1367" b="true">
                <a:solidFill>
                  <a:srgbClr val="1E5C96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El desafio</a:t>
            </a:r>
          </a:p>
          <a:p>
            <a:pPr algn="ctr">
              <a:lnSpc>
                <a:spcPts val="1298"/>
              </a:lnSpc>
            </a:pPr>
            <a:r>
              <a:rPr lang="en-US" sz="1367" b="true">
                <a:solidFill>
                  <a:srgbClr val="1E5C96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perfecto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-573226" y="5406207"/>
            <a:ext cx="4308819" cy="3381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98"/>
              </a:lnSpc>
            </a:pPr>
            <a:r>
              <a:rPr lang="en-US" sz="1367" b="true">
                <a:solidFill>
                  <a:srgbClr val="1E5C96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Maratón completa ·</a:t>
            </a:r>
          </a:p>
          <a:p>
            <a:pPr algn="ctr">
              <a:lnSpc>
                <a:spcPts val="1298"/>
              </a:lnSpc>
            </a:pPr>
            <a:r>
              <a:rPr lang="en-US" sz="1367" b="true">
                <a:solidFill>
                  <a:srgbClr val="1E5C96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corre para hacer historia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618973" y="5406207"/>
            <a:ext cx="4308819" cy="3381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98"/>
              </a:lnSpc>
            </a:pPr>
            <a:r>
              <a:rPr lang="en-US" sz="1367" b="true">
                <a:solidFill>
                  <a:srgbClr val="1E5C96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La escala perfecta</a:t>
            </a:r>
          </a:p>
          <a:p>
            <a:pPr algn="ctr">
              <a:lnSpc>
                <a:spcPts val="1298"/>
              </a:lnSpc>
            </a:pPr>
            <a:r>
              <a:rPr lang="en-US" sz="1367" b="true">
                <a:solidFill>
                  <a:srgbClr val="1E5C96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para la maratón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3847063" y="5406207"/>
            <a:ext cx="4308819" cy="3381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98"/>
              </a:lnSpc>
            </a:pPr>
            <a:r>
              <a:rPr lang="en-US" sz="1367" b="true">
                <a:solidFill>
                  <a:srgbClr val="1E5C96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Un reto con</a:t>
            </a:r>
          </a:p>
          <a:p>
            <a:pPr algn="ctr">
              <a:lnSpc>
                <a:spcPts val="1298"/>
              </a:lnSpc>
            </a:pPr>
            <a:r>
              <a:rPr lang="en-US" sz="1367" b="true">
                <a:solidFill>
                  <a:srgbClr val="1E5C96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vistas al paraíso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618973" y="9310193"/>
            <a:ext cx="5460397" cy="5963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38"/>
              </a:lnSpc>
            </a:pPr>
            <a:r>
              <a:rPr lang="en-US" sz="1570" b="true">
                <a:solidFill>
                  <a:srgbClr val="1E5C96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Los mapas y altimetrías oficiales 2026 deberán consultarse en los canales oficiales de la Organización una vez publicados.</a:t>
            </a:r>
          </a:p>
        </p:txBody>
      </p:sp>
      <p:sp>
        <p:nvSpPr>
          <p:cNvPr name="Freeform 31" id="31"/>
          <p:cNvSpPr/>
          <p:nvPr/>
        </p:nvSpPr>
        <p:spPr>
          <a:xfrm flipH="false" flipV="false" rot="0">
            <a:off x="558260" y="9113833"/>
            <a:ext cx="1130403" cy="1130403"/>
          </a:xfrm>
          <a:custGeom>
            <a:avLst/>
            <a:gdLst/>
            <a:ahLst/>
            <a:cxnLst/>
            <a:rect r="r" b="b" t="t" l="l"/>
            <a:pathLst>
              <a:path h="1130403" w="1130403">
                <a:moveTo>
                  <a:pt x="0" y="0"/>
                </a:moveTo>
                <a:lnTo>
                  <a:pt x="1130403" y="0"/>
                </a:lnTo>
                <a:lnTo>
                  <a:pt x="1130403" y="1130404"/>
                </a:lnTo>
                <a:lnTo>
                  <a:pt x="0" y="1130404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E5C9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7560000" cy="10684322"/>
          </a:xfrm>
          <a:custGeom>
            <a:avLst/>
            <a:gdLst/>
            <a:ahLst/>
            <a:cxnLst/>
            <a:rect r="r" b="b" t="t" l="l"/>
            <a:pathLst>
              <a:path h="10684322" w="7560000">
                <a:moveTo>
                  <a:pt x="0" y="0"/>
                </a:moveTo>
                <a:lnTo>
                  <a:pt x="7560000" y="0"/>
                </a:lnTo>
                <a:lnTo>
                  <a:pt x="7560000" y="10684322"/>
                </a:lnTo>
                <a:lnTo>
                  <a:pt x="0" y="1068432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515798" y="2454905"/>
            <a:ext cx="2354647" cy="18995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228"/>
              </a:lnSpc>
            </a:pPr>
            <a:r>
              <a:rPr lang="en-US" sz="10877" b="true">
                <a:solidFill>
                  <a:srgbClr val="CAED69"/>
                </a:solidFill>
                <a:latin typeface="Unbounded Bold"/>
                <a:ea typeface="Unbounded Bold"/>
                <a:cs typeface="Unbounded Bold"/>
                <a:sym typeface="Unbounded Bold"/>
              </a:rPr>
              <a:t>2K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515798" y="370100"/>
            <a:ext cx="2507574" cy="6893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81"/>
              </a:lnSpc>
            </a:pPr>
            <a:r>
              <a:rPr lang="en-US" sz="3986" b="true">
                <a:solidFill>
                  <a:srgbClr val="CAED69"/>
                </a:solidFill>
                <a:latin typeface="Unbounded Bold"/>
                <a:ea typeface="Unbounded Bold"/>
                <a:cs typeface="Unbounded Bold"/>
                <a:sym typeface="Unbounded Bold"/>
              </a:rPr>
              <a:t>2K </a:t>
            </a:r>
            <a:r>
              <a:rPr lang="en-US" sz="3986" b="true">
                <a:solidFill>
                  <a:srgbClr val="FFFFFF"/>
                </a:solidFill>
                <a:latin typeface="Unbounded Bold"/>
                <a:ea typeface="Unbounded Bold"/>
                <a:cs typeface="Unbounded Bold"/>
                <a:sym typeface="Unbounded Bold"/>
              </a:rPr>
              <a:t>y</a:t>
            </a:r>
            <a:r>
              <a:rPr lang="en-US" sz="3986" b="true">
                <a:solidFill>
                  <a:srgbClr val="CAED69"/>
                </a:solidFill>
                <a:latin typeface="Unbounded Bold"/>
                <a:ea typeface="Unbounded Bold"/>
                <a:cs typeface="Unbounded Bold"/>
                <a:sym typeface="Unbounded Bold"/>
              </a:rPr>
              <a:t> </a:t>
            </a:r>
            <a:r>
              <a:rPr lang="en-US" sz="3986" b="true">
                <a:solidFill>
                  <a:srgbClr val="2DA7B1"/>
                </a:solidFill>
                <a:latin typeface="Unbounded Bold"/>
                <a:ea typeface="Unbounded Bold"/>
                <a:cs typeface="Unbounded Bold"/>
                <a:sym typeface="Unbounded Bold"/>
              </a:rPr>
              <a:t>5K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515798" y="1188516"/>
            <a:ext cx="6447976" cy="6735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32"/>
              </a:lnSpc>
            </a:pPr>
            <a:r>
              <a:rPr lang="en-US" sz="3737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CONOCE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515798" y="1615155"/>
            <a:ext cx="6447976" cy="6735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32"/>
              </a:lnSpc>
            </a:pPr>
            <a:r>
              <a:rPr lang="en-US" sz="3737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TU DISTANCIA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3023372" y="3298909"/>
            <a:ext cx="4709154" cy="2740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29"/>
              </a:lnSpc>
            </a:pPr>
            <a:r>
              <a:rPr lang="en-US" sz="1968" b="true">
                <a:solidFill>
                  <a:srgbClr val="CAED69"/>
                </a:solidFill>
                <a:latin typeface="Poppins Bold"/>
                <a:ea typeface="Poppins Bold"/>
                <a:cs typeface="Poppins Bold"/>
                <a:sym typeface="Poppins Bold"/>
              </a:rPr>
              <a:t>INFANTIL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3023372" y="3592039"/>
            <a:ext cx="4709154" cy="4570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04"/>
              </a:lnSpc>
            </a:pPr>
            <a:r>
              <a:rPr lang="en-US" sz="1794" b="true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HAZ HISTORIA </a:t>
            </a:r>
          </a:p>
          <a:p>
            <a:pPr algn="l">
              <a:lnSpc>
                <a:spcPts val="1704"/>
              </a:lnSpc>
            </a:pPr>
            <a:r>
              <a:rPr lang="en-US" sz="1794" b="true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DESDE PEQUEÑO.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668795" y="4440330"/>
            <a:ext cx="4709154" cy="2740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29"/>
              </a:lnSpc>
            </a:pPr>
            <a:r>
              <a:rPr lang="en-US" sz="1968" b="true">
                <a:solidFill>
                  <a:srgbClr val="CAED69"/>
                </a:solidFill>
                <a:latin typeface="Poppins Bold"/>
                <a:ea typeface="Poppins Bold"/>
                <a:cs typeface="Poppins Bold"/>
                <a:sym typeface="Poppins Bold"/>
              </a:rPr>
              <a:t>RECORRIDO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668795" y="4842303"/>
            <a:ext cx="4709154" cy="2442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09"/>
              </a:lnSpc>
            </a:pPr>
            <a:r>
              <a:rPr lang="en-US" sz="1694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1,2 Km</a:t>
            </a:r>
            <a:r>
              <a:rPr lang="en-US" sz="1694" b="true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de ida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668795" y="5092057"/>
            <a:ext cx="4709154" cy="2442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09"/>
              </a:lnSpc>
            </a:pPr>
            <a:r>
              <a:rPr lang="en-US" sz="1694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800 m</a:t>
            </a:r>
            <a:r>
              <a:rPr lang="en-US" sz="1694" b="true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de regreso</a:t>
            </a:r>
          </a:p>
        </p:txBody>
      </p:sp>
      <p:sp>
        <p:nvSpPr>
          <p:cNvPr name="AutoShape 12" id="12"/>
          <p:cNvSpPr/>
          <p:nvPr/>
        </p:nvSpPr>
        <p:spPr>
          <a:xfrm flipH="true" flipV="true">
            <a:off x="2870445" y="4469985"/>
            <a:ext cx="0" cy="866369"/>
          </a:xfrm>
          <a:prstGeom prst="line">
            <a:avLst/>
          </a:prstGeom>
          <a:ln cap="rnd" w="19050">
            <a:solidFill>
              <a:srgbClr val="CAED69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3" id="13"/>
          <p:cNvSpPr txBox="true"/>
          <p:nvPr/>
        </p:nvSpPr>
        <p:spPr>
          <a:xfrm rot="0">
            <a:off x="3190423" y="4489035"/>
            <a:ext cx="4709154" cy="2740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29"/>
              </a:lnSpc>
            </a:pPr>
            <a:r>
              <a:rPr lang="en-US" sz="1968" b="true">
                <a:solidFill>
                  <a:srgbClr val="CAED69"/>
                </a:solidFill>
                <a:latin typeface="Poppins Bold"/>
                <a:ea typeface="Poppins Bold"/>
                <a:cs typeface="Poppins Bold"/>
                <a:sym typeface="Poppins Bold"/>
              </a:rPr>
              <a:t>EDAD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3190423" y="4842303"/>
            <a:ext cx="4709154" cy="2442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09"/>
              </a:lnSpc>
            </a:pPr>
            <a:r>
              <a:rPr lang="en-US" sz="1694" b="true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7 a 15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3190423" y="5092057"/>
            <a:ext cx="4709154" cy="2442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09"/>
              </a:lnSpc>
            </a:pPr>
            <a:r>
              <a:rPr lang="en-US" sz="1694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años</a:t>
            </a:r>
          </a:p>
        </p:txBody>
      </p:sp>
      <p:sp>
        <p:nvSpPr>
          <p:cNvPr name="AutoShape 16" id="16"/>
          <p:cNvSpPr/>
          <p:nvPr/>
        </p:nvSpPr>
        <p:spPr>
          <a:xfrm flipH="true" flipV="true">
            <a:off x="4262984" y="4469985"/>
            <a:ext cx="0" cy="818744"/>
          </a:xfrm>
          <a:prstGeom prst="line">
            <a:avLst/>
          </a:prstGeom>
          <a:ln cap="rnd" w="19050">
            <a:solidFill>
              <a:srgbClr val="CAED69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7" id="17"/>
          <p:cNvSpPr txBox="true"/>
          <p:nvPr/>
        </p:nvSpPr>
        <p:spPr>
          <a:xfrm rot="0">
            <a:off x="4609196" y="4489035"/>
            <a:ext cx="4709154" cy="2740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29"/>
              </a:lnSpc>
            </a:pPr>
            <a:r>
              <a:rPr lang="en-US" sz="1968" b="true">
                <a:solidFill>
                  <a:srgbClr val="CAED69"/>
                </a:solidFill>
                <a:latin typeface="Poppins Bold"/>
                <a:ea typeface="Poppins Bold"/>
                <a:cs typeface="Poppins Bold"/>
                <a:sym typeface="Poppins Bold"/>
              </a:rPr>
              <a:t>CLASIFICACIÓN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4609196" y="4865134"/>
            <a:ext cx="4709154" cy="4443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09"/>
              </a:lnSpc>
            </a:pPr>
            <a:r>
              <a:rPr lang="en-US" sz="1694" b="true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Niñas</a:t>
            </a:r>
          </a:p>
          <a:p>
            <a:pPr algn="l">
              <a:lnSpc>
                <a:spcPts val="1609"/>
              </a:lnSpc>
            </a:pPr>
            <a:r>
              <a:rPr lang="en-US" sz="1694" b="true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y Niños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668795" y="5584004"/>
            <a:ext cx="6135205" cy="4125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14"/>
              </a:lnSpc>
            </a:pPr>
            <a:r>
              <a:rPr lang="en-US" sz="1594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Los adultos no pueden correr el circuito; acompañan hasta la salida y se reencuentran después de la meta.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553776" y="6215651"/>
            <a:ext cx="2316669" cy="18995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228"/>
              </a:lnSpc>
            </a:pPr>
            <a:r>
              <a:rPr lang="en-US" sz="10877" b="true">
                <a:solidFill>
                  <a:srgbClr val="2DA7B1"/>
                </a:solidFill>
                <a:latin typeface="Unbounded Bold"/>
                <a:ea typeface="Unbounded Bold"/>
                <a:cs typeface="Unbounded Bold"/>
                <a:sym typeface="Unbounded Bold"/>
              </a:rPr>
              <a:t>5K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3023372" y="7072901"/>
            <a:ext cx="4709154" cy="2740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29"/>
              </a:lnSpc>
            </a:pPr>
            <a:r>
              <a:rPr lang="en-US" sz="1968" b="true">
                <a:solidFill>
                  <a:srgbClr val="2DA7B1"/>
                </a:solidFill>
                <a:latin typeface="Poppins Bold"/>
                <a:ea typeface="Poppins Bold"/>
                <a:cs typeface="Poppins Bold"/>
                <a:sym typeface="Poppins Bold"/>
              </a:rPr>
              <a:t>CORRE Y DISFRUTA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3023372" y="7366031"/>
            <a:ext cx="4709154" cy="4570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04"/>
              </a:lnSpc>
            </a:pPr>
            <a:r>
              <a:rPr lang="en-US" sz="1794" b="true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LA MAGIA</a:t>
            </a:r>
          </a:p>
          <a:p>
            <a:pPr algn="l">
              <a:lnSpc>
                <a:spcPts val="1704"/>
              </a:lnSpc>
            </a:pPr>
            <a:r>
              <a:rPr lang="en-US" sz="1794" b="true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DEL CARIBE.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668795" y="8153270"/>
            <a:ext cx="4709154" cy="2740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29"/>
              </a:lnSpc>
            </a:pPr>
            <a:r>
              <a:rPr lang="en-US" sz="1968" b="true">
                <a:solidFill>
                  <a:srgbClr val="2DA7B1"/>
                </a:solidFill>
                <a:latin typeface="Poppins Bold"/>
                <a:ea typeface="Poppins Bold"/>
                <a:cs typeface="Poppins Bold"/>
                <a:sym typeface="Poppins Bold"/>
              </a:rPr>
              <a:t>RECORRIDO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668795" y="8552256"/>
            <a:ext cx="4709154" cy="2442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09"/>
              </a:lnSpc>
            </a:pPr>
            <a:r>
              <a:rPr lang="en-US" sz="1694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2,7 Km</a:t>
            </a:r>
            <a:r>
              <a:rPr lang="en-US" sz="1694" b="true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de ida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668795" y="8806077"/>
            <a:ext cx="4709154" cy="2442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09"/>
              </a:lnSpc>
            </a:pPr>
            <a:r>
              <a:rPr lang="en-US" sz="1694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2,3 Km </a:t>
            </a:r>
            <a:r>
              <a:rPr lang="en-US" sz="1694" b="true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de regreso</a:t>
            </a:r>
          </a:p>
        </p:txBody>
      </p:sp>
      <p:sp>
        <p:nvSpPr>
          <p:cNvPr name="AutoShape 26" id="26"/>
          <p:cNvSpPr/>
          <p:nvPr/>
        </p:nvSpPr>
        <p:spPr>
          <a:xfrm flipH="true" flipV="true">
            <a:off x="2870445" y="8182925"/>
            <a:ext cx="0" cy="867449"/>
          </a:xfrm>
          <a:prstGeom prst="line">
            <a:avLst/>
          </a:prstGeom>
          <a:ln cap="rnd" w="19050">
            <a:solidFill>
              <a:srgbClr val="2DA7B1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27" id="27"/>
          <p:cNvSpPr txBox="true"/>
          <p:nvPr/>
        </p:nvSpPr>
        <p:spPr>
          <a:xfrm rot="0">
            <a:off x="3190423" y="8201975"/>
            <a:ext cx="4709154" cy="2740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29"/>
              </a:lnSpc>
            </a:pPr>
            <a:r>
              <a:rPr lang="en-US" sz="1968" b="true">
                <a:solidFill>
                  <a:srgbClr val="2DA7B1"/>
                </a:solidFill>
                <a:latin typeface="Poppins Bold"/>
                <a:ea typeface="Poppins Bold"/>
                <a:cs typeface="Poppins Bold"/>
                <a:sym typeface="Poppins Bold"/>
              </a:rPr>
              <a:t>EDAD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3190423" y="8585299"/>
            <a:ext cx="4709154" cy="2442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09"/>
              </a:lnSpc>
            </a:pPr>
            <a:r>
              <a:rPr lang="en-US" sz="1694" b="true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Desde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3190423" y="8806077"/>
            <a:ext cx="4709154" cy="2442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09"/>
              </a:lnSpc>
            </a:pPr>
            <a:r>
              <a:rPr lang="en-US" sz="1694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16 años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4609196" y="8201975"/>
            <a:ext cx="4709154" cy="2740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29"/>
              </a:lnSpc>
            </a:pPr>
            <a:r>
              <a:rPr lang="en-US" sz="1968" b="true">
                <a:solidFill>
                  <a:srgbClr val="2DA7B1"/>
                </a:solidFill>
                <a:latin typeface="Poppins Bold"/>
                <a:ea typeface="Poppins Bold"/>
                <a:cs typeface="Poppins Bold"/>
                <a:sym typeface="Poppins Bold"/>
              </a:rPr>
              <a:t>EXCEPCIÓN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4609196" y="8579154"/>
            <a:ext cx="4709154" cy="6443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09"/>
              </a:lnSpc>
            </a:pPr>
            <a:r>
              <a:rPr lang="en-US" sz="1694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10</a:t>
            </a:r>
            <a:r>
              <a:rPr lang="en-US" sz="1694" b="true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a </a:t>
            </a:r>
            <a:r>
              <a:rPr lang="en-US" sz="1694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15 años </a:t>
            </a:r>
          </a:p>
          <a:p>
            <a:pPr algn="l">
              <a:lnSpc>
                <a:spcPts val="1609"/>
              </a:lnSpc>
            </a:pPr>
            <a:r>
              <a:rPr lang="en-US" sz="1694" b="true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con autorización del</a:t>
            </a:r>
          </a:p>
          <a:p>
            <a:pPr algn="l">
              <a:lnSpc>
                <a:spcPts val="1609"/>
              </a:lnSpc>
            </a:pPr>
            <a:r>
              <a:rPr lang="en-US" sz="1694" b="true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responsable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668795" y="8400920"/>
            <a:ext cx="4709154" cy="1081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54"/>
              </a:lnSpc>
            </a:pPr>
            <a:r>
              <a:rPr lang="en-US" sz="794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APROXIMADAMENTE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668795" y="4693036"/>
            <a:ext cx="4709154" cy="1081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54"/>
              </a:lnSpc>
            </a:pPr>
            <a:r>
              <a:rPr lang="en-US" sz="794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APROXIMADAMENTE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668795" y="9394951"/>
            <a:ext cx="6135205" cy="6030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14"/>
              </a:lnSpc>
            </a:pPr>
            <a:r>
              <a:rPr lang="en-US" sz="1594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Para clasificación/premiación, el reglamento los incluye excepcionalmente en Mayores, con clasificación independiente para Hombres y Mujeres.</a:t>
            </a:r>
          </a:p>
        </p:txBody>
      </p:sp>
      <p:sp>
        <p:nvSpPr>
          <p:cNvPr name="AutoShape 35" id="35"/>
          <p:cNvSpPr/>
          <p:nvPr/>
        </p:nvSpPr>
        <p:spPr>
          <a:xfrm flipH="true" flipV="true">
            <a:off x="4253459" y="8182925"/>
            <a:ext cx="0" cy="867449"/>
          </a:xfrm>
          <a:prstGeom prst="line">
            <a:avLst/>
          </a:prstGeom>
          <a:ln cap="rnd" w="19050">
            <a:solidFill>
              <a:srgbClr val="2DA7B1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E5C9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7560000" cy="10684322"/>
          </a:xfrm>
          <a:custGeom>
            <a:avLst/>
            <a:gdLst/>
            <a:ahLst/>
            <a:cxnLst/>
            <a:rect r="r" b="b" t="t" l="l"/>
            <a:pathLst>
              <a:path h="10684322" w="7560000">
                <a:moveTo>
                  <a:pt x="0" y="0"/>
                </a:moveTo>
                <a:lnTo>
                  <a:pt x="7560000" y="0"/>
                </a:lnTo>
                <a:lnTo>
                  <a:pt x="7560000" y="10684322"/>
                </a:lnTo>
                <a:lnTo>
                  <a:pt x="0" y="1068432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668795" y="3895906"/>
            <a:ext cx="4709154" cy="2740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29"/>
              </a:lnSpc>
            </a:pPr>
            <a:r>
              <a:rPr lang="en-US" sz="1968" b="true">
                <a:solidFill>
                  <a:srgbClr val="CAED69"/>
                </a:solidFill>
                <a:latin typeface="Poppins Bold"/>
                <a:ea typeface="Poppins Bold"/>
                <a:cs typeface="Poppins Bold"/>
                <a:sym typeface="Poppins Bold"/>
              </a:rPr>
              <a:t>RECORRIDO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668795" y="4297879"/>
            <a:ext cx="4709154" cy="2442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09"/>
              </a:lnSpc>
            </a:pPr>
            <a:r>
              <a:rPr lang="en-US" sz="1694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5,2 Km</a:t>
            </a:r>
            <a:r>
              <a:rPr lang="en-US" sz="1694" b="true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de ida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668795" y="4547634"/>
            <a:ext cx="4709154" cy="2442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09"/>
              </a:lnSpc>
            </a:pPr>
            <a:r>
              <a:rPr lang="en-US" sz="1694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4,8 Km</a:t>
            </a:r>
            <a:r>
              <a:rPr lang="en-US" sz="1694" b="true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de regreso</a:t>
            </a:r>
          </a:p>
        </p:txBody>
      </p:sp>
      <p:sp>
        <p:nvSpPr>
          <p:cNvPr name="AutoShape 6" id="6"/>
          <p:cNvSpPr/>
          <p:nvPr/>
        </p:nvSpPr>
        <p:spPr>
          <a:xfrm flipV="true">
            <a:off x="2870445" y="3925561"/>
            <a:ext cx="0" cy="1163143"/>
          </a:xfrm>
          <a:prstGeom prst="line">
            <a:avLst/>
          </a:prstGeom>
          <a:ln cap="rnd" w="19050">
            <a:solidFill>
              <a:srgbClr val="CAED69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7" id="7"/>
          <p:cNvSpPr txBox="true"/>
          <p:nvPr/>
        </p:nvSpPr>
        <p:spPr>
          <a:xfrm rot="0">
            <a:off x="3023372" y="3944611"/>
            <a:ext cx="4709154" cy="5122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29"/>
              </a:lnSpc>
            </a:pPr>
            <a:r>
              <a:rPr lang="en-US" sz="1968" b="true">
                <a:solidFill>
                  <a:srgbClr val="CAED69"/>
                </a:solidFill>
                <a:latin typeface="Poppins Bold"/>
                <a:ea typeface="Poppins Bold"/>
                <a:cs typeface="Poppins Bold"/>
                <a:sym typeface="Poppins Bold"/>
              </a:rPr>
              <a:t>SALIDA </a:t>
            </a:r>
          </a:p>
          <a:p>
            <a:pPr algn="l">
              <a:lnSpc>
                <a:spcPts val="1929"/>
              </a:lnSpc>
            </a:pPr>
            <a:r>
              <a:rPr lang="en-US" sz="1968" b="true">
                <a:solidFill>
                  <a:srgbClr val="CAED69"/>
                </a:solidFill>
                <a:latin typeface="Poppins Bold"/>
                <a:ea typeface="Poppins Bold"/>
                <a:cs typeface="Poppins Bold"/>
                <a:sym typeface="Poppins Bold"/>
              </a:rPr>
              <a:t>OFICIAL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3023372" y="4514385"/>
            <a:ext cx="4709154" cy="2506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99"/>
              </a:lnSpc>
            </a:pPr>
            <a:r>
              <a:rPr lang="en-US" sz="1894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5:40 A.M.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668795" y="8153270"/>
            <a:ext cx="4709154" cy="2740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29"/>
              </a:lnSpc>
            </a:pPr>
            <a:r>
              <a:rPr lang="en-US" sz="1968" b="true">
                <a:solidFill>
                  <a:srgbClr val="2DA7B1"/>
                </a:solidFill>
                <a:latin typeface="Poppins Bold"/>
                <a:ea typeface="Poppins Bold"/>
                <a:cs typeface="Poppins Bold"/>
                <a:sym typeface="Poppins Bold"/>
              </a:rPr>
              <a:t>RECORRIDO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668795" y="8552256"/>
            <a:ext cx="4709154" cy="2442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09"/>
              </a:lnSpc>
            </a:pPr>
            <a:r>
              <a:rPr lang="en-US" sz="1694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10,5 Km</a:t>
            </a:r>
            <a:r>
              <a:rPr lang="en-US" sz="1694" b="true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de ida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668795" y="8806077"/>
            <a:ext cx="4709154" cy="2442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09"/>
              </a:lnSpc>
            </a:pPr>
            <a:r>
              <a:rPr lang="en-US" sz="1694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10,5 Km </a:t>
            </a:r>
            <a:r>
              <a:rPr lang="en-US" sz="1694" b="true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de regreso</a:t>
            </a:r>
          </a:p>
        </p:txBody>
      </p:sp>
      <p:sp>
        <p:nvSpPr>
          <p:cNvPr name="AutoShape 12" id="12"/>
          <p:cNvSpPr/>
          <p:nvPr/>
        </p:nvSpPr>
        <p:spPr>
          <a:xfrm flipH="true" flipV="true">
            <a:off x="2870445" y="8182925"/>
            <a:ext cx="0" cy="1389678"/>
          </a:xfrm>
          <a:prstGeom prst="line">
            <a:avLst/>
          </a:prstGeom>
          <a:ln cap="rnd" w="19050">
            <a:solidFill>
              <a:srgbClr val="2DA7B1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3" id="13"/>
          <p:cNvSpPr txBox="true"/>
          <p:nvPr/>
        </p:nvSpPr>
        <p:spPr>
          <a:xfrm rot="0">
            <a:off x="515798" y="1330955"/>
            <a:ext cx="3197309" cy="18995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228"/>
              </a:lnSpc>
            </a:pPr>
            <a:r>
              <a:rPr lang="en-US" sz="10877" b="true">
                <a:solidFill>
                  <a:srgbClr val="CAED69"/>
                </a:solidFill>
                <a:latin typeface="Unbounded Bold"/>
                <a:ea typeface="Unbounded Bold"/>
                <a:cs typeface="Unbounded Bold"/>
                <a:sym typeface="Unbounded Bold"/>
              </a:rPr>
              <a:t>10K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515798" y="370100"/>
            <a:ext cx="3472449" cy="6893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81"/>
              </a:lnSpc>
            </a:pPr>
            <a:r>
              <a:rPr lang="en-US" sz="3986" b="true">
                <a:solidFill>
                  <a:srgbClr val="CAED69"/>
                </a:solidFill>
                <a:latin typeface="Unbounded Bold"/>
                <a:ea typeface="Unbounded Bold"/>
                <a:cs typeface="Unbounded Bold"/>
                <a:sym typeface="Unbounded Bold"/>
              </a:rPr>
              <a:t>10K </a:t>
            </a:r>
            <a:r>
              <a:rPr lang="en-US" sz="3986" b="true">
                <a:solidFill>
                  <a:srgbClr val="FFFFFF"/>
                </a:solidFill>
                <a:latin typeface="Unbounded Bold"/>
                <a:ea typeface="Unbounded Bold"/>
                <a:cs typeface="Unbounded Bold"/>
                <a:sym typeface="Unbounded Bold"/>
              </a:rPr>
              <a:t>y</a:t>
            </a:r>
            <a:r>
              <a:rPr lang="en-US" sz="3986" b="true">
                <a:solidFill>
                  <a:srgbClr val="CAED69"/>
                </a:solidFill>
                <a:latin typeface="Unbounded Bold"/>
                <a:ea typeface="Unbounded Bold"/>
                <a:cs typeface="Unbounded Bold"/>
                <a:sym typeface="Unbounded Bold"/>
              </a:rPr>
              <a:t> </a:t>
            </a:r>
            <a:r>
              <a:rPr lang="en-US" sz="3986" b="true">
                <a:solidFill>
                  <a:srgbClr val="2DA7B1"/>
                </a:solidFill>
                <a:latin typeface="Unbounded Bold"/>
                <a:ea typeface="Unbounded Bold"/>
                <a:cs typeface="Unbounded Bold"/>
                <a:sym typeface="Unbounded Bold"/>
              </a:rPr>
              <a:t>21K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3900678" y="2257974"/>
            <a:ext cx="4709154" cy="2740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29"/>
              </a:lnSpc>
            </a:pPr>
            <a:r>
              <a:rPr lang="en-US" sz="1968" b="true">
                <a:solidFill>
                  <a:srgbClr val="CAED69"/>
                </a:solidFill>
                <a:latin typeface="Poppins Bold"/>
                <a:ea typeface="Poppins Bold"/>
                <a:cs typeface="Poppins Bold"/>
                <a:sym typeface="Poppins Bold"/>
              </a:rPr>
              <a:t>EL DESAFIO PERFECTO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4609196" y="3965338"/>
            <a:ext cx="4709154" cy="2740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29"/>
              </a:lnSpc>
            </a:pPr>
            <a:r>
              <a:rPr lang="en-US" sz="1968" b="true">
                <a:solidFill>
                  <a:srgbClr val="CAED69"/>
                </a:solidFill>
                <a:latin typeface="Poppins Bold"/>
                <a:ea typeface="Poppins Bold"/>
                <a:cs typeface="Poppins Bold"/>
                <a:sym typeface="Poppins Bold"/>
              </a:rPr>
              <a:t>CARACTERÍSTICAS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668795" y="3249524"/>
            <a:ext cx="6135205" cy="4125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14"/>
              </a:lnSpc>
            </a:pPr>
            <a:r>
              <a:rPr lang="en-US" sz="1594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Trayecto costero para quienes buscan avanzar desde distancias cortas y correr con ritmo controlado.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668795" y="5355404"/>
            <a:ext cx="3072264" cy="18995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228"/>
              </a:lnSpc>
            </a:pPr>
            <a:r>
              <a:rPr lang="en-US" sz="10877" b="true">
                <a:solidFill>
                  <a:srgbClr val="2DA7B1"/>
                </a:solidFill>
                <a:latin typeface="Unbounded Bold"/>
                <a:ea typeface="Unbounded Bold"/>
                <a:cs typeface="Unbounded Bold"/>
                <a:sym typeface="Unbounded Bold"/>
              </a:rPr>
              <a:t>21K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3900678" y="6044298"/>
            <a:ext cx="4709154" cy="2740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29"/>
              </a:lnSpc>
            </a:pPr>
            <a:r>
              <a:rPr lang="en-US" sz="1968" b="true">
                <a:solidFill>
                  <a:srgbClr val="2DA7B1"/>
                </a:solidFill>
                <a:latin typeface="Poppins Bold"/>
                <a:ea typeface="Poppins Bold"/>
                <a:cs typeface="Poppins Bold"/>
                <a:sym typeface="Poppins Bold"/>
              </a:rPr>
              <a:t>MEDIA MARATÓN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668795" y="4148613"/>
            <a:ext cx="4709154" cy="1081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54"/>
              </a:lnSpc>
            </a:pPr>
            <a:r>
              <a:rPr lang="en-US" sz="794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APROXIMADAMENTE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4609196" y="4343024"/>
            <a:ext cx="2354577" cy="3046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257870" indent="-128935" lvl="1">
              <a:lnSpc>
                <a:spcPts val="1134"/>
              </a:lnSpc>
              <a:buFont typeface="Arial"/>
              <a:buChar char="•"/>
            </a:pPr>
            <a:r>
              <a:rPr lang="en-US" b="true" sz="1194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Cronometraje electrónico y clasificación oficial</a:t>
            </a:r>
          </a:p>
        </p:txBody>
      </p:sp>
      <p:sp>
        <p:nvSpPr>
          <p:cNvPr name="AutoShape 22" id="22"/>
          <p:cNvSpPr/>
          <p:nvPr/>
        </p:nvSpPr>
        <p:spPr>
          <a:xfrm flipV="true">
            <a:off x="4425380" y="3925561"/>
            <a:ext cx="0" cy="1163143"/>
          </a:xfrm>
          <a:prstGeom prst="line">
            <a:avLst/>
          </a:prstGeom>
          <a:ln cap="rnd" w="19050">
            <a:solidFill>
              <a:srgbClr val="CAED69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23" id="23"/>
          <p:cNvSpPr txBox="true"/>
          <p:nvPr/>
        </p:nvSpPr>
        <p:spPr>
          <a:xfrm rot="0">
            <a:off x="3023372" y="8201975"/>
            <a:ext cx="4709154" cy="5122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29"/>
              </a:lnSpc>
            </a:pPr>
            <a:r>
              <a:rPr lang="en-US" sz="1968" b="true">
                <a:solidFill>
                  <a:srgbClr val="2DA7B1"/>
                </a:solidFill>
                <a:latin typeface="Poppins Bold"/>
                <a:ea typeface="Poppins Bold"/>
                <a:cs typeface="Poppins Bold"/>
                <a:sym typeface="Poppins Bold"/>
              </a:rPr>
              <a:t>SALIDA </a:t>
            </a:r>
          </a:p>
          <a:p>
            <a:pPr algn="l">
              <a:lnSpc>
                <a:spcPts val="1929"/>
              </a:lnSpc>
            </a:pPr>
            <a:r>
              <a:rPr lang="en-US" sz="1968" b="true">
                <a:solidFill>
                  <a:srgbClr val="2DA7B1"/>
                </a:solidFill>
                <a:latin typeface="Poppins Bold"/>
                <a:ea typeface="Poppins Bold"/>
                <a:cs typeface="Poppins Bold"/>
                <a:sym typeface="Poppins Bold"/>
              </a:rPr>
              <a:t>OFICIAL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3023372" y="8760726"/>
            <a:ext cx="4709154" cy="2506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99"/>
              </a:lnSpc>
            </a:pPr>
            <a:r>
              <a:rPr lang="en-US" sz="1894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5:30 A.M.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4449423" y="8235019"/>
            <a:ext cx="4709154" cy="2740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29"/>
              </a:lnSpc>
            </a:pPr>
            <a:r>
              <a:rPr lang="en-US" sz="1968" b="true">
                <a:solidFill>
                  <a:srgbClr val="2DA7B1"/>
                </a:solidFill>
                <a:latin typeface="Poppins Bold"/>
                <a:ea typeface="Poppins Bold"/>
                <a:cs typeface="Poppins Bold"/>
                <a:sym typeface="Poppins Bold"/>
              </a:rPr>
              <a:t>CARACTERÍSTICAS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4449423" y="8613874"/>
            <a:ext cx="2354577" cy="4474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257870" indent="-128935" lvl="1">
              <a:lnSpc>
                <a:spcPts val="1134"/>
              </a:lnSpc>
              <a:buFont typeface="Arial"/>
              <a:buChar char="•"/>
            </a:pPr>
            <a:r>
              <a:rPr lang="en-US" b="true" sz="1194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Distancia certificada internacionalmente por World Athletics y AIMS.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645504" y="7302548"/>
            <a:ext cx="6135205" cy="4125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14"/>
              </a:lnSpc>
            </a:pPr>
            <a:r>
              <a:rPr lang="en-US" sz="1594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Medio Maratón oficial: 21,0975 km.</a:t>
            </a:r>
          </a:p>
          <a:p>
            <a:pPr algn="l">
              <a:lnSpc>
                <a:spcPts val="1514"/>
              </a:lnSpc>
            </a:pPr>
            <a:r>
              <a:rPr lang="en-US" sz="1594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Recorrido de ida y regreso junto al paisaje de San Andrés.</a:t>
            </a:r>
          </a:p>
        </p:txBody>
      </p:sp>
      <p:sp>
        <p:nvSpPr>
          <p:cNvPr name="AutoShape 28" id="28"/>
          <p:cNvSpPr/>
          <p:nvPr/>
        </p:nvSpPr>
        <p:spPr>
          <a:xfrm flipV="true">
            <a:off x="4325352" y="8215969"/>
            <a:ext cx="0" cy="1389678"/>
          </a:xfrm>
          <a:prstGeom prst="line">
            <a:avLst/>
          </a:prstGeom>
          <a:ln cap="rnd" w="19050">
            <a:solidFill>
              <a:srgbClr val="2DA7B1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29" id="29"/>
          <p:cNvSpPr txBox="true"/>
          <p:nvPr/>
        </p:nvSpPr>
        <p:spPr>
          <a:xfrm rot="0">
            <a:off x="3900678" y="6385054"/>
            <a:ext cx="4709154" cy="4570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04"/>
              </a:lnSpc>
            </a:pPr>
            <a:r>
              <a:rPr lang="en-US" sz="1794" b="true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UN RETO CON</a:t>
            </a:r>
          </a:p>
          <a:p>
            <a:pPr algn="l">
              <a:lnSpc>
                <a:spcPts val="1704"/>
              </a:lnSpc>
            </a:pPr>
            <a:r>
              <a:rPr lang="en-US" sz="1794" b="true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VISTAS AL PARAÍSO.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E5C9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7560000" cy="10684322"/>
          </a:xfrm>
          <a:custGeom>
            <a:avLst/>
            <a:gdLst/>
            <a:ahLst/>
            <a:cxnLst/>
            <a:rect r="r" b="b" t="t" l="l"/>
            <a:pathLst>
              <a:path h="10684322" w="7560000">
                <a:moveTo>
                  <a:pt x="0" y="0"/>
                </a:moveTo>
                <a:lnTo>
                  <a:pt x="7560000" y="0"/>
                </a:lnTo>
                <a:lnTo>
                  <a:pt x="7560000" y="10684322"/>
                </a:lnTo>
                <a:lnTo>
                  <a:pt x="0" y="1068432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668795" y="4358679"/>
            <a:ext cx="4709154" cy="2740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29"/>
              </a:lnSpc>
            </a:pPr>
            <a:r>
              <a:rPr lang="en-US" sz="1968" b="true">
                <a:solidFill>
                  <a:srgbClr val="CAED69"/>
                </a:solidFill>
                <a:latin typeface="Poppins Bold"/>
                <a:ea typeface="Poppins Bold"/>
                <a:cs typeface="Poppins Bold"/>
                <a:sym typeface="Poppins Bold"/>
              </a:rPr>
              <a:t>RECORRIDO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692086" y="4697330"/>
            <a:ext cx="4709154" cy="2442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09"/>
              </a:lnSpc>
            </a:pPr>
            <a:r>
              <a:rPr lang="en-US" sz="1694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≈ 32 KM</a:t>
            </a:r>
          </a:p>
        </p:txBody>
      </p:sp>
      <p:sp>
        <p:nvSpPr>
          <p:cNvPr name="AutoShape 5" id="5"/>
          <p:cNvSpPr/>
          <p:nvPr/>
        </p:nvSpPr>
        <p:spPr>
          <a:xfrm flipV="true">
            <a:off x="2893735" y="4325012"/>
            <a:ext cx="0" cy="970911"/>
          </a:xfrm>
          <a:prstGeom prst="line">
            <a:avLst/>
          </a:prstGeom>
          <a:ln cap="rnd" w="19050">
            <a:solidFill>
              <a:srgbClr val="CAED69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6" id="6"/>
          <p:cNvSpPr txBox="true"/>
          <p:nvPr/>
        </p:nvSpPr>
        <p:spPr>
          <a:xfrm rot="0">
            <a:off x="3046663" y="4386181"/>
            <a:ext cx="4709154" cy="5122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29"/>
              </a:lnSpc>
            </a:pPr>
            <a:r>
              <a:rPr lang="en-US" sz="1968" b="true">
                <a:solidFill>
                  <a:srgbClr val="CAED69"/>
                </a:solidFill>
                <a:latin typeface="Poppins Bold"/>
                <a:ea typeface="Poppins Bold"/>
                <a:cs typeface="Poppins Bold"/>
                <a:sym typeface="Poppins Bold"/>
              </a:rPr>
              <a:t>SALIDA </a:t>
            </a:r>
          </a:p>
          <a:p>
            <a:pPr algn="l">
              <a:lnSpc>
                <a:spcPts val="1929"/>
              </a:lnSpc>
            </a:pPr>
            <a:r>
              <a:rPr lang="en-US" sz="1968" b="true">
                <a:solidFill>
                  <a:srgbClr val="CAED69"/>
                </a:solidFill>
                <a:latin typeface="Poppins Bold"/>
                <a:ea typeface="Poppins Bold"/>
                <a:cs typeface="Poppins Bold"/>
                <a:sym typeface="Poppins Bold"/>
              </a:rPr>
              <a:t>OFICIAL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3046663" y="4913836"/>
            <a:ext cx="4709154" cy="2506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99"/>
              </a:lnSpc>
            </a:pPr>
            <a:r>
              <a:rPr lang="en-US" sz="1894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4:40 A.M.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668795" y="8153270"/>
            <a:ext cx="4709154" cy="2740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29"/>
              </a:lnSpc>
            </a:pPr>
            <a:r>
              <a:rPr lang="en-US" sz="1968" b="true">
                <a:solidFill>
                  <a:srgbClr val="2DA7B1"/>
                </a:solidFill>
                <a:latin typeface="Poppins Bold"/>
                <a:ea typeface="Poppins Bold"/>
                <a:cs typeface="Poppins Bold"/>
                <a:sym typeface="Poppins Bold"/>
              </a:rPr>
              <a:t>RECORRIDO</a:t>
            </a:r>
          </a:p>
        </p:txBody>
      </p:sp>
      <p:sp>
        <p:nvSpPr>
          <p:cNvPr name="AutoShape 9" id="9"/>
          <p:cNvSpPr/>
          <p:nvPr/>
        </p:nvSpPr>
        <p:spPr>
          <a:xfrm flipH="true" flipV="true">
            <a:off x="2870445" y="8182925"/>
            <a:ext cx="0" cy="1188303"/>
          </a:xfrm>
          <a:prstGeom prst="line">
            <a:avLst/>
          </a:prstGeom>
          <a:ln cap="rnd" w="19050">
            <a:solidFill>
              <a:srgbClr val="2DA7B1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0" id="10"/>
          <p:cNvSpPr txBox="true"/>
          <p:nvPr/>
        </p:nvSpPr>
        <p:spPr>
          <a:xfrm rot="0">
            <a:off x="329244" y="1330955"/>
            <a:ext cx="3513605" cy="18995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228"/>
              </a:lnSpc>
            </a:pPr>
            <a:r>
              <a:rPr lang="en-US" sz="10877" b="true">
                <a:solidFill>
                  <a:srgbClr val="CAED69"/>
                </a:solidFill>
                <a:latin typeface="Unbounded Bold"/>
                <a:ea typeface="Unbounded Bold"/>
                <a:cs typeface="Unbounded Bold"/>
                <a:sym typeface="Unbounded Bold"/>
              </a:rPr>
              <a:t>32K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515798" y="370100"/>
            <a:ext cx="3416297" cy="6893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81"/>
              </a:lnSpc>
            </a:pPr>
            <a:r>
              <a:rPr lang="en-US" sz="3986" b="true">
                <a:solidFill>
                  <a:srgbClr val="CAED69"/>
                </a:solidFill>
                <a:latin typeface="Unbounded Bold"/>
                <a:ea typeface="Unbounded Bold"/>
                <a:cs typeface="Unbounded Bold"/>
                <a:sym typeface="Unbounded Bold"/>
              </a:rPr>
              <a:t>32K </a:t>
            </a:r>
            <a:r>
              <a:rPr lang="en-US" sz="3986" b="true">
                <a:solidFill>
                  <a:srgbClr val="FFFFFF"/>
                </a:solidFill>
                <a:latin typeface="Unbounded Bold"/>
                <a:ea typeface="Unbounded Bold"/>
                <a:cs typeface="Unbounded Bold"/>
                <a:sym typeface="Unbounded Bold"/>
              </a:rPr>
              <a:t>y</a:t>
            </a:r>
            <a:r>
              <a:rPr lang="en-US" sz="3986" b="true">
                <a:solidFill>
                  <a:srgbClr val="CAED69"/>
                </a:solidFill>
                <a:latin typeface="Unbounded Bold"/>
                <a:ea typeface="Unbounded Bold"/>
                <a:cs typeface="Unbounded Bold"/>
                <a:sym typeface="Unbounded Bold"/>
              </a:rPr>
              <a:t> </a:t>
            </a:r>
            <a:r>
              <a:rPr lang="en-US" sz="3986" b="true">
                <a:solidFill>
                  <a:srgbClr val="2DA7B1"/>
                </a:solidFill>
                <a:latin typeface="Unbounded Bold"/>
                <a:ea typeface="Unbounded Bold"/>
                <a:cs typeface="Unbounded Bold"/>
                <a:sym typeface="Unbounded Bold"/>
              </a:rPr>
              <a:t>42K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4067276" y="2194572"/>
            <a:ext cx="4709154" cy="2740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29"/>
              </a:lnSpc>
            </a:pPr>
            <a:r>
              <a:rPr lang="en-US" sz="1968" b="true">
                <a:solidFill>
                  <a:srgbClr val="CAED69"/>
                </a:solidFill>
                <a:latin typeface="Poppins Bold"/>
                <a:ea typeface="Poppins Bold"/>
                <a:cs typeface="Poppins Bold"/>
                <a:sym typeface="Poppins Bold"/>
              </a:rPr>
              <a:t>NUEVA DISTANCIA 2026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4067276" y="2487702"/>
            <a:ext cx="4709154" cy="4570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04"/>
              </a:lnSpc>
            </a:pPr>
            <a:r>
              <a:rPr lang="en-US" sz="1794" b="true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LA ESCALA PERFECTA PARA</a:t>
            </a:r>
          </a:p>
          <a:p>
            <a:pPr algn="l">
              <a:lnSpc>
                <a:spcPts val="1704"/>
              </a:lnSpc>
            </a:pPr>
            <a:r>
              <a:rPr lang="en-US" sz="1794" b="true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LA MARATÓN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4632487" y="4364788"/>
            <a:ext cx="4709154" cy="2740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29"/>
              </a:lnSpc>
            </a:pPr>
            <a:r>
              <a:rPr lang="en-US" sz="1968" b="true">
                <a:solidFill>
                  <a:srgbClr val="CAED69"/>
                </a:solidFill>
                <a:latin typeface="Poppins Bold"/>
                <a:ea typeface="Poppins Bold"/>
                <a:cs typeface="Poppins Bold"/>
                <a:sym typeface="Poppins Bold"/>
              </a:rPr>
              <a:t>CATEGORÍA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668795" y="3150440"/>
            <a:ext cx="6135205" cy="9840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14"/>
              </a:lnSpc>
            </a:pPr>
            <a:r>
              <a:rPr lang="en-US" sz="1594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Recorrido aproximado por el perímetro de la isla de San Andrés, en sentido horario, por sus vías costeras.</a:t>
            </a:r>
          </a:p>
          <a:p>
            <a:pPr algn="l">
              <a:lnSpc>
                <a:spcPts val="1514"/>
              </a:lnSpc>
            </a:pPr>
          </a:p>
          <a:p>
            <a:pPr algn="l">
              <a:lnSpc>
                <a:spcPts val="1514"/>
              </a:lnSpc>
            </a:pPr>
            <a:r>
              <a:rPr lang="en-US" sz="1594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Una distancia para quienes buscan un reto superior al 21K antes de enfrentarse a la maratón.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329244" y="5355404"/>
            <a:ext cx="4154793" cy="18995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228"/>
              </a:lnSpc>
            </a:pPr>
            <a:r>
              <a:rPr lang="en-US" sz="10877" b="true">
                <a:solidFill>
                  <a:srgbClr val="2DA7B1"/>
                </a:solidFill>
                <a:latin typeface="Unbounded Bold"/>
                <a:ea typeface="Unbounded Bold"/>
                <a:cs typeface="Unbounded Bold"/>
                <a:sym typeface="Unbounded Bold"/>
              </a:rPr>
              <a:t>42K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4067276" y="6152346"/>
            <a:ext cx="4709154" cy="2740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29"/>
              </a:lnSpc>
            </a:pPr>
            <a:r>
              <a:rPr lang="en-US" sz="1968" b="true">
                <a:solidFill>
                  <a:srgbClr val="2DA7B1"/>
                </a:solidFill>
                <a:latin typeface="Poppins Bold"/>
                <a:ea typeface="Poppins Bold"/>
                <a:cs typeface="Poppins Bold"/>
                <a:sym typeface="Poppins Bold"/>
              </a:rPr>
              <a:t>MARATÓN COMPLETA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4067276" y="6493102"/>
            <a:ext cx="4709154" cy="4570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04"/>
              </a:lnSpc>
            </a:pPr>
            <a:r>
              <a:rPr lang="en-US" sz="1794" b="true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CORRE PARA HACER </a:t>
            </a:r>
          </a:p>
          <a:p>
            <a:pPr algn="l">
              <a:lnSpc>
                <a:spcPts val="1704"/>
              </a:lnSpc>
            </a:pPr>
            <a:r>
              <a:rPr lang="en-US" sz="1794" b="true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HISTORIA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668795" y="8494026"/>
            <a:ext cx="4709154" cy="4258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49"/>
              </a:lnSpc>
            </a:pPr>
            <a:r>
              <a:rPr lang="en-US" sz="894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= 32 KM DEL PERÍMETRO </a:t>
            </a:r>
          </a:p>
          <a:p>
            <a:pPr algn="l">
              <a:lnSpc>
                <a:spcPts val="849"/>
              </a:lnSpc>
            </a:pPr>
            <a:r>
              <a:rPr lang="en-US" sz="894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DE LA ISLA + 5 KM IDA</a:t>
            </a:r>
          </a:p>
          <a:p>
            <a:pPr algn="l">
              <a:lnSpc>
                <a:spcPts val="849"/>
              </a:lnSpc>
            </a:pPr>
            <a:r>
              <a:rPr lang="en-US" sz="894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+ 5 KM regreso.</a:t>
            </a:r>
          </a:p>
          <a:p>
            <a:pPr algn="l">
              <a:lnSpc>
                <a:spcPts val="849"/>
              </a:lnSpc>
            </a:pPr>
          </a:p>
        </p:txBody>
      </p:sp>
      <p:sp>
        <p:nvSpPr>
          <p:cNvPr name="TextBox 20" id="20"/>
          <p:cNvSpPr txBox="true"/>
          <p:nvPr/>
        </p:nvSpPr>
        <p:spPr>
          <a:xfrm rot="0">
            <a:off x="692086" y="4951529"/>
            <a:ext cx="1955518" cy="2175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49"/>
              </a:lnSpc>
            </a:pPr>
            <a:r>
              <a:rPr lang="en-US" sz="894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VUELTA COMPLETA AL PERIMETRO DE</a:t>
            </a:r>
          </a:p>
          <a:p>
            <a:pPr algn="l">
              <a:lnSpc>
                <a:spcPts val="849"/>
              </a:lnSpc>
            </a:pPr>
            <a:r>
              <a:rPr lang="en-US" sz="894">
                <a:solidFill>
                  <a:srgbClr val="FFFFFF"/>
                </a:solidFill>
                <a:latin typeface="Poppins Light"/>
                <a:ea typeface="Poppins Light"/>
                <a:cs typeface="Poppins Light"/>
                <a:sym typeface="Poppins Light"/>
              </a:rPr>
              <a:t>SAN ANDRÉS.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4632487" y="4979452"/>
            <a:ext cx="2354577" cy="1617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34"/>
              </a:lnSpc>
            </a:pPr>
            <a:r>
              <a:rPr lang="en-US" sz="1194" b="true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Hombres · Mujeres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3023372" y="8201975"/>
            <a:ext cx="4709154" cy="5122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29"/>
              </a:lnSpc>
            </a:pPr>
            <a:r>
              <a:rPr lang="en-US" sz="1968" b="true">
                <a:solidFill>
                  <a:srgbClr val="2DA7B1"/>
                </a:solidFill>
                <a:latin typeface="Poppins Bold"/>
                <a:ea typeface="Poppins Bold"/>
                <a:cs typeface="Poppins Bold"/>
                <a:sym typeface="Poppins Bold"/>
              </a:rPr>
              <a:t>SALIDA </a:t>
            </a:r>
          </a:p>
          <a:p>
            <a:pPr algn="l">
              <a:lnSpc>
                <a:spcPts val="1929"/>
              </a:lnSpc>
            </a:pPr>
            <a:r>
              <a:rPr lang="en-US" sz="1968" b="true">
                <a:solidFill>
                  <a:srgbClr val="2DA7B1"/>
                </a:solidFill>
                <a:latin typeface="Poppins Bold"/>
                <a:ea typeface="Poppins Bold"/>
                <a:cs typeface="Poppins Bold"/>
                <a:sym typeface="Poppins Bold"/>
              </a:rPr>
              <a:t>OFICIAL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3023372" y="8760726"/>
            <a:ext cx="4709154" cy="2506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99"/>
              </a:lnSpc>
            </a:pPr>
            <a:r>
              <a:rPr lang="en-US" sz="1894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4:30 A.M.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4449423" y="8235019"/>
            <a:ext cx="4709154" cy="2740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29"/>
              </a:lnSpc>
            </a:pPr>
            <a:r>
              <a:rPr lang="en-US" sz="1968" b="true">
                <a:solidFill>
                  <a:srgbClr val="2DA7B1"/>
                </a:solidFill>
                <a:latin typeface="Poppins Bold"/>
                <a:ea typeface="Poppins Bold"/>
                <a:cs typeface="Poppins Bold"/>
                <a:sym typeface="Poppins Bold"/>
              </a:rPr>
              <a:t>CERTIFICACIÓN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4484037" y="8594824"/>
            <a:ext cx="2354577" cy="4474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34"/>
              </a:lnSpc>
            </a:pPr>
            <a:r>
              <a:rPr lang="en-US" sz="1194" b="true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Maratón certificada internacionalmente por </a:t>
            </a:r>
            <a:r>
              <a:rPr lang="en-US" sz="1194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World Athletics y AIMS.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645504" y="7302548"/>
            <a:ext cx="6135205" cy="6030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14"/>
              </a:lnSpc>
            </a:pPr>
            <a:r>
              <a:rPr lang="en-US" sz="1594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El recorrido completa primero el circuito perimetral de aproximadamente 32 km y continúa con un tramo adicional de ida y regreso para completar la distancia oficial.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4632487" y="4690980"/>
            <a:ext cx="4709154" cy="2506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99"/>
              </a:lnSpc>
            </a:pPr>
            <a:r>
              <a:rPr lang="en-US" sz="1894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MAYORES · 16 - 39</a:t>
            </a:r>
          </a:p>
        </p:txBody>
      </p:sp>
      <p:sp>
        <p:nvSpPr>
          <p:cNvPr name="AutoShape 28" id="28"/>
          <p:cNvSpPr/>
          <p:nvPr/>
        </p:nvSpPr>
        <p:spPr>
          <a:xfrm flipV="true">
            <a:off x="4420942" y="4325012"/>
            <a:ext cx="0" cy="970911"/>
          </a:xfrm>
          <a:prstGeom prst="line">
            <a:avLst/>
          </a:prstGeom>
          <a:ln cap="rnd" w="19050">
            <a:solidFill>
              <a:srgbClr val="CAED69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29" id="29"/>
          <p:cNvSpPr txBox="true"/>
          <p:nvPr/>
        </p:nvSpPr>
        <p:spPr>
          <a:xfrm rot="0">
            <a:off x="645504" y="8881287"/>
            <a:ext cx="4709154" cy="1490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39"/>
              </a:lnSpc>
            </a:pPr>
            <a:r>
              <a:rPr lang="en-US" sz="1094" b="true">
                <a:solidFill>
                  <a:srgbClr val="2DA7B1"/>
                </a:solidFill>
                <a:latin typeface="Poppins Bold"/>
                <a:ea typeface="Poppins Bold"/>
                <a:cs typeface="Poppins Bold"/>
                <a:sym typeface="Poppins Bold"/>
              </a:rPr>
              <a:t>Total oficial: 42, 195km</a:t>
            </a:r>
          </a:p>
        </p:txBody>
      </p:sp>
      <p:sp>
        <p:nvSpPr>
          <p:cNvPr name="AutoShape 30" id="30"/>
          <p:cNvSpPr/>
          <p:nvPr/>
        </p:nvSpPr>
        <p:spPr>
          <a:xfrm flipH="true" flipV="true">
            <a:off x="4270159" y="8215969"/>
            <a:ext cx="0" cy="1188303"/>
          </a:xfrm>
          <a:prstGeom prst="line">
            <a:avLst/>
          </a:prstGeom>
          <a:ln cap="rnd" w="19050">
            <a:solidFill>
              <a:srgbClr val="2DA7B1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E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7560000" cy="10684322"/>
          </a:xfrm>
          <a:custGeom>
            <a:avLst/>
            <a:gdLst/>
            <a:ahLst/>
            <a:cxnLst/>
            <a:rect r="r" b="b" t="t" l="l"/>
            <a:pathLst>
              <a:path h="10684322" w="7560000">
                <a:moveTo>
                  <a:pt x="0" y="0"/>
                </a:moveTo>
                <a:lnTo>
                  <a:pt x="7560000" y="0"/>
                </a:lnTo>
                <a:lnTo>
                  <a:pt x="7560000" y="10684322"/>
                </a:lnTo>
                <a:lnTo>
                  <a:pt x="0" y="1068432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954382" y="8634059"/>
            <a:ext cx="9468765" cy="3028865"/>
            <a:chOff x="0" y="0"/>
            <a:chExt cx="4060301" cy="129880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060301" cy="1298808"/>
            </a:xfrm>
            <a:custGeom>
              <a:avLst/>
              <a:gdLst/>
              <a:ahLst/>
              <a:cxnLst/>
              <a:rect r="r" b="b" t="t" l="l"/>
              <a:pathLst>
                <a:path h="1298808" w="4060301">
                  <a:moveTo>
                    <a:pt x="30252" y="0"/>
                  </a:moveTo>
                  <a:lnTo>
                    <a:pt x="4030049" y="0"/>
                  </a:lnTo>
                  <a:cubicBezTo>
                    <a:pt x="4046757" y="0"/>
                    <a:pt x="4060301" y="13544"/>
                    <a:pt x="4060301" y="30252"/>
                  </a:cubicBezTo>
                  <a:lnTo>
                    <a:pt x="4060301" y="1268555"/>
                  </a:lnTo>
                  <a:cubicBezTo>
                    <a:pt x="4060301" y="1276579"/>
                    <a:pt x="4057114" y="1284274"/>
                    <a:pt x="4051441" y="1289947"/>
                  </a:cubicBezTo>
                  <a:cubicBezTo>
                    <a:pt x="4045767" y="1295620"/>
                    <a:pt x="4038073" y="1298808"/>
                    <a:pt x="4030049" y="1298808"/>
                  </a:cubicBezTo>
                  <a:lnTo>
                    <a:pt x="30252" y="1298808"/>
                  </a:lnTo>
                  <a:cubicBezTo>
                    <a:pt x="13544" y="1298808"/>
                    <a:pt x="0" y="1285263"/>
                    <a:pt x="0" y="1268555"/>
                  </a:cubicBezTo>
                  <a:lnTo>
                    <a:pt x="0" y="30252"/>
                  </a:lnTo>
                  <a:cubicBezTo>
                    <a:pt x="0" y="13544"/>
                    <a:pt x="13544" y="0"/>
                    <a:pt x="30252" y="0"/>
                  </a:cubicBezTo>
                  <a:close/>
                </a:path>
              </a:pathLst>
            </a:custGeom>
            <a:solidFill>
              <a:srgbClr val="1E5C96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19050"/>
              <a:ext cx="4060301" cy="12797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134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2469303" y="8834084"/>
            <a:ext cx="2548800" cy="414579"/>
            <a:chOff x="0" y="0"/>
            <a:chExt cx="823678" cy="133976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23678" cy="133976"/>
            </a:xfrm>
            <a:custGeom>
              <a:avLst/>
              <a:gdLst/>
              <a:ahLst/>
              <a:cxnLst/>
              <a:rect r="r" b="b" t="t" l="l"/>
              <a:pathLst>
                <a:path h="133976" w="823678">
                  <a:moveTo>
                    <a:pt x="48600" y="0"/>
                  </a:moveTo>
                  <a:lnTo>
                    <a:pt x="775078" y="0"/>
                  </a:lnTo>
                  <a:cubicBezTo>
                    <a:pt x="787968" y="0"/>
                    <a:pt x="800329" y="5120"/>
                    <a:pt x="809443" y="14234"/>
                  </a:cubicBezTo>
                  <a:cubicBezTo>
                    <a:pt x="818557" y="23349"/>
                    <a:pt x="823678" y="35710"/>
                    <a:pt x="823678" y="48600"/>
                  </a:cubicBezTo>
                  <a:lnTo>
                    <a:pt x="823678" y="85377"/>
                  </a:lnTo>
                  <a:cubicBezTo>
                    <a:pt x="823678" y="112218"/>
                    <a:pt x="801919" y="133976"/>
                    <a:pt x="775078" y="133976"/>
                  </a:cubicBezTo>
                  <a:lnTo>
                    <a:pt x="48600" y="133976"/>
                  </a:lnTo>
                  <a:cubicBezTo>
                    <a:pt x="21759" y="133976"/>
                    <a:pt x="0" y="112218"/>
                    <a:pt x="0" y="85377"/>
                  </a:cubicBezTo>
                  <a:lnTo>
                    <a:pt x="0" y="48600"/>
                  </a:lnTo>
                  <a:cubicBezTo>
                    <a:pt x="0" y="21759"/>
                    <a:pt x="21759" y="0"/>
                    <a:pt x="48600" y="0"/>
                  </a:cubicBezTo>
                  <a:close/>
                </a:path>
              </a:pathLst>
            </a:custGeom>
            <a:solidFill>
              <a:srgbClr val="CAED69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19050"/>
              <a:ext cx="823678" cy="11492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134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-514879">
            <a:off x="327013" y="9103967"/>
            <a:ext cx="1119154" cy="1285994"/>
          </a:xfrm>
          <a:custGeom>
            <a:avLst/>
            <a:gdLst/>
            <a:ahLst/>
            <a:cxnLst/>
            <a:rect r="r" b="b" t="t" l="l"/>
            <a:pathLst>
              <a:path h="1285994" w="1119154">
                <a:moveTo>
                  <a:pt x="0" y="0"/>
                </a:moveTo>
                <a:lnTo>
                  <a:pt x="1119154" y="0"/>
                </a:lnTo>
                <a:lnTo>
                  <a:pt x="1119154" y="1285995"/>
                </a:lnTo>
                <a:lnTo>
                  <a:pt x="0" y="128599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2596" t="0" r="-10069" b="-6751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0">
            <a:off x="1660232" y="10062570"/>
            <a:ext cx="1963513" cy="308721"/>
            <a:chOff x="0" y="0"/>
            <a:chExt cx="703679" cy="110639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703679" cy="110639"/>
            </a:xfrm>
            <a:custGeom>
              <a:avLst/>
              <a:gdLst/>
              <a:ahLst/>
              <a:cxnLst/>
              <a:rect r="r" b="b" t="t" l="l"/>
              <a:pathLst>
                <a:path h="110639" w="703679">
                  <a:moveTo>
                    <a:pt x="27600" y="0"/>
                  </a:moveTo>
                  <a:lnTo>
                    <a:pt x="676078" y="0"/>
                  </a:lnTo>
                  <a:cubicBezTo>
                    <a:pt x="683398" y="0"/>
                    <a:pt x="690419" y="2908"/>
                    <a:pt x="695595" y="8084"/>
                  </a:cubicBezTo>
                  <a:cubicBezTo>
                    <a:pt x="700771" y="13260"/>
                    <a:pt x="703679" y="20280"/>
                    <a:pt x="703679" y="27600"/>
                  </a:cubicBezTo>
                  <a:lnTo>
                    <a:pt x="703679" y="83038"/>
                  </a:lnTo>
                  <a:cubicBezTo>
                    <a:pt x="703679" y="98281"/>
                    <a:pt x="691322" y="110639"/>
                    <a:pt x="676078" y="110639"/>
                  </a:cubicBezTo>
                  <a:lnTo>
                    <a:pt x="27600" y="110639"/>
                  </a:lnTo>
                  <a:cubicBezTo>
                    <a:pt x="20280" y="110639"/>
                    <a:pt x="13260" y="107731"/>
                    <a:pt x="8084" y="102555"/>
                  </a:cubicBezTo>
                  <a:cubicBezTo>
                    <a:pt x="2908" y="97379"/>
                    <a:pt x="0" y="90358"/>
                    <a:pt x="0" y="83038"/>
                  </a:cubicBezTo>
                  <a:lnTo>
                    <a:pt x="0" y="27600"/>
                  </a:lnTo>
                  <a:cubicBezTo>
                    <a:pt x="0" y="20280"/>
                    <a:pt x="2908" y="13260"/>
                    <a:pt x="8084" y="8084"/>
                  </a:cubicBezTo>
                  <a:cubicBezTo>
                    <a:pt x="13260" y="2908"/>
                    <a:pt x="20280" y="0"/>
                    <a:pt x="27600" y="0"/>
                  </a:cubicBezTo>
                  <a:close/>
                </a:path>
              </a:pathLst>
            </a:custGeom>
            <a:ln w="19050" cap="sq">
              <a:solidFill>
                <a:srgbClr val="2DA7B1"/>
              </a:solidFill>
              <a:prstDash val="solid"/>
              <a:miter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-28575"/>
              <a:ext cx="703679" cy="13921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287411" y="10145582"/>
            <a:ext cx="4709154" cy="1617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34"/>
              </a:lnSpc>
            </a:pPr>
            <a:r>
              <a:rPr lang="en-US" sz="1194" b="true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CERTIFICADO N.º </a:t>
            </a:r>
            <a:r>
              <a:rPr lang="en-US" sz="1194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067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3179070" y="10062570"/>
            <a:ext cx="4709154" cy="308721"/>
            <a:chOff x="0" y="0"/>
            <a:chExt cx="6278872" cy="411628"/>
          </a:xfrm>
        </p:grpSpPr>
        <p:grpSp>
          <p:nvGrpSpPr>
            <p:cNvPr name="Group 15" id="15"/>
            <p:cNvGrpSpPr/>
            <p:nvPr/>
          </p:nvGrpSpPr>
          <p:grpSpPr>
            <a:xfrm rot="0">
              <a:off x="1830428" y="0"/>
              <a:ext cx="2618017" cy="411628"/>
              <a:chOff x="0" y="0"/>
              <a:chExt cx="703679" cy="110639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0"/>
                <a:ext cx="703679" cy="110639"/>
              </a:xfrm>
              <a:custGeom>
                <a:avLst/>
                <a:gdLst/>
                <a:ahLst/>
                <a:cxnLst/>
                <a:rect r="r" b="b" t="t" l="l"/>
                <a:pathLst>
                  <a:path h="110639" w="703679">
                    <a:moveTo>
                      <a:pt x="27600" y="0"/>
                    </a:moveTo>
                    <a:lnTo>
                      <a:pt x="676078" y="0"/>
                    </a:lnTo>
                    <a:cubicBezTo>
                      <a:pt x="683398" y="0"/>
                      <a:pt x="690419" y="2908"/>
                      <a:pt x="695595" y="8084"/>
                    </a:cubicBezTo>
                    <a:cubicBezTo>
                      <a:pt x="700771" y="13260"/>
                      <a:pt x="703679" y="20280"/>
                      <a:pt x="703679" y="27600"/>
                    </a:cubicBezTo>
                    <a:lnTo>
                      <a:pt x="703679" y="83038"/>
                    </a:lnTo>
                    <a:cubicBezTo>
                      <a:pt x="703679" y="98281"/>
                      <a:pt x="691322" y="110639"/>
                      <a:pt x="676078" y="110639"/>
                    </a:cubicBezTo>
                    <a:lnTo>
                      <a:pt x="27600" y="110639"/>
                    </a:lnTo>
                    <a:cubicBezTo>
                      <a:pt x="20280" y="110639"/>
                      <a:pt x="13260" y="107731"/>
                      <a:pt x="8084" y="102555"/>
                    </a:cubicBezTo>
                    <a:cubicBezTo>
                      <a:pt x="2908" y="97379"/>
                      <a:pt x="0" y="90358"/>
                      <a:pt x="0" y="83038"/>
                    </a:cubicBezTo>
                    <a:lnTo>
                      <a:pt x="0" y="27600"/>
                    </a:lnTo>
                    <a:cubicBezTo>
                      <a:pt x="0" y="20280"/>
                      <a:pt x="2908" y="13260"/>
                      <a:pt x="8084" y="8084"/>
                    </a:cubicBezTo>
                    <a:cubicBezTo>
                      <a:pt x="13260" y="2908"/>
                      <a:pt x="20280" y="0"/>
                      <a:pt x="27600" y="0"/>
                    </a:cubicBezTo>
                    <a:close/>
                  </a:path>
                </a:pathLst>
              </a:custGeom>
              <a:ln w="19050" cap="sq">
                <a:solidFill>
                  <a:srgbClr val="2DA7B1"/>
                </a:solidFill>
                <a:prstDash val="solid"/>
                <a:miter/>
              </a:ln>
            </p:spPr>
          </p:sp>
          <p:sp>
            <p:nvSpPr>
              <p:cNvPr name="TextBox 17" id="17"/>
              <p:cNvSpPr txBox="true"/>
              <p:nvPr/>
            </p:nvSpPr>
            <p:spPr>
              <a:xfrm>
                <a:off x="0" y="-28575"/>
                <a:ext cx="703679" cy="139214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960"/>
                  </a:lnSpc>
                </a:pPr>
              </a:p>
            </p:txBody>
          </p:sp>
        </p:grpSp>
        <p:sp>
          <p:nvSpPr>
            <p:cNvPr name="TextBox 18" id="18"/>
            <p:cNvSpPr txBox="true"/>
            <p:nvPr/>
          </p:nvSpPr>
          <p:spPr>
            <a:xfrm rot="0">
              <a:off x="0" y="104332"/>
              <a:ext cx="6278872" cy="22201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134"/>
                </a:lnSpc>
              </a:pPr>
              <a:r>
                <a:rPr lang="en-US" sz="1194" b="true">
                  <a:solidFill>
                    <a:srgbClr val="FFFFFF"/>
                  </a:solidFill>
                  <a:latin typeface="Poppins Medium"/>
                  <a:ea typeface="Poppins Medium"/>
                  <a:cs typeface="Poppins Medium"/>
                  <a:sym typeface="Poppins Medium"/>
                </a:rPr>
                <a:t>CERTIFICADO N.º </a:t>
              </a:r>
              <a:r>
                <a:rPr lang="en-US" sz="1194" b="true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068</a:t>
              </a:r>
            </a:p>
          </p:txBody>
        </p:sp>
      </p:grpSp>
      <p:pic>
        <p:nvPicPr>
          <p:cNvPr name="Picture 19" id="19">
            <a:hlinkClick action="ppaction://media"/>
          </p:cNvPr>
          <p:cNvPicPr>
            <a:picLocks noChangeAspect="true"/>
          </p:cNvPicPr>
          <p:nvPr>
            <a:videoFile r:link="rId5"/>
            <p:extLst>
              <p:ext uri="{DAA4B4D4-6D71-4841-9C94-3DE7FCFB9230}">
                <p14:media xmlns:p14="http://schemas.microsoft.com/office/powerpoint/2010/main" r:embed="rId6"/>
              </p:ext>
            </p:extLst>
          </p:nvPr>
        </p:nvPicPr>
        <p:blipFill>
          <a:blip r:embed="rId4"/>
          <a:srcRect l="0" t="0" r="0" b="0"/>
          <a:stretch>
            <a:fillRect/>
          </a:stretch>
        </p:blipFill>
        <p:spPr>
          <a:xfrm flipH="false" flipV="false" rot="0">
            <a:off x="756000" y="4783463"/>
            <a:ext cx="2180715" cy="2907620"/>
          </a:xfrm>
          <a:prstGeom prst="rect">
            <a:avLst/>
          </a:prstGeom>
        </p:spPr>
      </p:pic>
      <p:pic>
        <p:nvPicPr>
          <p:cNvPr name="Picture 20" id="20">
            <a:hlinkClick action="ppaction://media"/>
          </p:cNvPr>
          <p:cNvPicPr>
            <a:picLocks noChangeAspect="true"/>
          </p:cNvPicPr>
          <p:nvPr>
            <a:videoFile r:link="rId8"/>
            <p:extLst>
              <p:ext uri="{DAA4B4D4-6D71-4841-9C94-3DE7FCFB9230}">
                <p14:media xmlns:p14="http://schemas.microsoft.com/office/powerpoint/2010/main" r:embed="rId9"/>
              </p:ext>
            </p:extLst>
          </p:nvPr>
        </p:nvPicPr>
        <p:blipFill>
          <a:blip r:embed="rId7"/>
          <a:srcRect l="0" t="0" r="0" b="0"/>
          <a:stretch>
            <a:fillRect/>
          </a:stretch>
        </p:blipFill>
        <p:spPr>
          <a:xfrm flipH="false" flipV="false" rot="0">
            <a:off x="4443289" y="4783463"/>
            <a:ext cx="2180715" cy="2907620"/>
          </a:xfrm>
          <a:prstGeom prst="rect">
            <a:avLst/>
          </a:prstGeom>
        </p:spPr>
      </p:pic>
      <p:sp>
        <p:nvSpPr>
          <p:cNvPr name="Freeform 21" id="21"/>
          <p:cNvSpPr/>
          <p:nvPr/>
        </p:nvSpPr>
        <p:spPr>
          <a:xfrm flipH="false" flipV="false" rot="0">
            <a:off x="756000" y="7904236"/>
            <a:ext cx="2180715" cy="444073"/>
          </a:xfrm>
          <a:custGeom>
            <a:avLst/>
            <a:gdLst/>
            <a:ahLst/>
            <a:cxnLst/>
            <a:rect r="r" b="b" t="t" l="l"/>
            <a:pathLst>
              <a:path h="444073" w="2180715">
                <a:moveTo>
                  <a:pt x="0" y="0"/>
                </a:moveTo>
                <a:lnTo>
                  <a:pt x="2180715" y="0"/>
                </a:lnTo>
                <a:lnTo>
                  <a:pt x="2180715" y="444073"/>
                </a:lnTo>
                <a:lnTo>
                  <a:pt x="0" y="444073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TextBox 22" id="22"/>
          <p:cNvSpPr txBox="true"/>
          <p:nvPr/>
        </p:nvSpPr>
        <p:spPr>
          <a:xfrm rot="0">
            <a:off x="417340" y="808558"/>
            <a:ext cx="8632814" cy="4822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71"/>
              </a:lnSpc>
            </a:pPr>
            <a:r>
              <a:rPr lang="en-US" sz="2765" b="true">
                <a:solidFill>
                  <a:srgbClr val="2DA7B1"/>
                </a:solidFill>
                <a:latin typeface="Unbounded Bold"/>
                <a:ea typeface="Unbounded Bold"/>
                <a:cs typeface="Unbounded Bold"/>
                <a:sym typeface="Unbounded Bold"/>
              </a:rPr>
              <a:t>CONOCE TU RECORRIDO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417340" y="1224100"/>
            <a:ext cx="6224675" cy="5968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06"/>
              </a:lnSpc>
            </a:pPr>
            <a:r>
              <a:rPr lang="en-US" sz="3433" b="true">
                <a:solidFill>
                  <a:srgbClr val="1E5C96"/>
                </a:solidFill>
                <a:latin typeface="Unbounded Bold"/>
                <a:ea typeface="Unbounded Bold"/>
                <a:cs typeface="Unbounded Bold"/>
                <a:sym typeface="Unbounded Bold"/>
              </a:rPr>
              <a:t>ANTES DE CORRERLO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417340" y="2568725"/>
            <a:ext cx="5760702" cy="7993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39"/>
              </a:lnSpc>
            </a:pPr>
            <a:r>
              <a:rPr lang="en-US" sz="1528">
                <a:solidFill>
                  <a:srgbClr val="1E5C96"/>
                </a:solidFill>
                <a:latin typeface="Poppins"/>
                <a:ea typeface="Poppins"/>
                <a:cs typeface="Poppins"/>
                <a:sym typeface="Poppins"/>
              </a:rPr>
              <a:t>Revisa el mapa y la altimetría oficial de tu distancia. Identifica previamente salida, retorno, puntos clave del recorrido y llegada.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417340" y="2085094"/>
            <a:ext cx="4709154" cy="2740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29"/>
              </a:lnSpc>
            </a:pPr>
            <a:r>
              <a:rPr lang="en-US" sz="1968" b="true">
                <a:solidFill>
                  <a:srgbClr val="2DA7B1"/>
                </a:solidFill>
                <a:latin typeface="Poppins Bold"/>
                <a:ea typeface="Poppins Bold"/>
                <a:cs typeface="Poppins Bold"/>
                <a:sym typeface="Poppins Bold"/>
              </a:rPr>
              <a:t>SEIS DISTANCIAS · UNA ISLA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389125" y="8913858"/>
            <a:ext cx="4709154" cy="2740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29"/>
              </a:lnSpc>
            </a:pPr>
            <a:r>
              <a:rPr lang="en-US" sz="1968" b="true">
                <a:solidFill>
                  <a:srgbClr val="1E5C96"/>
                </a:solidFill>
                <a:latin typeface="Poppins Bold"/>
                <a:ea typeface="Poppins Bold"/>
                <a:cs typeface="Poppins Bold"/>
                <a:sym typeface="Poppins Bold"/>
              </a:rPr>
              <a:t>CERTIFICACIONES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660232" y="9401088"/>
            <a:ext cx="4709154" cy="4381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07"/>
              </a:lnSpc>
            </a:pPr>
            <a:r>
              <a:rPr lang="en-US" sz="3068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42,195 KM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660232" y="9801527"/>
            <a:ext cx="4709154" cy="1966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24"/>
              </a:lnSpc>
            </a:pPr>
            <a:r>
              <a:rPr lang="en-US" sz="1394" b="true">
                <a:solidFill>
                  <a:srgbClr val="CAED69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MARATÓN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4560063" y="9401088"/>
            <a:ext cx="4709154" cy="4381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07"/>
              </a:lnSpc>
            </a:pPr>
            <a:r>
              <a:rPr lang="en-US" sz="3068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21,0975 KM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4560063" y="9801527"/>
            <a:ext cx="4709154" cy="1966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24"/>
              </a:lnSpc>
            </a:pPr>
            <a:r>
              <a:rPr lang="en-US" sz="1394" b="true">
                <a:solidFill>
                  <a:srgbClr val="CAED69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MEDIA MARATÓN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756000" y="3168078"/>
            <a:ext cx="2180715" cy="17651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103"/>
              </a:lnSpc>
            </a:pPr>
            <a:r>
              <a:rPr lang="en-US" sz="10073" b="true">
                <a:solidFill>
                  <a:srgbClr val="CAED69"/>
                </a:solidFill>
                <a:latin typeface="Unbounded Bold"/>
                <a:ea typeface="Unbounded Bold"/>
                <a:cs typeface="Unbounded Bold"/>
                <a:sym typeface="Unbounded Bold"/>
              </a:rPr>
              <a:t>2K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4502621" y="3248034"/>
            <a:ext cx="2062051" cy="16852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554"/>
              </a:lnSpc>
            </a:pPr>
            <a:r>
              <a:rPr lang="en-US" sz="9681" b="true">
                <a:solidFill>
                  <a:srgbClr val="2F84C0"/>
                </a:solidFill>
                <a:latin typeface="Unbounded Bold"/>
                <a:ea typeface="Unbounded Bold"/>
                <a:cs typeface="Unbounded Bold"/>
                <a:sym typeface="Unbounded Bold"/>
              </a:rPr>
              <a:t>5K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178936" y="7974233"/>
            <a:ext cx="1334844" cy="2659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39"/>
              </a:lnSpc>
            </a:pPr>
            <a:r>
              <a:rPr lang="en-US" sz="1528">
                <a:solidFill>
                  <a:srgbClr val="1E5C96"/>
                </a:solidFill>
                <a:latin typeface="Poppins"/>
                <a:ea typeface="Poppins"/>
                <a:cs typeface="Poppins"/>
                <a:sym typeface="Poppins"/>
              </a:rPr>
              <a:t>VER DETALLES</a:t>
            </a:r>
          </a:p>
        </p:txBody>
      </p:sp>
      <p:sp>
        <p:nvSpPr>
          <p:cNvPr name="Freeform 34" id="34"/>
          <p:cNvSpPr/>
          <p:nvPr/>
        </p:nvSpPr>
        <p:spPr>
          <a:xfrm flipH="false" flipV="false" rot="0">
            <a:off x="4443289" y="7904236"/>
            <a:ext cx="2180715" cy="444073"/>
          </a:xfrm>
          <a:custGeom>
            <a:avLst/>
            <a:gdLst/>
            <a:ahLst/>
            <a:cxnLst/>
            <a:rect r="r" b="b" t="t" l="l"/>
            <a:pathLst>
              <a:path h="444073" w="2180715">
                <a:moveTo>
                  <a:pt x="0" y="0"/>
                </a:moveTo>
                <a:lnTo>
                  <a:pt x="2180715" y="0"/>
                </a:lnTo>
                <a:lnTo>
                  <a:pt x="2180715" y="444073"/>
                </a:lnTo>
                <a:lnTo>
                  <a:pt x="0" y="444073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TextBox 35" id="35"/>
          <p:cNvSpPr txBox="true"/>
          <p:nvPr/>
        </p:nvSpPr>
        <p:spPr>
          <a:xfrm rot="0">
            <a:off x="4866225" y="7974233"/>
            <a:ext cx="1334844" cy="2659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39"/>
              </a:lnSpc>
            </a:pPr>
            <a:r>
              <a:rPr lang="en-US" sz="1528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VER DETALLES</a:t>
            </a:r>
          </a:p>
        </p:txBody>
      </p:sp>
    </p:spTree>
  </p:cSld>
  <p:clrMapOvr>
    <a:masterClrMapping/>
  </p:clrMapOvr>
  <p:timing>
    <p:tnLst>
      <p:par>
        <p:cTn dur="indefinite" restart="never" nodeType="tmRoot">
          <p:childTnLst>
            <p:video>
              <p:cMediaNode vol="100000">
                <p:cTn fill="hold" display="false">
                  <p:stCondLst>
                    <p:cond delay="indefinite"/>
                  </p:stCondLst>
                </p:cTn>
                <p:tgtEl>
                  <p:spTgt spid="19"/>
                </p:tgtEl>
              </p:cMediaNode>
            </p:video>
            <p:video>
              <p:cMediaNode vol="100000">
                <p:cTn fill="hold" display="false">
                  <p:stCondLst>
                    <p:cond delay="indefinite"/>
                  </p:stCondLst>
                </p:cTn>
                <p:tgtEl>
                  <p:spTgt spid="20"/>
                </p:tgtEl>
              </p:cMediaNode>
            </p:video>
          </p:childTnLst>
        </p:cTn>
      </p:par>
    </p:tnLst>
  </p:timing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E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7560000" cy="10684322"/>
          </a:xfrm>
          <a:custGeom>
            <a:avLst/>
            <a:gdLst/>
            <a:ahLst/>
            <a:cxnLst/>
            <a:rect r="r" b="b" t="t" l="l"/>
            <a:pathLst>
              <a:path h="10684322" w="7560000">
                <a:moveTo>
                  <a:pt x="0" y="0"/>
                </a:moveTo>
                <a:lnTo>
                  <a:pt x="7560000" y="0"/>
                </a:lnTo>
                <a:lnTo>
                  <a:pt x="7560000" y="10684322"/>
                </a:lnTo>
                <a:lnTo>
                  <a:pt x="0" y="1068432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954382" y="8634059"/>
            <a:ext cx="9468765" cy="3028865"/>
            <a:chOff x="0" y="0"/>
            <a:chExt cx="4060301" cy="129880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060301" cy="1298808"/>
            </a:xfrm>
            <a:custGeom>
              <a:avLst/>
              <a:gdLst/>
              <a:ahLst/>
              <a:cxnLst/>
              <a:rect r="r" b="b" t="t" l="l"/>
              <a:pathLst>
                <a:path h="1298808" w="4060301">
                  <a:moveTo>
                    <a:pt x="30252" y="0"/>
                  </a:moveTo>
                  <a:lnTo>
                    <a:pt x="4030049" y="0"/>
                  </a:lnTo>
                  <a:cubicBezTo>
                    <a:pt x="4046757" y="0"/>
                    <a:pt x="4060301" y="13544"/>
                    <a:pt x="4060301" y="30252"/>
                  </a:cubicBezTo>
                  <a:lnTo>
                    <a:pt x="4060301" y="1268555"/>
                  </a:lnTo>
                  <a:cubicBezTo>
                    <a:pt x="4060301" y="1276579"/>
                    <a:pt x="4057114" y="1284274"/>
                    <a:pt x="4051441" y="1289947"/>
                  </a:cubicBezTo>
                  <a:cubicBezTo>
                    <a:pt x="4045767" y="1295620"/>
                    <a:pt x="4038073" y="1298808"/>
                    <a:pt x="4030049" y="1298808"/>
                  </a:cubicBezTo>
                  <a:lnTo>
                    <a:pt x="30252" y="1298808"/>
                  </a:lnTo>
                  <a:cubicBezTo>
                    <a:pt x="13544" y="1298808"/>
                    <a:pt x="0" y="1285263"/>
                    <a:pt x="0" y="1268555"/>
                  </a:cubicBezTo>
                  <a:lnTo>
                    <a:pt x="0" y="30252"/>
                  </a:lnTo>
                  <a:cubicBezTo>
                    <a:pt x="0" y="13544"/>
                    <a:pt x="13544" y="0"/>
                    <a:pt x="30252" y="0"/>
                  </a:cubicBezTo>
                  <a:close/>
                </a:path>
              </a:pathLst>
            </a:custGeom>
            <a:solidFill>
              <a:srgbClr val="1E5C96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19050"/>
              <a:ext cx="4060301" cy="12797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134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2469303" y="8834084"/>
            <a:ext cx="2548800" cy="414579"/>
            <a:chOff x="0" y="0"/>
            <a:chExt cx="823678" cy="133976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23678" cy="133976"/>
            </a:xfrm>
            <a:custGeom>
              <a:avLst/>
              <a:gdLst/>
              <a:ahLst/>
              <a:cxnLst/>
              <a:rect r="r" b="b" t="t" l="l"/>
              <a:pathLst>
                <a:path h="133976" w="823678">
                  <a:moveTo>
                    <a:pt x="48600" y="0"/>
                  </a:moveTo>
                  <a:lnTo>
                    <a:pt x="775078" y="0"/>
                  </a:lnTo>
                  <a:cubicBezTo>
                    <a:pt x="787968" y="0"/>
                    <a:pt x="800329" y="5120"/>
                    <a:pt x="809443" y="14234"/>
                  </a:cubicBezTo>
                  <a:cubicBezTo>
                    <a:pt x="818557" y="23349"/>
                    <a:pt x="823678" y="35710"/>
                    <a:pt x="823678" y="48600"/>
                  </a:cubicBezTo>
                  <a:lnTo>
                    <a:pt x="823678" y="85377"/>
                  </a:lnTo>
                  <a:cubicBezTo>
                    <a:pt x="823678" y="112218"/>
                    <a:pt x="801919" y="133976"/>
                    <a:pt x="775078" y="133976"/>
                  </a:cubicBezTo>
                  <a:lnTo>
                    <a:pt x="48600" y="133976"/>
                  </a:lnTo>
                  <a:cubicBezTo>
                    <a:pt x="21759" y="133976"/>
                    <a:pt x="0" y="112218"/>
                    <a:pt x="0" y="85377"/>
                  </a:cubicBezTo>
                  <a:lnTo>
                    <a:pt x="0" y="48600"/>
                  </a:lnTo>
                  <a:cubicBezTo>
                    <a:pt x="0" y="21759"/>
                    <a:pt x="21759" y="0"/>
                    <a:pt x="48600" y="0"/>
                  </a:cubicBezTo>
                  <a:close/>
                </a:path>
              </a:pathLst>
            </a:custGeom>
            <a:solidFill>
              <a:srgbClr val="CAED69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19050"/>
              <a:ext cx="823678" cy="11492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134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-514879">
            <a:off x="327013" y="9103967"/>
            <a:ext cx="1119154" cy="1285994"/>
          </a:xfrm>
          <a:custGeom>
            <a:avLst/>
            <a:gdLst/>
            <a:ahLst/>
            <a:cxnLst/>
            <a:rect r="r" b="b" t="t" l="l"/>
            <a:pathLst>
              <a:path h="1285994" w="1119154">
                <a:moveTo>
                  <a:pt x="0" y="0"/>
                </a:moveTo>
                <a:lnTo>
                  <a:pt x="1119154" y="0"/>
                </a:lnTo>
                <a:lnTo>
                  <a:pt x="1119154" y="1285995"/>
                </a:lnTo>
                <a:lnTo>
                  <a:pt x="0" y="128599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2596" t="0" r="-10069" b="-6751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0">
            <a:off x="1660232" y="10062570"/>
            <a:ext cx="1963513" cy="308721"/>
            <a:chOff x="0" y="0"/>
            <a:chExt cx="703679" cy="110639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703679" cy="110639"/>
            </a:xfrm>
            <a:custGeom>
              <a:avLst/>
              <a:gdLst/>
              <a:ahLst/>
              <a:cxnLst/>
              <a:rect r="r" b="b" t="t" l="l"/>
              <a:pathLst>
                <a:path h="110639" w="703679">
                  <a:moveTo>
                    <a:pt x="27600" y="0"/>
                  </a:moveTo>
                  <a:lnTo>
                    <a:pt x="676078" y="0"/>
                  </a:lnTo>
                  <a:cubicBezTo>
                    <a:pt x="683398" y="0"/>
                    <a:pt x="690419" y="2908"/>
                    <a:pt x="695595" y="8084"/>
                  </a:cubicBezTo>
                  <a:cubicBezTo>
                    <a:pt x="700771" y="13260"/>
                    <a:pt x="703679" y="20280"/>
                    <a:pt x="703679" y="27600"/>
                  </a:cubicBezTo>
                  <a:lnTo>
                    <a:pt x="703679" y="83038"/>
                  </a:lnTo>
                  <a:cubicBezTo>
                    <a:pt x="703679" y="98281"/>
                    <a:pt x="691322" y="110639"/>
                    <a:pt x="676078" y="110639"/>
                  </a:cubicBezTo>
                  <a:lnTo>
                    <a:pt x="27600" y="110639"/>
                  </a:lnTo>
                  <a:cubicBezTo>
                    <a:pt x="20280" y="110639"/>
                    <a:pt x="13260" y="107731"/>
                    <a:pt x="8084" y="102555"/>
                  </a:cubicBezTo>
                  <a:cubicBezTo>
                    <a:pt x="2908" y="97379"/>
                    <a:pt x="0" y="90358"/>
                    <a:pt x="0" y="83038"/>
                  </a:cubicBezTo>
                  <a:lnTo>
                    <a:pt x="0" y="27600"/>
                  </a:lnTo>
                  <a:cubicBezTo>
                    <a:pt x="0" y="20280"/>
                    <a:pt x="2908" y="13260"/>
                    <a:pt x="8084" y="8084"/>
                  </a:cubicBezTo>
                  <a:cubicBezTo>
                    <a:pt x="13260" y="2908"/>
                    <a:pt x="20280" y="0"/>
                    <a:pt x="27600" y="0"/>
                  </a:cubicBezTo>
                  <a:close/>
                </a:path>
              </a:pathLst>
            </a:custGeom>
            <a:ln w="19050" cap="sq">
              <a:solidFill>
                <a:srgbClr val="2DA7B1"/>
              </a:solidFill>
              <a:prstDash val="solid"/>
              <a:miter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-28575"/>
              <a:ext cx="703679" cy="13921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287411" y="10145582"/>
            <a:ext cx="4709154" cy="1617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34"/>
              </a:lnSpc>
            </a:pPr>
            <a:r>
              <a:rPr lang="en-US" sz="1194" b="true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CERTIFICADO N.º </a:t>
            </a:r>
            <a:r>
              <a:rPr lang="en-US" sz="1194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067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3179070" y="10062570"/>
            <a:ext cx="4709154" cy="308721"/>
            <a:chOff x="0" y="0"/>
            <a:chExt cx="6278872" cy="411628"/>
          </a:xfrm>
        </p:grpSpPr>
        <p:grpSp>
          <p:nvGrpSpPr>
            <p:cNvPr name="Group 15" id="15"/>
            <p:cNvGrpSpPr/>
            <p:nvPr/>
          </p:nvGrpSpPr>
          <p:grpSpPr>
            <a:xfrm rot="0">
              <a:off x="1830428" y="0"/>
              <a:ext cx="2618017" cy="411628"/>
              <a:chOff x="0" y="0"/>
              <a:chExt cx="703679" cy="110639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0"/>
                <a:ext cx="703679" cy="110639"/>
              </a:xfrm>
              <a:custGeom>
                <a:avLst/>
                <a:gdLst/>
                <a:ahLst/>
                <a:cxnLst/>
                <a:rect r="r" b="b" t="t" l="l"/>
                <a:pathLst>
                  <a:path h="110639" w="703679">
                    <a:moveTo>
                      <a:pt x="27600" y="0"/>
                    </a:moveTo>
                    <a:lnTo>
                      <a:pt x="676078" y="0"/>
                    </a:lnTo>
                    <a:cubicBezTo>
                      <a:pt x="683398" y="0"/>
                      <a:pt x="690419" y="2908"/>
                      <a:pt x="695595" y="8084"/>
                    </a:cubicBezTo>
                    <a:cubicBezTo>
                      <a:pt x="700771" y="13260"/>
                      <a:pt x="703679" y="20280"/>
                      <a:pt x="703679" y="27600"/>
                    </a:cubicBezTo>
                    <a:lnTo>
                      <a:pt x="703679" y="83038"/>
                    </a:lnTo>
                    <a:cubicBezTo>
                      <a:pt x="703679" y="98281"/>
                      <a:pt x="691322" y="110639"/>
                      <a:pt x="676078" y="110639"/>
                    </a:cubicBezTo>
                    <a:lnTo>
                      <a:pt x="27600" y="110639"/>
                    </a:lnTo>
                    <a:cubicBezTo>
                      <a:pt x="20280" y="110639"/>
                      <a:pt x="13260" y="107731"/>
                      <a:pt x="8084" y="102555"/>
                    </a:cubicBezTo>
                    <a:cubicBezTo>
                      <a:pt x="2908" y="97379"/>
                      <a:pt x="0" y="90358"/>
                      <a:pt x="0" y="83038"/>
                    </a:cubicBezTo>
                    <a:lnTo>
                      <a:pt x="0" y="27600"/>
                    </a:lnTo>
                    <a:cubicBezTo>
                      <a:pt x="0" y="20280"/>
                      <a:pt x="2908" y="13260"/>
                      <a:pt x="8084" y="8084"/>
                    </a:cubicBezTo>
                    <a:cubicBezTo>
                      <a:pt x="13260" y="2908"/>
                      <a:pt x="20280" y="0"/>
                      <a:pt x="27600" y="0"/>
                    </a:cubicBezTo>
                    <a:close/>
                  </a:path>
                </a:pathLst>
              </a:custGeom>
              <a:ln w="19050" cap="sq">
                <a:solidFill>
                  <a:srgbClr val="2DA7B1"/>
                </a:solidFill>
                <a:prstDash val="solid"/>
                <a:miter/>
              </a:ln>
            </p:spPr>
          </p:sp>
          <p:sp>
            <p:nvSpPr>
              <p:cNvPr name="TextBox 17" id="17"/>
              <p:cNvSpPr txBox="true"/>
              <p:nvPr/>
            </p:nvSpPr>
            <p:spPr>
              <a:xfrm>
                <a:off x="0" y="-28575"/>
                <a:ext cx="703679" cy="139214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960"/>
                  </a:lnSpc>
                </a:pPr>
              </a:p>
            </p:txBody>
          </p:sp>
        </p:grpSp>
        <p:sp>
          <p:nvSpPr>
            <p:cNvPr name="TextBox 18" id="18"/>
            <p:cNvSpPr txBox="true"/>
            <p:nvPr/>
          </p:nvSpPr>
          <p:spPr>
            <a:xfrm rot="0">
              <a:off x="0" y="104332"/>
              <a:ext cx="6278872" cy="22201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134"/>
                </a:lnSpc>
              </a:pPr>
              <a:r>
                <a:rPr lang="en-US" sz="1194" b="true">
                  <a:solidFill>
                    <a:srgbClr val="FFFFFF"/>
                  </a:solidFill>
                  <a:latin typeface="Poppins Medium"/>
                  <a:ea typeface="Poppins Medium"/>
                  <a:cs typeface="Poppins Medium"/>
                  <a:sym typeface="Poppins Medium"/>
                </a:rPr>
                <a:t>CERTIFICADO N.º </a:t>
              </a:r>
              <a:r>
                <a:rPr lang="en-US" sz="1194" b="true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068</a:t>
              </a:r>
            </a:p>
          </p:txBody>
        </p:sp>
      </p:grpSp>
      <p:pic>
        <p:nvPicPr>
          <p:cNvPr name="Picture 19" id="19">
            <a:hlinkClick action="ppaction://media"/>
          </p:cNvPr>
          <p:cNvPicPr>
            <a:picLocks noChangeAspect="true"/>
          </p:cNvPicPr>
          <p:nvPr>
            <a:videoFile r:link="rId5"/>
            <p:extLst>
              <p:ext uri="{DAA4B4D4-6D71-4841-9C94-3DE7FCFB9230}">
                <p14:media xmlns:p14="http://schemas.microsoft.com/office/powerpoint/2010/main" r:embed="rId6"/>
              </p:ext>
            </p:extLst>
          </p:nvPr>
        </p:nvPicPr>
        <p:blipFill>
          <a:blip r:embed="rId4"/>
          <a:srcRect l="0" t="0" r="0" b="0"/>
          <a:stretch>
            <a:fillRect/>
          </a:stretch>
        </p:blipFill>
        <p:spPr>
          <a:xfrm flipH="false" flipV="false" rot="0">
            <a:off x="609829" y="3020809"/>
            <a:ext cx="2867745" cy="3823660"/>
          </a:xfrm>
          <a:prstGeom prst="rect">
            <a:avLst/>
          </a:prstGeom>
        </p:spPr>
      </p:pic>
      <p:pic>
        <p:nvPicPr>
          <p:cNvPr name="Picture 20" id="20">
            <a:hlinkClick action="ppaction://media"/>
          </p:cNvPr>
          <p:cNvPicPr>
            <a:picLocks noChangeAspect="true"/>
          </p:cNvPicPr>
          <p:nvPr>
            <a:videoFile r:link="rId8"/>
            <p:extLst>
              <p:ext uri="{DAA4B4D4-6D71-4841-9C94-3DE7FCFB9230}">
                <p14:media xmlns:p14="http://schemas.microsoft.com/office/powerpoint/2010/main" r:embed="rId9"/>
              </p:ext>
            </p:extLst>
          </p:nvPr>
        </p:nvPicPr>
        <p:blipFill>
          <a:blip r:embed="rId7"/>
          <a:srcRect l="0" t="0" r="0" b="0"/>
          <a:stretch>
            <a:fillRect/>
          </a:stretch>
        </p:blipFill>
        <p:spPr>
          <a:xfrm flipH="false" flipV="false" rot="0">
            <a:off x="4082427" y="3020809"/>
            <a:ext cx="2867745" cy="3823660"/>
          </a:xfrm>
          <a:prstGeom prst="rect">
            <a:avLst/>
          </a:prstGeom>
        </p:spPr>
      </p:pic>
      <p:sp>
        <p:nvSpPr>
          <p:cNvPr name="TextBox 21" id="21"/>
          <p:cNvSpPr txBox="true"/>
          <p:nvPr/>
        </p:nvSpPr>
        <p:spPr>
          <a:xfrm rot="0">
            <a:off x="1389125" y="8913858"/>
            <a:ext cx="4709154" cy="2740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29"/>
              </a:lnSpc>
            </a:pPr>
            <a:r>
              <a:rPr lang="en-US" sz="1968" b="true">
                <a:solidFill>
                  <a:srgbClr val="1E5C96"/>
                </a:solidFill>
                <a:latin typeface="Poppins Bold"/>
                <a:ea typeface="Poppins Bold"/>
                <a:cs typeface="Poppins Bold"/>
                <a:sym typeface="Poppins Bold"/>
              </a:rPr>
              <a:t>CERTIFICACIONES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660232" y="9401088"/>
            <a:ext cx="4709154" cy="4381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07"/>
              </a:lnSpc>
            </a:pPr>
            <a:r>
              <a:rPr lang="en-US" sz="3068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42,195 KM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660232" y="9801527"/>
            <a:ext cx="4709154" cy="1966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24"/>
              </a:lnSpc>
            </a:pPr>
            <a:r>
              <a:rPr lang="en-US" sz="1394" b="true">
                <a:solidFill>
                  <a:srgbClr val="CAED69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MARATÓN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4560063" y="9401088"/>
            <a:ext cx="4709154" cy="4381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07"/>
              </a:lnSpc>
            </a:pPr>
            <a:r>
              <a:rPr lang="en-US" sz="3068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21,0975 KM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4560063" y="9801527"/>
            <a:ext cx="4709154" cy="1966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24"/>
              </a:lnSpc>
            </a:pPr>
            <a:r>
              <a:rPr lang="en-US" sz="1394" b="true">
                <a:solidFill>
                  <a:srgbClr val="CAED69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MEDIA MARATÓN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609829" y="1403909"/>
            <a:ext cx="2716675" cy="16169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938"/>
              </a:lnSpc>
            </a:pPr>
            <a:r>
              <a:rPr lang="en-US" sz="9242" b="true">
                <a:solidFill>
                  <a:srgbClr val="2DA7B1"/>
                </a:solidFill>
                <a:latin typeface="Unbounded Bold"/>
                <a:ea typeface="Unbounded Bold"/>
                <a:cs typeface="Unbounded Bold"/>
                <a:sym typeface="Unbounded Bold"/>
              </a:rPr>
              <a:t>10K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4111595" y="1413434"/>
            <a:ext cx="2675057" cy="164292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259"/>
              </a:lnSpc>
            </a:pPr>
            <a:r>
              <a:rPr lang="en-US" sz="9470" b="true">
                <a:solidFill>
                  <a:srgbClr val="79DBC5"/>
                </a:solidFill>
                <a:latin typeface="Unbounded Bold"/>
                <a:ea typeface="Unbounded Bold"/>
                <a:cs typeface="Unbounded Bold"/>
                <a:sym typeface="Unbounded Bold"/>
              </a:rPr>
              <a:t>21K</a:t>
            </a:r>
          </a:p>
        </p:txBody>
      </p:sp>
      <p:sp>
        <p:nvSpPr>
          <p:cNvPr name="Freeform 28" id="28"/>
          <p:cNvSpPr/>
          <p:nvPr/>
        </p:nvSpPr>
        <p:spPr>
          <a:xfrm flipH="false" flipV="false" rot="0">
            <a:off x="953343" y="7037453"/>
            <a:ext cx="2180715" cy="444073"/>
          </a:xfrm>
          <a:custGeom>
            <a:avLst/>
            <a:gdLst/>
            <a:ahLst/>
            <a:cxnLst/>
            <a:rect r="r" b="b" t="t" l="l"/>
            <a:pathLst>
              <a:path h="444073" w="2180715">
                <a:moveTo>
                  <a:pt x="0" y="0"/>
                </a:moveTo>
                <a:lnTo>
                  <a:pt x="2180716" y="0"/>
                </a:lnTo>
                <a:lnTo>
                  <a:pt x="2180716" y="444073"/>
                </a:lnTo>
                <a:lnTo>
                  <a:pt x="0" y="444073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TextBox 29" id="29"/>
          <p:cNvSpPr txBox="true"/>
          <p:nvPr/>
        </p:nvSpPr>
        <p:spPr>
          <a:xfrm rot="0">
            <a:off x="1376279" y="7107450"/>
            <a:ext cx="1334844" cy="2659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39"/>
              </a:lnSpc>
            </a:pPr>
            <a:r>
              <a:rPr lang="en-US" sz="1528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VER DETALLES</a:t>
            </a:r>
          </a:p>
        </p:txBody>
      </p:sp>
      <p:sp>
        <p:nvSpPr>
          <p:cNvPr name="Freeform 30" id="30"/>
          <p:cNvSpPr/>
          <p:nvPr/>
        </p:nvSpPr>
        <p:spPr>
          <a:xfrm flipH="false" flipV="false" rot="0">
            <a:off x="4358766" y="7037453"/>
            <a:ext cx="2180715" cy="444073"/>
          </a:xfrm>
          <a:custGeom>
            <a:avLst/>
            <a:gdLst/>
            <a:ahLst/>
            <a:cxnLst/>
            <a:rect r="r" b="b" t="t" l="l"/>
            <a:pathLst>
              <a:path h="444073" w="2180715">
                <a:moveTo>
                  <a:pt x="0" y="0"/>
                </a:moveTo>
                <a:lnTo>
                  <a:pt x="2180715" y="0"/>
                </a:lnTo>
                <a:lnTo>
                  <a:pt x="2180715" y="444073"/>
                </a:lnTo>
                <a:lnTo>
                  <a:pt x="0" y="444073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TextBox 31" id="31"/>
          <p:cNvSpPr txBox="true"/>
          <p:nvPr/>
        </p:nvSpPr>
        <p:spPr>
          <a:xfrm rot="0">
            <a:off x="4781702" y="7107450"/>
            <a:ext cx="1334844" cy="2659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39"/>
              </a:lnSpc>
            </a:pPr>
            <a:r>
              <a:rPr lang="en-US" sz="1528">
                <a:solidFill>
                  <a:srgbClr val="1E5C96"/>
                </a:solidFill>
                <a:latin typeface="Poppins"/>
                <a:ea typeface="Poppins"/>
                <a:cs typeface="Poppins"/>
                <a:sym typeface="Poppins"/>
              </a:rPr>
              <a:t>VER DETALLES</a:t>
            </a:r>
          </a:p>
        </p:txBody>
      </p:sp>
    </p:spTree>
  </p:cSld>
  <p:clrMapOvr>
    <a:masterClrMapping/>
  </p:clrMapOvr>
  <p:timing>
    <p:tnLst>
      <p:par>
        <p:cTn dur="indefinite" restart="never" nodeType="tmRoot">
          <p:childTnLst>
            <p:video>
              <p:cMediaNode vol="100000">
                <p:cTn fill="hold" display="false">
                  <p:stCondLst>
                    <p:cond delay="indefinite"/>
                  </p:stCondLst>
                </p:cTn>
                <p:tgtEl>
                  <p:spTgt spid="19"/>
                </p:tgtEl>
              </p:cMediaNode>
            </p:video>
            <p:video>
              <p:cMediaNode vol="100000">
                <p:cTn fill="hold" display="false">
                  <p:stCondLst>
                    <p:cond delay="indefinite"/>
                  </p:stCondLst>
                </p:cTn>
                <p:tgtEl>
                  <p:spTgt spid="20"/>
                </p:tgtEl>
              </p:cMediaNode>
            </p:video>
          </p:childTnLst>
        </p:cTn>
      </p:par>
    </p:tnLst>
  </p:timing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E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7560000" cy="10684322"/>
          </a:xfrm>
          <a:custGeom>
            <a:avLst/>
            <a:gdLst/>
            <a:ahLst/>
            <a:cxnLst/>
            <a:rect r="r" b="b" t="t" l="l"/>
            <a:pathLst>
              <a:path h="10684322" w="7560000">
                <a:moveTo>
                  <a:pt x="0" y="0"/>
                </a:moveTo>
                <a:lnTo>
                  <a:pt x="7560000" y="0"/>
                </a:lnTo>
                <a:lnTo>
                  <a:pt x="7560000" y="10684322"/>
                </a:lnTo>
                <a:lnTo>
                  <a:pt x="0" y="1068432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954382" y="8634059"/>
            <a:ext cx="9468765" cy="3028865"/>
            <a:chOff x="0" y="0"/>
            <a:chExt cx="4060301" cy="1298808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060301" cy="1298808"/>
            </a:xfrm>
            <a:custGeom>
              <a:avLst/>
              <a:gdLst/>
              <a:ahLst/>
              <a:cxnLst/>
              <a:rect r="r" b="b" t="t" l="l"/>
              <a:pathLst>
                <a:path h="1298808" w="4060301">
                  <a:moveTo>
                    <a:pt x="30252" y="0"/>
                  </a:moveTo>
                  <a:lnTo>
                    <a:pt x="4030049" y="0"/>
                  </a:lnTo>
                  <a:cubicBezTo>
                    <a:pt x="4046757" y="0"/>
                    <a:pt x="4060301" y="13544"/>
                    <a:pt x="4060301" y="30252"/>
                  </a:cubicBezTo>
                  <a:lnTo>
                    <a:pt x="4060301" y="1268555"/>
                  </a:lnTo>
                  <a:cubicBezTo>
                    <a:pt x="4060301" y="1276579"/>
                    <a:pt x="4057114" y="1284274"/>
                    <a:pt x="4051441" y="1289947"/>
                  </a:cubicBezTo>
                  <a:cubicBezTo>
                    <a:pt x="4045767" y="1295620"/>
                    <a:pt x="4038073" y="1298808"/>
                    <a:pt x="4030049" y="1298808"/>
                  </a:cubicBezTo>
                  <a:lnTo>
                    <a:pt x="30252" y="1298808"/>
                  </a:lnTo>
                  <a:cubicBezTo>
                    <a:pt x="13544" y="1298808"/>
                    <a:pt x="0" y="1285263"/>
                    <a:pt x="0" y="1268555"/>
                  </a:cubicBezTo>
                  <a:lnTo>
                    <a:pt x="0" y="30252"/>
                  </a:lnTo>
                  <a:cubicBezTo>
                    <a:pt x="0" y="13544"/>
                    <a:pt x="13544" y="0"/>
                    <a:pt x="30252" y="0"/>
                  </a:cubicBezTo>
                  <a:close/>
                </a:path>
              </a:pathLst>
            </a:custGeom>
            <a:solidFill>
              <a:srgbClr val="1E5C96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19050"/>
              <a:ext cx="4060301" cy="12797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134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2469303" y="8834084"/>
            <a:ext cx="2548800" cy="414579"/>
            <a:chOff x="0" y="0"/>
            <a:chExt cx="823678" cy="133976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23678" cy="133976"/>
            </a:xfrm>
            <a:custGeom>
              <a:avLst/>
              <a:gdLst/>
              <a:ahLst/>
              <a:cxnLst/>
              <a:rect r="r" b="b" t="t" l="l"/>
              <a:pathLst>
                <a:path h="133976" w="823678">
                  <a:moveTo>
                    <a:pt x="48600" y="0"/>
                  </a:moveTo>
                  <a:lnTo>
                    <a:pt x="775078" y="0"/>
                  </a:lnTo>
                  <a:cubicBezTo>
                    <a:pt x="787968" y="0"/>
                    <a:pt x="800329" y="5120"/>
                    <a:pt x="809443" y="14234"/>
                  </a:cubicBezTo>
                  <a:cubicBezTo>
                    <a:pt x="818557" y="23349"/>
                    <a:pt x="823678" y="35710"/>
                    <a:pt x="823678" y="48600"/>
                  </a:cubicBezTo>
                  <a:lnTo>
                    <a:pt x="823678" y="85377"/>
                  </a:lnTo>
                  <a:cubicBezTo>
                    <a:pt x="823678" y="112218"/>
                    <a:pt x="801919" y="133976"/>
                    <a:pt x="775078" y="133976"/>
                  </a:cubicBezTo>
                  <a:lnTo>
                    <a:pt x="48600" y="133976"/>
                  </a:lnTo>
                  <a:cubicBezTo>
                    <a:pt x="21759" y="133976"/>
                    <a:pt x="0" y="112218"/>
                    <a:pt x="0" y="85377"/>
                  </a:cubicBezTo>
                  <a:lnTo>
                    <a:pt x="0" y="48600"/>
                  </a:lnTo>
                  <a:cubicBezTo>
                    <a:pt x="0" y="21759"/>
                    <a:pt x="21759" y="0"/>
                    <a:pt x="48600" y="0"/>
                  </a:cubicBezTo>
                  <a:close/>
                </a:path>
              </a:pathLst>
            </a:custGeom>
            <a:solidFill>
              <a:srgbClr val="CAED69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19050"/>
              <a:ext cx="823678" cy="11492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134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-514879">
            <a:off x="327013" y="9103967"/>
            <a:ext cx="1119154" cy="1285994"/>
          </a:xfrm>
          <a:custGeom>
            <a:avLst/>
            <a:gdLst/>
            <a:ahLst/>
            <a:cxnLst/>
            <a:rect r="r" b="b" t="t" l="l"/>
            <a:pathLst>
              <a:path h="1285994" w="1119154">
                <a:moveTo>
                  <a:pt x="0" y="0"/>
                </a:moveTo>
                <a:lnTo>
                  <a:pt x="1119154" y="0"/>
                </a:lnTo>
                <a:lnTo>
                  <a:pt x="1119154" y="1285995"/>
                </a:lnTo>
                <a:lnTo>
                  <a:pt x="0" y="128599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2596" t="0" r="-10069" b="-6751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0">
            <a:off x="1660232" y="10062570"/>
            <a:ext cx="1963513" cy="308721"/>
            <a:chOff x="0" y="0"/>
            <a:chExt cx="703679" cy="110639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703679" cy="110639"/>
            </a:xfrm>
            <a:custGeom>
              <a:avLst/>
              <a:gdLst/>
              <a:ahLst/>
              <a:cxnLst/>
              <a:rect r="r" b="b" t="t" l="l"/>
              <a:pathLst>
                <a:path h="110639" w="703679">
                  <a:moveTo>
                    <a:pt x="27600" y="0"/>
                  </a:moveTo>
                  <a:lnTo>
                    <a:pt x="676078" y="0"/>
                  </a:lnTo>
                  <a:cubicBezTo>
                    <a:pt x="683398" y="0"/>
                    <a:pt x="690419" y="2908"/>
                    <a:pt x="695595" y="8084"/>
                  </a:cubicBezTo>
                  <a:cubicBezTo>
                    <a:pt x="700771" y="13260"/>
                    <a:pt x="703679" y="20280"/>
                    <a:pt x="703679" y="27600"/>
                  </a:cubicBezTo>
                  <a:lnTo>
                    <a:pt x="703679" y="83038"/>
                  </a:lnTo>
                  <a:cubicBezTo>
                    <a:pt x="703679" y="98281"/>
                    <a:pt x="691322" y="110639"/>
                    <a:pt x="676078" y="110639"/>
                  </a:cubicBezTo>
                  <a:lnTo>
                    <a:pt x="27600" y="110639"/>
                  </a:lnTo>
                  <a:cubicBezTo>
                    <a:pt x="20280" y="110639"/>
                    <a:pt x="13260" y="107731"/>
                    <a:pt x="8084" y="102555"/>
                  </a:cubicBezTo>
                  <a:cubicBezTo>
                    <a:pt x="2908" y="97379"/>
                    <a:pt x="0" y="90358"/>
                    <a:pt x="0" y="83038"/>
                  </a:cubicBezTo>
                  <a:lnTo>
                    <a:pt x="0" y="27600"/>
                  </a:lnTo>
                  <a:cubicBezTo>
                    <a:pt x="0" y="20280"/>
                    <a:pt x="2908" y="13260"/>
                    <a:pt x="8084" y="8084"/>
                  </a:cubicBezTo>
                  <a:cubicBezTo>
                    <a:pt x="13260" y="2908"/>
                    <a:pt x="20280" y="0"/>
                    <a:pt x="27600" y="0"/>
                  </a:cubicBezTo>
                  <a:close/>
                </a:path>
              </a:pathLst>
            </a:custGeom>
            <a:ln w="19050" cap="sq">
              <a:solidFill>
                <a:srgbClr val="2DA7B1"/>
              </a:solidFill>
              <a:prstDash val="solid"/>
              <a:miter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-28575"/>
              <a:ext cx="703679" cy="13921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287411" y="10145582"/>
            <a:ext cx="4709154" cy="1617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34"/>
              </a:lnSpc>
            </a:pPr>
            <a:r>
              <a:rPr lang="en-US" sz="1194" b="true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CERTIFICADO N.º </a:t>
            </a:r>
            <a:r>
              <a:rPr lang="en-US" sz="1194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067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3179070" y="10062570"/>
            <a:ext cx="4709154" cy="308721"/>
            <a:chOff x="0" y="0"/>
            <a:chExt cx="6278872" cy="411628"/>
          </a:xfrm>
        </p:grpSpPr>
        <p:grpSp>
          <p:nvGrpSpPr>
            <p:cNvPr name="Group 15" id="15"/>
            <p:cNvGrpSpPr/>
            <p:nvPr/>
          </p:nvGrpSpPr>
          <p:grpSpPr>
            <a:xfrm rot="0">
              <a:off x="1830428" y="0"/>
              <a:ext cx="2618017" cy="411628"/>
              <a:chOff x="0" y="0"/>
              <a:chExt cx="703679" cy="110639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0"/>
                <a:ext cx="703679" cy="110639"/>
              </a:xfrm>
              <a:custGeom>
                <a:avLst/>
                <a:gdLst/>
                <a:ahLst/>
                <a:cxnLst/>
                <a:rect r="r" b="b" t="t" l="l"/>
                <a:pathLst>
                  <a:path h="110639" w="703679">
                    <a:moveTo>
                      <a:pt x="27600" y="0"/>
                    </a:moveTo>
                    <a:lnTo>
                      <a:pt x="676078" y="0"/>
                    </a:lnTo>
                    <a:cubicBezTo>
                      <a:pt x="683398" y="0"/>
                      <a:pt x="690419" y="2908"/>
                      <a:pt x="695595" y="8084"/>
                    </a:cubicBezTo>
                    <a:cubicBezTo>
                      <a:pt x="700771" y="13260"/>
                      <a:pt x="703679" y="20280"/>
                      <a:pt x="703679" y="27600"/>
                    </a:cubicBezTo>
                    <a:lnTo>
                      <a:pt x="703679" y="83038"/>
                    </a:lnTo>
                    <a:cubicBezTo>
                      <a:pt x="703679" y="98281"/>
                      <a:pt x="691322" y="110639"/>
                      <a:pt x="676078" y="110639"/>
                    </a:cubicBezTo>
                    <a:lnTo>
                      <a:pt x="27600" y="110639"/>
                    </a:lnTo>
                    <a:cubicBezTo>
                      <a:pt x="20280" y="110639"/>
                      <a:pt x="13260" y="107731"/>
                      <a:pt x="8084" y="102555"/>
                    </a:cubicBezTo>
                    <a:cubicBezTo>
                      <a:pt x="2908" y="97379"/>
                      <a:pt x="0" y="90358"/>
                      <a:pt x="0" y="83038"/>
                    </a:cubicBezTo>
                    <a:lnTo>
                      <a:pt x="0" y="27600"/>
                    </a:lnTo>
                    <a:cubicBezTo>
                      <a:pt x="0" y="20280"/>
                      <a:pt x="2908" y="13260"/>
                      <a:pt x="8084" y="8084"/>
                    </a:cubicBezTo>
                    <a:cubicBezTo>
                      <a:pt x="13260" y="2908"/>
                      <a:pt x="20280" y="0"/>
                      <a:pt x="27600" y="0"/>
                    </a:cubicBezTo>
                    <a:close/>
                  </a:path>
                </a:pathLst>
              </a:custGeom>
              <a:ln w="19050" cap="sq">
                <a:solidFill>
                  <a:srgbClr val="2DA7B1"/>
                </a:solidFill>
                <a:prstDash val="solid"/>
                <a:miter/>
              </a:ln>
            </p:spPr>
          </p:sp>
          <p:sp>
            <p:nvSpPr>
              <p:cNvPr name="TextBox 17" id="17"/>
              <p:cNvSpPr txBox="true"/>
              <p:nvPr/>
            </p:nvSpPr>
            <p:spPr>
              <a:xfrm>
                <a:off x="0" y="-28575"/>
                <a:ext cx="703679" cy="139214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960"/>
                  </a:lnSpc>
                </a:pPr>
              </a:p>
            </p:txBody>
          </p:sp>
        </p:grpSp>
        <p:sp>
          <p:nvSpPr>
            <p:cNvPr name="TextBox 18" id="18"/>
            <p:cNvSpPr txBox="true"/>
            <p:nvPr/>
          </p:nvSpPr>
          <p:spPr>
            <a:xfrm rot="0">
              <a:off x="0" y="104332"/>
              <a:ext cx="6278872" cy="22201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134"/>
                </a:lnSpc>
              </a:pPr>
              <a:r>
                <a:rPr lang="en-US" sz="1194" b="true">
                  <a:solidFill>
                    <a:srgbClr val="FFFFFF"/>
                  </a:solidFill>
                  <a:latin typeface="Poppins Medium"/>
                  <a:ea typeface="Poppins Medium"/>
                  <a:cs typeface="Poppins Medium"/>
                  <a:sym typeface="Poppins Medium"/>
                </a:rPr>
                <a:t>CERTIFICADO N.º </a:t>
              </a:r>
              <a:r>
                <a:rPr lang="en-US" sz="1194" b="true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068</a:t>
              </a:r>
            </a:p>
          </p:txBody>
        </p:sp>
      </p:grpSp>
      <p:pic>
        <p:nvPicPr>
          <p:cNvPr name="Picture 19" id="19">
            <a:hlinkClick action="ppaction://media"/>
          </p:cNvPr>
          <p:cNvPicPr>
            <a:picLocks noChangeAspect="true"/>
          </p:cNvPicPr>
          <p:nvPr>
            <a:videoFile r:link="rId5"/>
            <p:extLst>
              <p:ext uri="{DAA4B4D4-6D71-4841-9C94-3DE7FCFB9230}">
                <p14:media xmlns:p14="http://schemas.microsoft.com/office/powerpoint/2010/main" r:embed="rId6"/>
              </p:ext>
            </p:extLst>
          </p:nvPr>
        </p:nvPicPr>
        <p:blipFill>
          <a:blip r:embed="rId4"/>
          <a:srcRect l="0" t="0" r="0" b="0"/>
          <a:stretch>
            <a:fillRect/>
          </a:stretch>
        </p:blipFill>
        <p:spPr>
          <a:xfrm flipH="false" flipV="false" rot="0">
            <a:off x="756000" y="3038585"/>
            <a:ext cx="2841082" cy="3788109"/>
          </a:xfrm>
          <a:prstGeom prst="rect">
            <a:avLst/>
          </a:prstGeom>
        </p:spPr>
      </p:pic>
      <p:pic>
        <p:nvPicPr>
          <p:cNvPr name="Picture 20" id="20">
            <a:hlinkClick action="ppaction://media"/>
          </p:cNvPr>
          <p:cNvPicPr>
            <a:picLocks noChangeAspect="true"/>
          </p:cNvPicPr>
          <p:nvPr>
            <a:videoFile r:link="rId8"/>
            <p:extLst>
              <p:ext uri="{DAA4B4D4-6D71-4841-9C94-3DE7FCFB9230}">
                <p14:media xmlns:p14="http://schemas.microsoft.com/office/powerpoint/2010/main" r:embed="rId9"/>
              </p:ext>
            </p:extLst>
          </p:nvPr>
        </p:nvPicPr>
        <p:blipFill>
          <a:blip r:embed="rId7"/>
          <a:srcRect l="0" t="0" r="0" b="0"/>
          <a:stretch>
            <a:fillRect/>
          </a:stretch>
        </p:blipFill>
        <p:spPr>
          <a:xfrm flipH="false" flipV="false" rot="0">
            <a:off x="4111595" y="3038585"/>
            <a:ext cx="2841082" cy="3788109"/>
          </a:xfrm>
          <a:prstGeom prst="rect">
            <a:avLst/>
          </a:prstGeom>
        </p:spPr>
      </p:pic>
      <p:sp>
        <p:nvSpPr>
          <p:cNvPr name="TextBox 21" id="21"/>
          <p:cNvSpPr txBox="true"/>
          <p:nvPr/>
        </p:nvSpPr>
        <p:spPr>
          <a:xfrm rot="0">
            <a:off x="1389125" y="8913858"/>
            <a:ext cx="4709154" cy="2740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29"/>
              </a:lnSpc>
            </a:pPr>
            <a:r>
              <a:rPr lang="en-US" sz="1968" b="true">
                <a:solidFill>
                  <a:srgbClr val="1E5C96"/>
                </a:solidFill>
                <a:latin typeface="Poppins Bold"/>
                <a:ea typeface="Poppins Bold"/>
                <a:cs typeface="Poppins Bold"/>
                <a:sym typeface="Poppins Bold"/>
              </a:rPr>
              <a:t>CERTIFICACIONES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660232" y="9401088"/>
            <a:ext cx="4709154" cy="4381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07"/>
              </a:lnSpc>
            </a:pPr>
            <a:r>
              <a:rPr lang="en-US" sz="3068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42,195 KM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660232" y="9801527"/>
            <a:ext cx="4709154" cy="1966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24"/>
              </a:lnSpc>
            </a:pPr>
            <a:r>
              <a:rPr lang="en-US" sz="1394" b="true">
                <a:solidFill>
                  <a:srgbClr val="CAED69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MARATÓN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4560063" y="9401088"/>
            <a:ext cx="4709154" cy="4381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07"/>
              </a:lnSpc>
            </a:pPr>
            <a:r>
              <a:rPr lang="en-US" sz="3068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21,0975 KM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4560063" y="9801527"/>
            <a:ext cx="4709154" cy="1966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24"/>
              </a:lnSpc>
            </a:pPr>
            <a:r>
              <a:rPr lang="en-US" sz="1394" b="true">
                <a:solidFill>
                  <a:srgbClr val="CAED69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MEDIA MARATÓN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609829" y="1403909"/>
            <a:ext cx="2985521" cy="16107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938"/>
              </a:lnSpc>
            </a:pPr>
            <a:r>
              <a:rPr lang="en-US" sz="9242" b="true">
                <a:solidFill>
                  <a:srgbClr val="1E5C96"/>
                </a:solidFill>
                <a:latin typeface="Unbounded Bold"/>
                <a:ea typeface="Unbounded Bold"/>
                <a:cs typeface="Unbounded Bold"/>
                <a:sym typeface="Unbounded Bold"/>
              </a:rPr>
              <a:t>32K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4111595" y="1413434"/>
            <a:ext cx="3081744" cy="16366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259"/>
              </a:lnSpc>
            </a:pPr>
            <a:r>
              <a:rPr lang="en-US" sz="9470" b="true">
                <a:solidFill>
                  <a:srgbClr val="FDF16D"/>
                </a:solidFill>
                <a:latin typeface="Unbounded Bold"/>
                <a:ea typeface="Unbounded Bold"/>
                <a:cs typeface="Unbounded Bold"/>
                <a:sym typeface="Unbounded Bold"/>
              </a:rPr>
              <a:t>42K</a:t>
            </a:r>
          </a:p>
        </p:txBody>
      </p:sp>
      <p:sp>
        <p:nvSpPr>
          <p:cNvPr name="Freeform 28" id="28"/>
          <p:cNvSpPr/>
          <p:nvPr/>
        </p:nvSpPr>
        <p:spPr>
          <a:xfrm flipH="false" flipV="false" rot="0">
            <a:off x="1086183" y="7037453"/>
            <a:ext cx="2180715" cy="444073"/>
          </a:xfrm>
          <a:custGeom>
            <a:avLst/>
            <a:gdLst/>
            <a:ahLst/>
            <a:cxnLst/>
            <a:rect r="r" b="b" t="t" l="l"/>
            <a:pathLst>
              <a:path h="444073" w="2180715">
                <a:moveTo>
                  <a:pt x="0" y="0"/>
                </a:moveTo>
                <a:lnTo>
                  <a:pt x="2180716" y="0"/>
                </a:lnTo>
                <a:lnTo>
                  <a:pt x="2180716" y="444073"/>
                </a:lnTo>
                <a:lnTo>
                  <a:pt x="0" y="444073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TextBox 29" id="29"/>
          <p:cNvSpPr txBox="true"/>
          <p:nvPr/>
        </p:nvSpPr>
        <p:spPr>
          <a:xfrm rot="0">
            <a:off x="1509119" y="7107450"/>
            <a:ext cx="1334844" cy="2659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39"/>
              </a:lnSpc>
            </a:pPr>
            <a:r>
              <a:rPr lang="en-US" sz="1528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VER DETALLES</a:t>
            </a:r>
          </a:p>
        </p:txBody>
      </p:sp>
      <p:sp>
        <p:nvSpPr>
          <p:cNvPr name="Freeform 30" id="30"/>
          <p:cNvSpPr/>
          <p:nvPr/>
        </p:nvSpPr>
        <p:spPr>
          <a:xfrm flipH="false" flipV="false" rot="0">
            <a:off x="4443289" y="7037453"/>
            <a:ext cx="2180715" cy="444073"/>
          </a:xfrm>
          <a:custGeom>
            <a:avLst/>
            <a:gdLst/>
            <a:ahLst/>
            <a:cxnLst/>
            <a:rect r="r" b="b" t="t" l="l"/>
            <a:pathLst>
              <a:path h="444073" w="2180715">
                <a:moveTo>
                  <a:pt x="0" y="0"/>
                </a:moveTo>
                <a:lnTo>
                  <a:pt x="2180715" y="0"/>
                </a:lnTo>
                <a:lnTo>
                  <a:pt x="2180715" y="444073"/>
                </a:lnTo>
                <a:lnTo>
                  <a:pt x="0" y="444073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TextBox 31" id="31"/>
          <p:cNvSpPr txBox="true"/>
          <p:nvPr/>
        </p:nvSpPr>
        <p:spPr>
          <a:xfrm rot="0">
            <a:off x="4866225" y="7107450"/>
            <a:ext cx="1334844" cy="2659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39"/>
              </a:lnSpc>
            </a:pPr>
            <a:r>
              <a:rPr lang="en-US" sz="1528">
                <a:solidFill>
                  <a:srgbClr val="1E5C96"/>
                </a:solidFill>
                <a:latin typeface="Poppins"/>
                <a:ea typeface="Poppins"/>
                <a:cs typeface="Poppins"/>
                <a:sym typeface="Poppins"/>
              </a:rPr>
              <a:t>VER DETALLES</a:t>
            </a:r>
          </a:p>
        </p:txBody>
      </p:sp>
    </p:spTree>
  </p:cSld>
  <p:clrMapOvr>
    <a:masterClrMapping/>
  </p:clrMapOvr>
  <p:timing>
    <p:tnLst>
      <p:par>
        <p:cTn dur="indefinite" restart="never" nodeType="tmRoot">
          <p:childTnLst>
            <p:video>
              <p:cMediaNode vol="100000">
                <p:cTn fill="hold" display="false">
                  <p:stCondLst>
                    <p:cond delay="indefinite"/>
                  </p:stCondLst>
                </p:cTn>
                <p:tgtEl>
                  <p:spTgt spid="19"/>
                </p:tgtEl>
              </p:cMediaNode>
            </p:video>
            <p:video>
              <p:cMediaNode vol="100000">
                <p:cTn fill="hold" display="false">
                  <p:stCondLst>
                    <p:cond delay="indefinite"/>
                  </p:stCondLst>
                </p:cTn>
                <p:tgtEl>
                  <p:spTgt spid="20"/>
                </p:tgtEl>
              </p:cMediaNode>
            </p:video>
          </p:childTnLst>
        </p:cTn>
      </p:par>
    </p:tnLst>
  </p:timing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E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138918" y="0"/>
            <a:ext cx="7698918" cy="10813878"/>
          </a:xfrm>
          <a:custGeom>
            <a:avLst/>
            <a:gdLst/>
            <a:ahLst/>
            <a:cxnLst/>
            <a:rect r="r" b="b" t="t" l="l"/>
            <a:pathLst>
              <a:path h="10813878" w="7698918">
                <a:moveTo>
                  <a:pt x="0" y="0"/>
                </a:moveTo>
                <a:lnTo>
                  <a:pt x="7698918" y="0"/>
                </a:lnTo>
                <a:lnTo>
                  <a:pt x="7698918" y="10813878"/>
                </a:lnTo>
                <a:lnTo>
                  <a:pt x="0" y="1081387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6000"/>
            </a:blip>
            <a:stretch>
              <a:fillRect l="0" t="-687" r="-752" b="-687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372485" y="7806770"/>
            <a:ext cx="6827515" cy="2336413"/>
            <a:chOff x="0" y="0"/>
            <a:chExt cx="2927707" cy="1001877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927707" cy="1001877"/>
            </a:xfrm>
            <a:custGeom>
              <a:avLst/>
              <a:gdLst/>
              <a:ahLst/>
              <a:cxnLst/>
              <a:rect r="r" b="b" t="t" l="l"/>
              <a:pathLst>
                <a:path h="1001877" w="2927707">
                  <a:moveTo>
                    <a:pt x="41955" y="0"/>
                  </a:moveTo>
                  <a:lnTo>
                    <a:pt x="2885752" y="0"/>
                  </a:lnTo>
                  <a:cubicBezTo>
                    <a:pt x="2896879" y="0"/>
                    <a:pt x="2907550" y="4420"/>
                    <a:pt x="2915419" y="12288"/>
                  </a:cubicBezTo>
                  <a:cubicBezTo>
                    <a:pt x="2923287" y="20157"/>
                    <a:pt x="2927707" y="30828"/>
                    <a:pt x="2927707" y="41955"/>
                  </a:cubicBezTo>
                  <a:lnTo>
                    <a:pt x="2927707" y="959922"/>
                  </a:lnTo>
                  <a:cubicBezTo>
                    <a:pt x="2927707" y="971049"/>
                    <a:pt x="2923287" y="981721"/>
                    <a:pt x="2915419" y="989589"/>
                  </a:cubicBezTo>
                  <a:cubicBezTo>
                    <a:pt x="2907550" y="997457"/>
                    <a:pt x="2896879" y="1001877"/>
                    <a:pt x="2885752" y="1001877"/>
                  </a:cubicBezTo>
                  <a:lnTo>
                    <a:pt x="41955" y="1001877"/>
                  </a:lnTo>
                  <a:cubicBezTo>
                    <a:pt x="30828" y="1001877"/>
                    <a:pt x="20157" y="997457"/>
                    <a:pt x="12288" y="989589"/>
                  </a:cubicBezTo>
                  <a:cubicBezTo>
                    <a:pt x="4420" y="981721"/>
                    <a:pt x="0" y="971049"/>
                    <a:pt x="0" y="959922"/>
                  </a:cubicBezTo>
                  <a:lnTo>
                    <a:pt x="0" y="41955"/>
                  </a:lnTo>
                  <a:cubicBezTo>
                    <a:pt x="0" y="30828"/>
                    <a:pt x="4420" y="20157"/>
                    <a:pt x="12288" y="12288"/>
                  </a:cubicBezTo>
                  <a:cubicBezTo>
                    <a:pt x="20157" y="4420"/>
                    <a:pt x="30828" y="0"/>
                    <a:pt x="41955" y="0"/>
                  </a:cubicBezTo>
                  <a:close/>
                </a:path>
              </a:pathLst>
            </a:custGeom>
            <a:solidFill>
              <a:srgbClr val="1E5C96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19050"/>
              <a:ext cx="2927707" cy="98282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134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235198" y="8073470"/>
            <a:ext cx="1949825" cy="1949825"/>
          </a:xfrm>
          <a:custGeom>
            <a:avLst/>
            <a:gdLst/>
            <a:ahLst/>
            <a:cxnLst/>
            <a:rect r="r" b="b" t="t" l="l"/>
            <a:pathLst>
              <a:path h="1949825" w="1949825">
                <a:moveTo>
                  <a:pt x="0" y="0"/>
                </a:moveTo>
                <a:lnTo>
                  <a:pt x="1949825" y="0"/>
                </a:lnTo>
                <a:lnTo>
                  <a:pt x="1949825" y="1949825"/>
                </a:lnTo>
                <a:lnTo>
                  <a:pt x="0" y="194982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572978" y="535664"/>
            <a:ext cx="7505366" cy="809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581"/>
              </a:lnSpc>
            </a:pPr>
            <a:r>
              <a:rPr lang="en-US" sz="4701" b="true">
                <a:solidFill>
                  <a:srgbClr val="1E5C96"/>
                </a:solidFill>
                <a:latin typeface="Unbounded Bold"/>
                <a:ea typeface="Unbounded Bold"/>
                <a:cs typeface="Unbounded Bold"/>
                <a:sym typeface="Unbounded Bold"/>
              </a:rPr>
              <a:t>EN RUTA: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185023" y="8102045"/>
            <a:ext cx="7358549" cy="4294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14"/>
              </a:lnSpc>
            </a:pPr>
            <a:r>
              <a:rPr lang="en-US" sz="3076" b="true">
                <a:solidFill>
                  <a:srgbClr val="CAED69"/>
                </a:solidFill>
                <a:latin typeface="Poppins Bold"/>
                <a:ea typeface="Poppins Bold"/>
                <a:cs typeface="Poppins Bold"/>
                <a:sym typeface="Poppins Bold"/>
              </a:rPr>
              <a:t>SANCIONES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185023" y="8626767"/>
            <a:ext cx="4814463" cy="1285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14"/>
              </a:lnSpc>
            </a:pPr>
            <a:r>
              <a:rPr lang="en-US" sz="1428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El fraude, la suplantación, la manipulación de tiempos, los cortes de recorrido o las agresiones al personal pueden producir </a:t>
            </a:r>
            <a:r>
              <a:rPr lang="en-US" sz="1428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descalificación</a:t>
            </a:r>
            <a:r>
              <a:rPr lang="en-US" sz="1428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y </a:t>
            </a:r>
            <a:r>
              <a:rPr lang="en-US" sz="1428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veto de por vida </a:t>
            </a:r>
            <a:r>
              <a:rPr lang="en-US" sz="1428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en competencias organizadas por la Fundación 7 Colores, según el reglamento 2026.</a:t>
            </a:r>
          </a:p>
          <a:p>
            <a:pPr algn="l">
              <a:lnSpc>
                <a:spcPts val="1714"/>
              </a:lnSpc>
            </a:pPr>
          </a:p>
        </p:txBody>
      </p:sp>
      <p:sp>
        <p:nvSpPr>
          <p:cNvPr name="AutoShape 10" id="10"/>
          <p:cNvSpPr/>
          <p:nvPr/>
        </p:nvSpPr>
        <p:spPr>
          <a:xfrm flipV="true">
            <a:off x="3799050" y="2178156"/>
            <a:ext cx="9525" cy="5113559"/>
          </a:xfrm>
          <a:prstGeom prst="line">
            <a:avLst/>
          </a:prstGeom>
          <a:ln cap="rnd" w="38100">
            <a:solidFill>
              <a:srgbClr val="CAED69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1" id="11"/>
          <p:cNvSpPr txBox="true"/>
          <p:nvPr/>
        </p:nvSpPr>
        <p:spPr>
          <a:xfrm rot="0">
            <a:off x="572978" y="1214464"/>
            <a:ext cx="8632814" cy="4609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31"/>
              </a:lnSpc>
            </a:pPr>
            <a:r>
              <a:rPr lang="en-US" sz="2665" b="true">
                <a:solidFill>
                  <a:srgbClr val="2DA7B1"/>
                </a:solidFill>
                <a:latin typeface="Unbounded Bold"/>
                <a:ea typeface="Unbounded Bold"/>
                <a:cs typeface="Unbounded Bold"/>
                <a:sym typeface="Unbounded Bold"/>
              </a:rPr>
              <a:t>10 REGLAS QUE DEBES SABER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572978" y="2254441"/>
            <a:ext cx="2235538" cy="2267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07"/>
              </a:lnSpc>
            </a:pPr>
            <a:r>
              <a:rPr lang="en-US" sz="1640" b="true">
                <a:solidFill>
                  <a:srgbClr val="1E5C96"/>
                </a:solidFill>
                <a:latin typeface="Poppins Bold"/>
                <a:ea typeface="Poppins Bold"/>
                <a:cs typeface="Poppins Bold"/>
                <a:sym typeface="Poppins Bold"/>
              </a:rPr>
              <a:t>DORSAL VISIBLE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575073" y="2587687"/>
            <a:ext cx="3148547" cy="2965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78"/>
              </a:lnSpc>
            </a:pPr>
            <a:r>
              <a:rPr lang="en-US" sz="1240" b="true">
                <a:solidFill>
                  <a:srgbClr val="1E5C96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Llévalo siempre al frente.</a:t>
            </a:r>
          </a:p>
          <a:p>
            <a:pPr algn="l">
              <a:lnSpc>
                <a:spcPts val="1178"/>
              </a:lnSpc>
            </a:pPr>
            <a:r>
              <a:rPr lang="en-US" sz="1240" b="true">
                <a:solidFill>
                  <a:srgbClr val="1E5C96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No lo alteres, intercambies ni cubras.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555118" y="3172099"/>
            <a:ext cx="2398149" cy="2246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04"/>
              </a:lnSpc>
            </a:pPr>
            <a:r>
              <a:rPr lang="en-US" sz="1636" b="true">
                <a:solidFill>
                  <a:srgbClr val="1E5C96"/>
                </a:solidFill>
                <a:latin typeface="Poppins Bold"/>
                <a:ea typeface="Poppins Bold"/>
                <a:cs typeface="Poppins Bold"/>
                <a:sym typeface="Poppins Bold"/>
              </a:rPr>
              <a:t>RECORRIDO OFICIAL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553024" y="3480190"/>
            <a:ext cx="3135468" cy="438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80"/>
              </a:lnSpc>
            </a:pPr>
            <a:r>
              <a:rPr lang="en-US" sz="1242" b="true">
                <a:solidFill>
                  <a:srgbClr val="1E5C96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Correr únicamente la ruta de tu distancia. Los cortes de ruta o atajos son causal de descalificación.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555118" y="4204440"/>
            <a:ext cx="2398149" cy="2246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04"/>
              </a:lnSpc>
            </a:pPr>
            <a:r>
              <a:rPr lang="en-US" sz="1636" b="true">
                <a:solidFill>
                  <a:srgbClr val="1E5C96"/>
                </a:solidFill>
                <a:latin typeface="Poppins Bold"/>
                <a:ea typeface="Poppins Bold"/>
                <a:cs typeface="Poppins Bold"/>
                <a:sym typeface="Poppins Bold"/>
              </a:rPr>
              <a:t>HIDRATACIÓN OFICIAL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553024" y="4533872"/>
            <a:ext cx="3135468" cy="7235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80"/>
              </a:lnSpc>
            </a:pPr>
            <a:r>
              <a:rPr lang="en-US" sz="1242" b="true">
                <a:solidFill>
                  <a:srgbClr val="1E5C96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Utiliza los puntos oficiales de hidratación y abastecimiento. No está permitida la entega externa de hidratación o alimentación por terceros a corredores en movimiento.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553024" y="5470135"/>
            <a:ext cx="2398149" cy="2246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04"/>
              </a:lnSpc>
            </a:pPr>
            <a:r>
              <a:rPr lang="en-US" sz="1636" b="true">
                <a:solidFill>
                  <a:srgbClr val="1E5C96"/>
                </a:solidFill>
                <a:latin typeface="Poppins Bold"/>
                <a:ea typeface="Poppins Bold"/>
                <a:cs typeface="Poppins Bold"/>
                <a:sym typeface="Poppins Bold"/>
              </a:rPr>
              <a:t>SIN VENTAJA EXTERNA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553547" y="5799567"/>
            <a:ext cx="3135468" cy="2959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80"/>
              </a:lnSpc>
            </a:pPr>
            <a:r>
              <a:rPr lang="en-US" sz="1242" b="true">
                <a:solidFill>
                  <a:srgbClr val="1E5C96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No recibas asistencia externa que pueda darte una ventaja deportiva.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553024" y="6381275"/>
            <a:ext cx="2529959" cy="2246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04"/>
              </a:lnSpc>
            </a:pPr>
            <a:r>
              <a:rPr lang="en-US" sz="1636" b="true">
                <a:solidFill>
                  <a:srgbClr val="1E5C96"/>
                </a:solidFill>
                <a:latin typeface="Poppins Bold"/>
                <a:ea typeface="Poppins Bold"/>
                <a:cs typeface="Poppins Bold"/>
                <a:sym typeface="Poppins Bold"/>
              </a:rPr>
              <a:t>SIN ACOMPAÑAMIENTO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553024" y="6710707"/>
            <a:ext cx="3135468" cy="5810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80"/>
              </a:lnSpc>
            </a:pPr>
            <a:r>
              <a:rPr lang="en-US" sz="1242" b="true">
                <a:solidFill>
                  <a:srgbClr val="1E5C96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No puedes ser acompañado en bicicleta, patines, scooter, motobicicleta, automóvil ni otro vehículo.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4211444" y="2254441"/>
            <a:ext cx="2400783" cy="224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05"/>
              </a:lnSpc>
            </a:pPr>
            <a:r>
              <a:rPr lang="en-US" sz="1638" b="true">
                <a:solidFill>
                  <a:srgbClr val="1E5C96"/>
                </a:solidFill>
                <a:latin typeface="Poppins Bold"/>
                <a:ea typeface="Poppins Bold"/>
                <a:cs typeface="Poppins Bold"/>
                <a:sym typeface="Poppins Bold"/>
              </a:rPr>
              <a:t>SIN MASCOTAS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4212492" y="2515869"/>
            <a:ext cx="3138912" cy="2963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81"/>
              </a:lnSpc>
            </a:pPr>
            <a:r>
              <a:rPr lang="en-US" sz="1243" b="true">
                <a:solidFill>
                  <a:srgbClr val="1E5C96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No está permitido correr acompañado de mascotas.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4212492" y="4204172"/>
            <a:ext cx="2400783" cy="224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05"/>
              </a:lnSpc>
            </a:pPr>
            <a:r>
              <a:rPr lang="en-US" sz="1638" b="true">
                <a:solidFill>
                  <a:srgbClr val="1E5C96"/>
                </a:solidFill>
                <a:latin typeface="Poppins Bold"/>
                <a:ea typeface="Poppins Bold"/>
                <a:cs typeface="Poppins Bold"/>
                <a:sym typeface="Poppins Bold"/>
              </a:rPr>
              <a:t>AURICULARES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4212492" y="4533872"/>
            <a:ext cx="3138912" cy="5817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81"/>
              </a:lnSpc>
            </a:pPr>
            <a:r>
              <a:rPr lang="en-US" sz="1243" b="true">
                <a:solidFill>
                  <a:srgbClr val="1E5C96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Permitidos bajo tu responsabilidad.</a:t>
            </a:r>
          </a:p>
          <a:p>
            <a:pPr algn="l">
              <a:lnSpc>
                <a:spcPts val="1181"/>
              </a:lnSpc>
            </a:pPr>
            <a:r>
              <a:rPr lang="en-US" sz="1243" b="true">
                <a:solidFill>
                  <a:srgbClr val="1E5C96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Mantén la capacidad de escuchar instrucciones y lo que ocurre a tu alrededor.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4212492" y="3171831"/>
            <a:ext cx="2925674" cy="224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05"/>
              </a:lnSpc>
            </a:pPr>
            <a:r>
              <a:rPr lang="en-US" sz="1638" b="true">
                <a:solidFill>
                  <a:srgbClr val="1E5C96"/>
                </a:solidFill>
                <a:latin typeface="Poppins Bold"/>
                <a:ea typeface="Poppins Bold"/>
                <a:cs typeface="Poppins Bold"/>
                <a:sym typeface="Poppins Bold"/>
              </a:rPr>
              <a:t>SIGUE LAS INDICACIONES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4211444" y="3516548"/>
            <a:ext cx="3138912" cy="2963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81"/>
              </a:lnSpc>
            </a:pPr>
            <a:r>
              <a:rPr lang="en-US" sz="1243" b="true">
                <a:solidFill>
                  <a:srgbClr val="1E5C96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Atiende siempre a jueces, logística, seguridad y personal médico.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4211444" y="5425989"/>
            <a:ext cx="2400783" cy="224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05"/>
              </a:lnSpc>
            </a:pPr>
            <a:r>
              <a:rPr lang="en-US" sz="1638" b="true">
                <a:solidFill>
                  <a:srgbClr val="1E5C96"/>
                </a:solidFill>
                <a:latin typeface="Poppins Bold"/>
                <a:ea typeface="Poppins Bold"/>
                <a:cs typeface="Poppins Bold"/>
                <a:sym typeface="Poppins Bold"/>
              </a:rPr>
              <a:t>SI ABANDONAS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4211444" y="5799211"/>
            <a:ext cx="3138912" cy="2963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81"/>
              </a:lnSpc>
            </a:pPr>
            <a:r>
              <a:rPr lang="en-US" sz="1243" b="true">
                <a:solidFill>
                  <a:srgbClr val="1E5C96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Informa a un integrante del equipo oficial.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4212492" y="6357262"/>
            <a:ext cx="2532738" cy="224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05"/>
              </a:lnSpc>
            </a:pPr>
            <a:r>
              <a:rPr lang="en-US" sz="1638" b="true">
                <a:solidFill>
                  <a:srgbClr val="1E5C96"/>
                </a:solidFill>
                <a:latin typeface="Poppins Bold"/>
                <a:ea typeface="Poppins Bold"/>
                <a:cs typeface="Poppins Bold"/>
                <a:sym typeface="Poppins Bold"/>
              </a:rPr>
              <a:t>CUIDA A SAN ANDRÉS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4211444" y="6710707"/>
            <a:ext cx="3138912" cy="5817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81"/>
              </a:lnSpc>
            </a:pPr>
            <a:r>
              <a:rPr lang="en-US" sz="1243" b="true">
                <a:solidFill>
                  <a:srgbClr val="1E5C96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Deposita los residuos únicamente en los lugares habilitados. Mantengamos la isla limpia para que todos podamos seguir disfrutándola.</a:t>
            </a:r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E5C9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7560000" cy="10701632"/>
          </a:xfrm>
          <a:custGeom>
            <a:avLst/>
            <a:gdLst/>
            <a:ahLst/>
            <a:cxnLst/>
            <a:rect r="r" b="b" t="t" l="l"/>
            <a:pathLst>
              <a:path h="10701632" w="7560000">
                <a:moveTo>
                  <a:pt x="0" y="0"/>
                </a:moveTo>
                <a:lnTo>
                  <a:pt x="7560000" y="0"/>
                </a:lnTo>
                <a:lnTo>
                  <a:pt x="7560000" y="10701632"/>
                </a:lnTo>
                <a:lnTo>
                  <a:pt x="0" y="1070163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44999"/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756000" y="353172"/>
            <a:ext cx="4352255" cy="11464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258"/>
              </a:lnSpc>
            </a:pPr>
            <a:r>
              <a:rPr lang="en-US" sz="6613" b="true">
                <a:solidFill>
                  <a:srgbClr val="FFFFFF"/>
                </a:solidFill>
                <a:latin typeface="Unbounded Bold"/>
                <a:ea typeface="Unbounded Bold"/>
                <a:cs typeface="Unbounded Bold"/>
                <a:sym typeface="Unbounded Bold"/>
              </a:rPr>
              <a:t>CORTES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-270484" y="1248177"/>
            <a:ext cx="8100969" cy="977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811"/>
              </a:lnSpc>
            </a:pPr>
            <a:r>
              <a:rPr lang="en-US" sz="5579" b="true">
                <a:solidFill>
                  <a:srgbClr val="CAED69"/>
                </a:solidFill>
                <a:latin typeface="Unbounded Bold"/>
                <a:ea typeface="Unbounded Bold"/>
                <a:cs typeface="Unbounded Bold"/>
                <a:sym typeface="Unbounded Bold"/>
              </a:rPr>
              <a:t>Y SEGURIDAD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756000" y="2283352"/>
            <a:ext cx="5793963" cy="5679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96"/>
              </a:lnSpc>
            </a:pPr>
            <a:r>
              <a:rPr lang="en-US" sz="164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Tu seguridad es nuestra prioridad. Conoce los tiempos de corte y qué hacer en cada situación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559328" y="6044425"/>
            <a:ext cx="6000672" cy="3449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58"/>
              </a:lnSpc>
            </a:pPr>
            <a:r>
              <a:rPr lang="en-US" sz="2508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¿QUÉ PASA SI NO 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559328" y="6366295"/>
            <a:ext cx="6000672" cy="3449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58"/>
              </a:lnSpc>
            </a:pPr>
            <a:r>
              <a:rPr lang="en-US" sz="2508" b="true">
                <a:solidFill>
                  <a:srgbClr val="CAED69"/>
                </a:solidFill>
                <a:latin typeface="Poppins Bold"/>
                <a:ea typeface="Poppins Bold"/>
                <a:cs typeface="Poppins Bold"/>
                <a:sym typeface="Poppins Bold"/>
              </a:rPr>
              <a:t>CUMPLES UN CORTE?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559328" y="6796968"/>
            <a:ext cx="5325328" cy="9773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38"/>
              </a:lnSpc>
            </a:pPr>
            <a:r>
              <a:rPr lang="en-US" sz="1570" b="true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La Organización realizará un barrido progresivo del recorrido y la vía será reabierta por segmentos.</a:t>
            </a:r>
          </a:p>
          <a:p>
            <a:pPr algn="l">
              <a:lnSpc>
                <a:spcPts val="1538"/>
              </a:lnSpc>
            </a:pPr>
            <a:r>
              <a:rPr lang="en-US" sz="1570" b="true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Si superas un corte operativo deberás abandonar el circuito oficial o continuar por fuera de competencia, sin servicios oficiales ni clasificación.</a:t>
            </a:r>
          </a:p>
        </p:txBody>
      </p:sp>
      <p:sp>
        <p:nvSpPr>
          <p:cNvPr name="AutoShape 9" id="9"/>
          <p:cNvSpPr/>
          <p:nvPr/>
        </p:nvSpPr>
        <p:spPr>
          <a:xfrm flipV="true">
            <a:off x="1324682" y="6073000"/>
            <a:ext cx="0" cy="1701292"/>
          </a:xfrm>
          <a:prstGeom prst="line">
            <a:avLst/>
          </a:prstGeom>
          <a:ln cap="rnd" w="19050">
            <a:solidFill>
              <a:srgbClr val="CAED69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0" id="10"/>
          <p:cNvGrpSpPr/>
          <p:nvPr/>
        </p:nvGrpSpPr>
        <p:grpSpPr>
          <a:xfrm rot="0">
            <a:off x="255549" y="3101286"/>
            <a:ext cx="7151208" cy="2590715"/>
            <a:chOff x="0" y="0"/>
            <a:chExt cx="3066510" cy="1110925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3066510" cy="1110925"/>
            </a:xfrm>
            <a:custGeom>
              <a:avLst/>
              <a:gdLst/>
              <a:ahLst/>
              <a:cxnLst/>
              <a:rect r="r" b="b" t="t" l="l"/>
              <a:pathLst>
                <a:path h="1110925" w="3066510">
                  <a:moveTo>
                    <a:pt x="40056" y="0"/>
                  </a:moveTo>
                  <a:lnTo>
                    <a:pt x="3026454" y="0"/>
                  </a:lnTo>
                  <a:cubicBezTo>
                    <a:pt x="3048576" y="0"/>
                    <a:pt x="3066510" y="17934"/>
                    <a:pt x="3066510" y="40056"/>
                  </a:cubicBezTo>
                  <a:lnTo>
                    <a:pt x="3066510" y="1070868"/>
                  </a:lnTo>
                  <a:cubicBezTo>
                    <a:pt x="3066510" y="1081492"/>
                    <a:pt x="3062290" y="1091680"/>
                    <a:pt x="3054778" y="1099192"/>
                  </a:cubicBezTo>
                  <a:cubicBezTo>
                    <a:pt x="3047266" y="1106704"/>
                    <a:pt x="3037077" y="1110925"/>
                    <a:pt x="3026454" y="1110925"/>
                  </a:cubicBezTo>
                  <a:lnTo>
                    <a:pt x="40056" y="1110925"/>
                  </a:lnTo>
                  <a:cubicBezTo>
                    <a:pt x="29433" y="1110925"/>
                    <a:pt x="19244" y="1106704"/>
                    <a:pt x="11732" y="1099192"/>
                  </a:cubicBezTo>
                  <a:cubicBezTo>
                    <a:pt x="4220" y="1091680"/>
                    <a:pt x="0" y="1081492"/>
                    <a:pt x="0" y="1070868"/>
                  </a:cubicBezTo>
                  <a:lnTo>
                    <a:pt x="0" y="40056"/>
                  </a:lnTo>
                  <a:cubicBezTo>
                    <a:pt x="0" y="29433"/>
                    <a:pt x="4220" y="19244"/>
                    <a:pt x="11732" y="11732"/>
                  </a:cubicBezTo>
                  <a:cubicBezTo>
                    <a:pt x="19244" y="4220"/>
                    <a:pt x="29433" y="0"/>
                    <a:pt x="40056" y="0"/>
                  </a:cubicBezTo>
                  <a:close/>
                </a:path>
              </a:pathLst>
            </a:custGeom>
            <a:solidFill>
              <a:srgbClr val="CAED69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19050"/>
              <a:ext cx="3066510" cy="10918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134"/>
                </a:lnSpc>
              </a:pPr>
            </a:p>
          </p:txBody>
        </p:sp>
      </p:grpSp>
      <p:sp>
        <p:nvSpPr>
          <p:cNvPr name="Freeform 13" id="13"/>
          <p:cNvSpPr/>
          <p:nvPr/>
        </p:nvSpPr>
        <p:spPr>
          <a:xfrm flipH="false" flipV="false" rot="0">
            <a:off x="347092" y="3524629"/>
            <a:ext cx="1470334" cy="1422855"/>
          </a:xfrm>
          <a:custGeom>
            <a:avLst/>
            <a:gdLst/>
            <a:ahLst/>
            <a:cxnLst/>
            <a:rect r="r" b="b" t="t" l="l"/>
            <a:pathLst>
              <a:path h="1422855" w="1470334">
                <a:moveTo>
                  <a:pt x="0" y="0"/>
                </a:moveTo>
                <a:lnTo>
                  <a:pt x="1470334" y="0"/>
                </a:lnTo>
                <a:lnTo>
                  <a:pt x="1470334" y="1422855"/>
                </a:lnTo>
                <a:lnTo>
                  <a:pt x="0" y="14228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5891" t="0" r="0" b="0"/>
            </a:stretch>
          </a:blipFill>
        </p:spPr>
      </p:sp>
      <p:grpSp>
        <p:nvGrpSpPr>
          <p:cNvPr name="Group 14" id="14"/>
          <p:cNvGrpSpPr/>
          <p:nvPr/>
        </p:nvGrpSpPr>
        <p:grpSpPr>
          <a:xfrm rot="0">
            <a:off x="1868316" y="3288720"/>
            <a:ext cx="2548800" cy="414579"/>
            <a:chOff x="0" y="0"/>
            <a:chExt cx="823678" cy="133976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23678" cy="133976"/>
            </a:xfrm>
            <a:custGeom>
              <a:avLst/>
              <a:gdLst/>
              <a:ahLst/>
              <a:cxnLst/>
              <a:rect r="r" b="b" t="t" l="l"/>
              <a:pathLst>
                <a:path h="133976" w="823678">
                  <a:moveTo>
                    <a:pt x="48600" y="0"/>
                  </a:moveTo>
                  <a:lnTo>
                    <a:pt x="775078" y="0"/>
                  </a:lnTo>
                  <a:cubicBezTo>
                    <a:pt x="787968" y="0"/>
                    <a:pt x="800329" y="5120"/>
                    <a:pt x="809443" y="14234"/>
                  </a:cubicBezTo>
                  <a:cubicBezTo>
                    <a:pt x="818557" y="23349"/>
                    <a:pt x="823678" y="35710"/>
                    <a:pt x="823678" y="48600"/>
                  </a:cubicBezTo>
                  <a:lnTo>
                    <a:pt x="823678" y="85377"/>
                  </a:lnTo>
                  <a:cubicBezTo>
                    <a:pt x="823678" y="112218"/>
                    <a:pt x="801919" y="133976"/>
                    <a:pt x="775078" y="133976"/>
                  </a:cubicBezTo>
                  <a:lnTo>
                    <a:pt x="48600" y="133976"/>
                  </a:lnTo>
                  <a:cubicBezTo>
                    <a:pt x="21759" y="133976"/>
                    <a:pt x="0" y="112218"/>
                    <a:pt x="0" y="85377"/>
                  </a:cubicBezTo>
                  <a:lnTo>
                    <a:pt x="0" y="48600"/>
                  </a:lnTo>
                  <a:cubicBezTo>
                    <a:pt x="0" y="21759"/>
                    <a:pt x="21759" y="0"/>
                    <a:pt x="48600" y="0"/>
                  </a:cubicBezTo>
                  <a:close/>
                </a:path>
              </a:pathLst>
            </a:custGeom>
            <a:solidFill>
              <a:srgbClr val="1E5C96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19050"/>
              <a:ext cx="823678" cy="11492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134"/>
                </a:lnSpc>
              </a:pPr>
            </a:p>
          </p:txBody>
        </p:sp>
      </p:grpSp>
      <p:sp>
        <p:nvSpPr>
          <p:cNvPr name="Freeform 17" id="17"/>
          <p:cNvSpPr/>
          <p:nvPr/>
        </p:nvSpPr>
        <p:spPr>
          <a:xfrm flipH="false" flipV="false" rot="0">
            <a:off x="3068452" y="4622324"/>
            <a:ext cx="344138" cy="235735"/>
          </a:xfrm>
          <a:custGeom>
            <a:avLst/>
            <a:gdLst/>
            <a:ahLst/>
            <a:cxnLst/>
            <a:rect r="r" b="b" t="t" l="l"/>
            <a:pathLst>
              <a:path h="235735" w="344138">
                <a:moveTo>
                  <a:pt x="0" y="0"/>
                </a:moveTo>
                <a:lnTo>
                  <a:pt x="344138" y="0"/>
                </a:lnTo>
                <a:lnTo>
                  <a:pt x="344138" y="235734"/>
                </a:lnTo>
                <a:lnTo>
                  <a:pt x="0" y="23573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1976168" y="3368494"/>
            <a:ext cx="4709154" cy="2740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29"/>
              </a:lnSpc>
            </a:pPr>
            <a:r>
              <a:rPr lang="en-US" sz="1968" b="true">
                <a:solidFill>
                  <a:srgbClr val="CAED69"/>
                </a:solidFill>
                <a:latin typeface="Poppins Bold"/>
                <a:ea typeface="Poppins Bold"/>
                <a:cs typeface="Poppins Bold"/>
                <a:sym typeface="Poppins Bold"/>
              </a:rPr>
              <a:t>CORTE OPERATIVO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916737" y="3797893"/>
            <a:ext cx="4709154" cy="4381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07"/>
              </a:lnSpc>
            </a:pPr>
            <a:r>
              <a:rPr lang="en-US" sz="3068" b="true">
                <a:solidFill>
                  <a:srgbClr val="1E5C96"/>
                </a:solidFill>
                <a:latin typeface="Poppins Bold"/>
                <a:ea typeface="Poppins Bold"/>
                <a:cs typeface="Poppins Bold"/>
                <a:sym typeface="Poppins Bold"/>
              </a:rPr>
              <a:t>5 HORAS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916737" y="4158358"/>
            <a:ext cx="4709154" cy="1268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44"/>
              </a:lnSpc>
            </a:pPr>
            <a:r>
              <a:rPr lang="en-US" sz="994" b="true">
                <a:solidFill>
                  <a:srgbClr val="1E5C96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DURACIÓN MÁXIMA PREVISTA DEL EVENTO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786051" y="4635917"/>
            <a:ext cx="4709154" cy="2275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35"/>
              </a:lnSpc>
            </a:pPr>
            <a:r>
              <a:rPr lang="en-US" sz="1668" b="true">
                <a:solidFill>
                  <a:srgbClr val="1E5C96"/>
                </a:solidFill>
                <a:latin typeface="Poppins Bold"/>
                <a:ea typeface="Poppins Bold"/>
                <a:cs typeface="Poppins Bold"/>
                <a:sym typeface="Poppins Bold"/>
              </a:rPr>
              <a:t>4:30 A. M.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3575231" y="4641381"/>
            <a:ext cx="4709154" cy="2275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35"/>
              </a:lnSpc>
            </a:pPr>
            <a:r>
              <a:rPr lang="en-US" sz="1668" b="true">
                <a:solidFill>
                  <a:srgbClr val="1E5C96"/>
                </a:solidFill>
                <a:latin typeface="Poppins Bold"/>
                <a:ea typeface="Poppins Bold"/>
                <a:cs typeface="Poppins Bold"/>
                <a:sym typeface="Poppins Bold"/>
              </a:rPr>
              <a:t>9:30 A. M.</a:t>
            </a:r>
          </a:p>
        </p:txBody>
      </p:sp>
      <p:sp>
        <p:nvSpPr>
          <p:cNvPr name="AutoShape 23" id="23"/>
          <p:cNvSpPr/>
          <p:nvPr/>
        </p:nvSpPr>
        <p:spPr>
          <a:xfrm flipV="true">
            <a:off x="4812129" y="3849364"/>
            <a:ext cx="0" cy="1098120"/>
          </a:xfrm>
          <a:prstGeom prst="line">
            <a:avLst/>
          </a:prstGeom>
          <a:ln cap="rnd" w="19050">
            <a:solidFill>
              <a:srgbClr val="1E5C9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24" id="24"/>
          <p:cNvSpPr txBox="true"/>
          <p:nvPr/>
        </p:nvSpPr>
        <p:spPr>
          <a:xfrm rot="0">
            <a:off x="5106338" y="3680675"/>
            <a:ext cx="4709154" cy="4381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07"/>
              </a:lnSpc>
            </a:pPr>
            <a:r>
              <a:rPr lang="en-US" sz="3068" b="true">
                <a:solidFill>
                  <a:srgbClr val="1E5C96"/>
                </a:solidFill>
                <a:latin typeface="Poppins Bold"/>
                <a:ea typeface="Poppins Bold"/>
                <a:cs typeface="Poppins Bold"/>
                <a:sym typeface="Poppins Bold"/>
              </a:rPr>
              <a:t>42K y 32K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5106338" y="4158358"/>
            <a:ext cx="4709154" cy="3268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29"/>
              </a:lnSpc>
            </a:pPr>
            <a:r>
              <a:rPr lang="en-US" sz="1294" b="true">
                <a:solidFill>
                  <a:srgbClr val="1E5C96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PUNTO DE CORTE </a:t>
            </a:r>
          </a:p>
          <a:p>
            <a:pPr algn="l">
              <a:lnSpc>
                <a:spcPts val="1229"/>
              </a:lnSpc>
            </a:pPr>
            <a:r>
              <a:rPr lang="en-US" sz="1294" b="true">
                <a:solidFill>
                  <a:srgbClr val="1E5C96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ANTES DE LAS</a:t>
            </a:r>
          </a:p>
        </p:txBody>
      </p:sp>
      <p:grpSp>
        <p:nvGrpSpPr>
          <p:cNvPr name="Group 26" id="26"/>
          <p:cNvGrpSpPr/>
          <p:nvPr/>
        </p:nvGrpSpPr>
        <p:grpSpPr>
          <a:xfrm rot="0">
            <a:off x="5052412" y="4532906"/>
            <a:ext cx="1442793" cy="414579"/>
            <a:chOff x="0" y="0"/>
            <a:chExt cx="466257" cy="133976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466257" cy="133976"/>
            </a:xfrm>
            <a:custGeom>
              <a:avLst/>
              <a:gdLst/>
              <a:ahLst/>
              <a:cxnLst/>
              <a:rect r="r" b="b" t="t" l="l"/>
              <a:pathLst>
                <a:path h="133976" w="466257">
                  <a:moveTo>
                    <a:pt x="66988" y="0"/>
                  </a:moveTo>
                  <a:lnTo>
                    <a:pt x="399269" y="0"/>
                  </a:lnTo>
                  <a:cubicBezTo>
                    <a:pt x="417035" y="0"/>
                    <a:pt x="434074" y="7058"/>
                    <a:pt x="446637" y="19620"/>
                  </a:cubicBezTo>
                  <a:cubicBezTo>
                    <a:pt x="459200" y="32183"/>
                    <a:pt x="466257" y="49222"/>
                    <a:pt x="466257" y="66988"/>
                  </a:cubicBezTo>
                  <a:lnTo>
                    <a:pt x="466257" y="66988"/>
                  </a:lnTo>
                  <a:cubicBezTo>
                    <a:pt x="466257" y="103985"/>
                    <a:pt x="436266" y="133976"/>
                    <a:pt x="399269" y="133976"/>
                  </a:cubicBezTo>
                  <a:lnTo>
                    <a:pt x="66988" y="133976"/>
                  </a:lnTo>
                  <a:cubicBezTo>
                    <a:pt x="29992" y="133976"/>
                    <a:pt x="0" y="103985"/>
                    <a:pt x="0" y="66988"/>
                  </a:cubicBezTo>
                  <a:lnTo>
                    <a:pt x="0" y="66988"/>
                  </a:lnTo>
                  <a:cubicBezTo>
                    <a:pt x="0" y="29992"/>
                    <a:pt x="29992" y="0"/>
                    <a:pt x="66988" y="0"/>
                  </a:cubicBezTo>
                  <a:close/>
                </a:path>
              </a:pathLst>
            </a:custGeom>
            <a:solidFill>
              <a:srgbClr val="1E5C96"/>
            </a:solidFill>
          </p:spPr>
        </p:sp>
        <p:sp>
          <p:nvSpPr>
            <p:cNvPr name="TextBox 28" id="28"/>
            <p:cNvSpPr txBox="true"/>
            <p:nvPr/>
          </p:nvSpPr>
          <p:spPr>
            <a:xfrm>
              <a:off x="0" y="19050"/>
              <a:ext cx="466257" cy="11492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134"/>
                </a:lnSpc>
              </a:pPr>
            </a:p>
          </p:txBody>
        </p:sp>
      </p:grpSp>
      <p:sp>
        <p:nvSpPr>
          <p:cNvPr name="TextBox 29" id="29"/>
          <p:cNvSpPr txBox="true"/>
          <p:nvPr/>
        </p:nvSpPr>
        <p:spPr>
          <a:xfrm rot="0">
            <a:off x="5160265" y="4612680"/>
            <a:ext cx="4709154" cy="2740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29"/>
              </a:lnSpc>
            </a:pPr>
            <a:r>
              <a:rPr lang="en-US" sz="1968" b="true">
                <a:solidFill>
                  <a:srgbClr val="CAED69"/>
                </a:solidFill>
                <a:latin typeface="Poppins Bold"/>
                <a:ea typeface="Poppins Bold"/>
                <a:cs typeface="Poppins Bold"/>
                <a:sym typeface="Poppins Bold"/>
              </a:rPr>
              <a:t>8:30 A.M.</a:t>
            </a:r>
          </a:p>
        </p:txBody>
      </p:sp>
      <p:sp>
        <p:nvSpPr>
          <p:cNvPr name="AutoShape 30" id="30"/>
          <p:cNvSpPr/>
          <p:nvPr/>
        </p:nvSpPr>
        <p:spPr>
          <a:xfrm>
            <a:off x="255549" y="5112475"/>
            <a:ext cx="7120387" cy="0"/>
          </a:xfrm>
          <a:prstGeom prst="line">
            <a:avLst/>
          </a:prstGeom>
          <a:ln cap="rnd" w="19050">
            <a:solidFill>
              <a:srgbClr val="1E5C9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31" id="31"/>
          <p:cNvSpPr txBox="true"/>
          <p:nvPr/>
        </p:nvSpPr>
        <p:spPr>
          <a:xfrm rot="0">
            <a:off x="1476576" y="5219142"/>
            <a:ext cx="4709154" cy="2728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39"/>
              </a:lnSpc>
            </a:pPr>
            <a:r>
              <a:rPr lang="en-US" b="true" sz="1094">
                <a:solidFill>
                  <a:srgbClr val="1E5C96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El sector exacto será informado por la Organización. Quien no cumpla el corte podrá ser retirado del circuito.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651411" y="8298168"/>
            <a:ext cx="6000672" cy="3463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58"/>
              </a:lnSpc>
            </a:pPr>
            <a:r>
              <a:rPr lang="en-US" sz="2508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SI NECESITAS AYUDA, </a:t>
            </a:r>
            <a:r>
              <a:rPr lang="en-US" sz="2508" b="true">
                <a:solidFill>
                  <a:srgbClr val="CAED69"/>
                </a:solidFill>
                <a:latin typeface="Poppins Bold"/>
                <a:ea typeface="Poppins Bold"/>
                <a:cs typeface="Poppins Bold"/>
                <a:sym typeface="Poppins Bold"/>
              </a:rPr>
              <a:t>PÍDELA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651411" y="8711159"/>
            <a:ext cx="6569162" cy="13880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44"/>
              </a:lnSpc>
            </a:pPr>
            <a:r>
              <a:rPr lang="en-US" sz="1270" b="true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La carrera contará con atención médica, ambulancias, personal de primeros auxilios y equipos de respuesta en ruta y meta.</a:t>
            </a:r>
          </a:p>
          <a:p>
            <a:pPr algn="l">
              <a:lnSpc>
                <a:spcPts val="1244"/>
              </a:lnSpc>
            </a:pPr>
            <a:r>
              <a:rPr lang="en-US" sz="1270" b="true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Si tú u otro corredor presentan una emergencia, informa inmediatamente al personal de la Organización, Salud o Seguridad.</a:t>
            </a:r>
          </a:p>
          <a:p>
            <a:pPr algn="l">
              <a:lnSpc>
                <a:spcPts val="1244"/>
              </a:lnSpc>
            </a:pPr>
          </a:p>
          <a:p>
            <a:pPr algn="l">
              <a:lnSpc>
                <a:spcPts val="1244"/>
              </a:lnSpc>
            </a:pPr>
            <a:r>
              <a:rPr lang="en-US" sz="1270" b="true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La seguridad está primero. Jueces y personal oficial podrán retirar del recorrido a un corredor cuando exista un riesgo médico evidente o una situación que comprometa su seguridad.</a:t>
            </a:r>
          </a:p>
          <a:p>
            <a:pPr algn="l">
              <a:lnSpc>
                <a:spcPts val="1244"/>
              </a:lnSpc>
            </a:pPr>
          </a:p>
        </p:txBody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E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7560000" cy="10692000"/>
          </a:xfrm>
          <a:custGeom>
            <a:avLst/>
            <a:gdLst/>
            <a:ahLst/>
            <a:cxnLst/>
            <a:rect r="r" b="b" t="t" l="l"/>
            <a:pathLst>
              <a:path h="10692000" w="7560000">
                <a:moveTo>
                  <a:pt x="0" y="0"/>
                </a:moveTo>
                <a:lnTo>
                  <a:pt x="7560000" y="0"/>
                </a:lnTo>
                <a:lnTo>
                  <a:pt x="7560000" y="10692000"/>
                </a:lnTo>
                <a:lnTo>
                  <a:pt x="0" y="10692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45" r="0" b="-45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417340" y="670275"/>
            <a:ext cx="6691290" cy="760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111"/>
              </a:lnSpc>
            </a:pPr>
            <a:r>
              <a:rPr lang="en-US" sz="4365" b="true">
                <a:solidFill>
                  <a:srgbClr val="2DA7B1"/>
                </a:solidFill>
                <a:latin typeface="Unbounded Bold"/>
                <a:ea typeface="Unbounded Bold"/>
                <a:cs typeface="Unbounded Bold"/>
                <a:sym typeface="Unbounded Bold"/>
              </a:rPr>
              <a:t>CALOR, HUMEDAD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417340" y="1205050"/>
            <a:ext cx="7505366" cy="7036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601"/>
              </a:lnSpc>
            </a:pPr>
            <a:r>
              <a:rPr lang="en-US" sz="4001" b="true">
                <a:solidFill>
                  <a:srgbClr val="1E5C96"/>
                </a:solidFill>
                <a:latin typeface="Unbounded Bold"/>
                <a:ea typeface="Unbounded Bold"/>
                <a:cs typeface="Unbounded Bold"/>
                <a:sym typeface="Unbounded Bold"/>
              </a:rPr>
              <a:t>Y PROTOCOLO WBGT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417340" y="2216328"/>
            <a:ext cx="5760702" cy="13327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39"/>
              </a:lnSpc>
            </a:pPr>
            <a:r>
              <a:rPr lang="en-US" sz="1528">
                <a:solidFill>
                  <a:srgbClr val="1E5C96"/>
                </a:solidFill>
                <a:latin typeface="Poppins"/>
                <a:ea typeface="Poppins"/>
                <a:cs typeface="Poppins"/>
                <a:sym typeface="Poppins"/>
              </a:rPr>
              <a:t>El reglamento 2026 prevé monitoreo WBGT para valorar el estrés térmico y escalar recomendaciones operativas.</a:t>
            </a:r>
          </a:p>
          <a:p>
            <a:pPr algn="l">
              <a:lnSpc>
                <a:spcPts val="2139"/>
              </a:lnSpc>
            </a:pPr>
          </a:p>
          <a:p>
            <a:pPr algn="l">
              <a:lnSpc>
                <a:spcPts val="2139"/>
              </a:lnSpc>
            </a:pPr>
            <a:r>
              <a:rPr lang="en-US" sz="1528">
                <a:solidFill>
                  <a:srgbClr val="1E5C96"/>
                </a:solidFill>
                <a:latin typeface="Poppins"/>
                <a:ea typeface="Poppins"/>
                <a:cs typeface="Poppins"/>
                <a:sym typeface="Poppins"/>
              </a:rPr>
              <a:t>La O</a:t>
            </a:r>
            <a:r>
              <a:rPr lang="en-US" sz="1528">
                <a:solidFill>
                  <a:srgbClr val="1E5C96"/>
                </a:solidFill>
                <a:latin typeface="Poppins"/>
                <a:ea typeface="Poppins"/>
                <a:cs typeface="Poppins"/>
                <a:sym typeface="Poppins"/>
              </a:rPr>
              <a:t>rganizaci</a:t>
            </a:r>
            <a:r>
              <a:rPr lang="en-US" sz="1528">
                <a:solidFill>
                  <a:srgbClr val="1E5C96"/>
                </a:solidFill>
                <a:latin typeface="Poppins"/>
                <a:ea typeface="Poppins"/>
                <a:cs typeface="Poppins"/>
                <a:sym typeface="Poppins"/>
              </a:rPr>
              <a:t>ón</a:t>
            </a:r>
            <a:r>
              <a:rPr lang="en-US" sz="1528">
                <a:solidFill>
                  <a:srgbClr val="1E5C96"/>
                </a:solidFill>
                <a:latin typeface="Poppins"/>
                <a:ea typeface="Poppins"/>
                <a:cs typeface="Poppins"/>
                <a:sym typeface="Poppins"/>
              </a:rPr>
              <a:t> p</a:t>
            </a:r>
            <a:r>
              <a:rPr lang="en-US" sz="1528">
                <a:solidFill>
                  <a:srgbClr val="1E5C96"/>
                </a:solidFill>
                <a:latin typeface="Poppins"/>
                <a:ea typeface="Poppins"/>
                <a:cs typeface="Poppins"/>
                <a:sym typeface="Poppins"/>
              </a:rPr>
              <a:t>od</a:t>
            </a:r>
            <a:r>
              <a:rPr lang="en-US" sz="1528">
                <a:solidFill>
                  <a:srgbClr val="1E5C96"/>
                </a:solidFill>
                <a:latin typeface="Poppins"/>
                <a:ea typeface="Poppins"/>
                <a:cs typeface="Poppins"/>
                <a:sym typeface="Poppins"/>
              </a:rPr>
              <a:t>rá</a:t>
            </a:r>
            <a:r>
              <a:rPr lang="en-US" sz="1528">
                <a:solidFill>
                  <a:srgbClr val="1E5C96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sz="1528">
                <a:solidFill>
                  <a:srgbClr val="1E5C96"/>
                </a:solidFill>
                <a:latin typeface="Poppins"/>
                <a:ea typeface="Poppins"/>
                <a:cs typeface="Poppins"/>
                <a:sym typeface="Poppins"/>
              </a:rPr>
              <a:t>a</a:t>
            </a:r>
            <a:r>
              <a:rPr lang="en-US" sz="1528">
                <a:solidFill>
                  <a:srgbClr val="1E5C96"/>
                </a:solidFill>
                <a:latin typeface="Poppins"/>
                <a:ea typeface="Poppins"/>
                <a:cs typeface="Poppins"/>
                <a:sym typeface="Poppins"/>
              </a:rPr>
              <a:t>ju</a:t>
            </a:r>
            <a:r>
              <a:rPr lang="en-US" sz="1528">
                <a:solidFill>
                  <a:srgbClr val="1E5C96"/>
                </a:solidFill>
                <a:latin typeface="Poppins"/>
                <a:ea typeface="Poppins"/>
                <a:cs typeface="Poppins"/>
                <a:sym typeface="Poppins"/>
              </a:rPr>
              <a:t>s</a:t>
            </a:r>
            <a:r>
              <a:rPr lang="en-US" sz="1528">
                <a:solidFill>
                  <a:srgbClr val="1E5C96"/>
                </a:solidFill>
                <a:latin typeface="Poppins"/>
                <a:ea typeface="Poppins"/>
                <a:cs typeface="Poppins"/>
                <a:sym typeface="Poppins"/>
              </a:rPr>
              <a:t>t</a:t>
            </a:r>
            <a:r>
              <a:rPr lang="en-US" sz="1528">
                <a:solidFill>
                  <a:srgbClr val="1E5C96"/>
                </a:solidFill>
                <a:latin typeface="Poppins"/>
                <a:ea typeface="Poppins"/>
                <a:cs typeface="Poppins"/>
                <a:sym typeface="Poppins"/>
              </a:rPr>
              <a:t>ar i</a:t>
            </a:r>
            <a:r>
              <a:rPr lang="en-US" sz="1528">
                <a:solidFill>
                  <a:srgbClr val="1E5C96"/>
                </a:solidFill>
                <a:latin typeface="Poppins"/>
                <a:ea typeface="Poppins"/>
                <a:cs typeface="Poppins"/>
                <a:sym typeface="Poppins"/>
              </a:rPr>
              <a:t>nd</a:t>
            </a:r>
            <a:r>
              <a:rPr lang="en-US" sz="1528">
                <a:solidFill>
                  <a:srgbClr val="1E5C96"/>
                </a:solidFill>
                <a:latin typeface="Poppins"/>
                <a:ea typeface="Poppins"/>
                <a:cs typeface="Poppins"/>
                <a:sym typeface="Poppins"/>
              </a:rPr>
              <a:t>ica</a:t>
            </a:r>
            <a:r>
              <a:rPr lang="en-US" sz="1528">
                <a:solidFill>
                  <a:srgbClr val="1E5C96"/>
                </a:solidFill>
                <a:latin typeface="Poppins"/>
                <a:ea typeface="Poppins"/>
                <a:cs typeface="Poppins"/>
                <a:sym typeface="Poppins"/>
              </a:rPr>
              <a:t>ci</a:t>
            </a:r>
            <a:r>
              <a:rPr lang="en-US" sz="1528">
                <a:solidFill>
                  <a:srgbClr val="1E5C96"/>
                </a:solidFill>
                <a:latin typeface="Poppins"/>
                <a:ea typeface="Poppins"/>
                <a:cs typeface="Poppins"/>
                <a:sym typeface="Poppins"/>
              </a:rPr>
              <a:t>o</a:t>
            </a:r>
            <a:r>
              <a:rPr lang="en-US" sz="1528">
                <a:solidFill>
                  <a:srgbClr val="1E5C96"/>
                </a:solidFill>
                <a:latin typeface="Poppins"/>
                <a:ea typeface="Poppins"/>
                <a:cs typeface="Poppins"/>
                <a:sym typeface="Poppins"/>
              </a:rPr>
              <a:t>ne</a:t>
            </a:r>
            <a:r>
              <a:rPr lang="en-US" sz="1528">
                <a:solidFill>
                  <a:srgbClr val="1E5C96"/>
                </a:solidFill>
                <a:latin typeface="Poppins"/>
                <a:ea typeface="Poppins"/>
                <a:cs typeface="Poppins"/>
                <a:sym typeface="Poppins"/>
              </a:rPr>
              <a:t>s o</a:t>
            </a:r>
            <a:r>
              <a:rPr lang="en-US" sz="1528">
                <a:solidFill>
                  <a:srgbClr val="1E5C96"/>
                </a:solidFill>
                <a:latin typeface="Poppins"/>
                <a:ea typeface="Poppins"/>
                <a:cs typeface="Poppins"/>
                <a:sym typeface="Poppins"/>
              </a:rPr>
              <a:t> med</a:t>
            </a:r>
            <a:r>
              <a:rPr lang="en-US" sz="1528">
                <a:solidFill>
                  <a:srgbClr val="1E5C96"/>
                </a:solidFill>
                <a:latin typeface="Poppins"/>
                <a:ea typeface="Poppins"/>
                <a:cs typeface="Poppins"/>
                <a:sym typeface="Poppins"/>
              </a:rPr>
              <a:t>i</a:t>
            </a:r>
            <a:r>
              <a:rPr lang="en-US" sz="1528">
                <a:solidFill>
                  <a:srgbClr val="1E5C96"/>
                </a:solidFill>
                <a:latin typeface="Poppins"/>
                <a:ea typeface="Poppins"/>
                <a:cs typeface="Poppins"/>
                <a:sym typeface="Poppins"/>
              </a:rPr>
              <a:t>d</a:t>
            </a:r>
            <a:r>
              <a:rPr lang="en-US" sz="1528">
                <a:solidFill>
                  <a:srgbClr val="1E5C96"/>
                </a:solidFill>
                <a:latin typeface="Poppins"/>
                <a:ea typeface="Poppins"/>
                <a:cs typeface="Poppins"/>
                <a:sym typeface="Poppins"/>
              </a:rPr>
              <a:t>as</a:t>
            </a:r>
            <a:r>
              <a:rPr lang="en-US" sz="1528">
                <a:solidFill>
                  <a:srgbClr val="1E5C96"/>
                </a:solidFill>
                <a:latin typeface="Poppins"/>
                <a:ea typeface="Poppins"/>
                <a:cs typeface="Poppins"/>
                <a:sym typeface="Poppins"/>
              </a:rPr>
              <a:t> de seguridad según las condiciones reales del día.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756000" y="3892007"/>
            <a:ext cx="996172" cy="996172"/>
            <a:chOff x="0" y="0"/>
            <a:chExt cx="812800" cy="8128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339E3C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76200" y="95250"/>
              <a:ext cx="660400" cy="6413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134"/>
                </a:lnSpc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1973021" y="3939632"/>
            <a:ext cx="5586979" cy="5063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6"/>
              </a:lnSpc>
            </a:pPr>
            <a:r>
              <a:rPr lang="en-US" sz="3639" b="true">
                <a:solidFill>
                  <a:srgbClr val="339E3C"/>
                </a:solidFill>
                <a:latin typeface="Poppins Bold"/>
                <a:ea typeface="Poppins Bold"/>
                <a:cs typeface="Poppins Bold"/>
                <a:sym typeface="Poppins Bold"/>
              </a:rPr>
              <a:t>VERDE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000630" y="4451181"/>
            <a:ext cx="4384501" cy="2443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96"/>
              </a:lnSpc>
            </a:pPr>
            <a:r>
              <a:rPr lang="en-US" sz="1832" b="true">
                <a:solidFill>
                  <a:srgbClr val="1E5C96"/>
                </a:solidFill>
                <a:latin typeface="Poppins Bold"/>
                <a:ea typeface="Poppins Bold"/>
                <a:cs typeface="Poppins Bold"/>
                <a:sym typeface="Poppins Bold"/>
              </a:rPr>
              <a:t>CONDICIONES FAVORABLES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2002544" y="4704397"/>
            <a:ext cx="4384501" cy="3830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47"/>
              </a:lnSpc>
            </a:pPr>
            <a:r>
              <a:rPr lang="en-US" sz="1391" b="true">
                <a:solidFill>
                  <a:srgbClr val="1E5C96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Continúa según lo previsto y mantente atento a las indicaciones oficiales.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756000" y="5406663"/>
            <a:ext cx="996172" cy="996172"/>
            <a:chOff x="0" y="0"/>
            <a:chExt cx="812800" cy="8128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7C319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76200" y="95250"/>
              <a:ext cx="660400" cy="6413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134"/>
                </a:lnSpc>
              </a:pPr>
            </a:p>
          </p:txBody>
        </p:sp>
      </p:grpSp>
      <p:sp>
        <p:nvSpPr>
          <p:cNvPr name="TextBox 15" id="15"/>
          <p:cNvSpPr txBox="true"/>
          <p:nvPr/>
        </p:nvSpPr>
        <p:spPr>
          <a:xfrm rot="0">
            <a:off x="1973021" y="5454288"/>
            <a:ext cx="5586979" cy="5063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6"/>
              </a:lnSpc>
            </a:pPr>
            <a:r>
              <a:rPr lang="en-US" sz="3639" b="true">
                <a:solidFill>
                  <a:srgbClr val="E7C319"/>
                </a:solidFill>
                <a:latin typeface="Poppins Bold"/>
                <a:ea typeface="Poppins Bold"/>
                <a:cs typeface="Poppins Bold"/>
                <a:sym typeface="Poppins Bold"/>
              </a:rPr>
              <a:t>AMARILLO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2000630" y="5965837"/>
            <a:ext cx="4384501" cy="2443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96"/>
              </a:lnSpc>
            </a:pPr>
            <a:r>
              <a:rPr lang="en-US" sz="1832" b="true">
                <a:solidFill>
                  <a:srgbClr val="1E5C96"/>
                </a:solidFill>
                <a:latin typeface="Poppins Bold"/>
                <a:ea typeface="Poppins Bold"/>
                <a:cs typeface="Poppins Bold"/>
                <a:sym typeface="Poppins Bold"/>
              </a:rPr>
              <a:t>AJUSTA EL ESFUERZO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2002544" y="6219053"/>
            <a:ext cx="4384501" cy="2056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47"/>
              </a:lnSpc>
            </a:pPr>
            <a:r>
              <a:rPr lang="en-US" sz="1391" b="true">
                <a:solidFill>
                  <a:srgbClr val="1E5C96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Adapta tu ritmo e hidratación a las condiciones.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756000" y="6921319"/>
            <a:ext cx="996172" cy="996172"/>
            <a:chOff x="0" y="0"/>
            <a:chExt cx="812800" cy="8128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82225"/>
            </a:solidFill>
          </p:spPr>
        </p:sp>
        <p:sp>
          <p:nvSpPr>
            <p:cNvPr name="TextBox 20" id="20"/>
            <p:cNvSpPr txBox="true"/>
            <p:nvPr/>
          </p:nvSpPr>
          <p:spPr>
            <a:xfrm>
              <a:off x="76200" y="95250"/>
              <a:ext cx="660400" cy="6413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134"/>
                </a:lnSpc>
              </a:pPr>
            </a:p>
          </p:txBody>
        </p:sp>
      </p:grpSp>
      <p:sp>
        <p:nvSpPr>
          <p:cNvPr name="TextBox 21" id="21"/>
          <p:cNvSpPr txBox="true"/>
          <p:nvPr/>
        </p:nvSpPr>
        <p:spPr>
          <a:xfrm rot="0">
            <a:off x="1973021" y="6968944"/>
            <a:ext cx="5586979" cy="5063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66"/>
              </a:lnSpc>
            </a:pPr>
            <a:r>
              <a:rPr lang="en-US" sz="3639" b="true">
                <a:solidFill>
                  <a:srgbClr val="E82225"/>
                </a:solidFill>
                <a:latin typeface="Poppins Bold"/>
                <a:ea typeface="Poppins Bold"/>
                <a:cs typeface="Poppins Bold"/>
                <a:sym typeface="Poppins Bold"/>
              </a:rPr>
              <a:t>ROJO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2000630" y="7480493"/>
            <a:ext cx="4384501" cy="2443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796"/>
              </a:lnSpc>
            </a:pPr>
            <a:r>
              <a:rPr lang="en-US" sz="1832" b="true">
                <a:solidFill>
                  <a:srgbClr val="1E5C96"/>
                </a:solidFill>
                <a:latin typeface="Poppins Bold"/>
                <a:ea typeface="Poppins Bold"/>
                <a:cs typeface="Poppins Bold"/>
                <a:sym typeface="Poppins Bold"/>
              </a:rPr>
              <a:t>PRIORIZA SEGURIDAD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2002544" y="7733708"/>
            <a:ext cx="4384501" cy="2056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47"/>
              </a:lnSpc>
            </a:pPr>
            <a:r>
              <a:rPr lang="en-US" sz="1391" b="true">
                <a:solidFill>
                  <a:srgbClr val="1E5C96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Atiende las indicaciones del evento.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419254" y="8695167"/>
            <a:ext cx="5134983" cy="5238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99"/>
              </a:lnSpc>
            </a:pPr>
            <a:r>
              <a:rPr lang="en-US" sz="2999" b="true">
                <a:solidFill>
                  <a:srgbClr val="1E5C96"/>
                </a:solidFill>
                <a:latin typeface="Poppins Bold"/>
                <a:ea typeface="Poppins Bold"/>
                <a:cs typeface="Poppins Bold"/>
                <a:sym typeface="Poppins Bold"/>
              </a:rPr>
              <a:t>ESCUCHA TU CUERPO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417340" y="9264345"/>
            <a:ext cx="6892975" cy="5649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40"/>
              </a:lnSpc>
            </a:pPr>
            <a:r>
              <a:rPr lang="en-US" sz="1470" b="true">
                <a:solidFill>
                  <a:srgbClr val="1E5C96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No te sientas obligado a terminar si tu cuerpo te indica lo contrario.</a:t>
            </a:r>
          </a:p>
          <a:p>
            <a:pPr algn="l">
              <a:lnSpc>
                <a:spcPts val="1440"/>
              </a:lnSpc>
            </a:pPr>
            <a:r>
              <a:rPr lang="en-US" sz="1470" b="true">
                <a:solidFill>
                  <a:srgbClr val="1E5C96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Reducir el ritmo, detenerse y pedir ayuda a tiempo también es una decisión deportiva responsable.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419254" y="8358448"/>
            <a:ext cx="6691290" cy="4587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91"/>
              </a:lnSpc>
            </a:pPr>
            <a:r>
              <a:rPr lang="en-US" sz="2565" b="true">
                <a:solidFill>
                  <a:srgbClr val="2DA7B1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REGLA SIMPLE:</a:t>
            </a:r>
          </a:p>
        </p:txBody>
      </p:sp>
      <p:grpSp>
        <p:nvGrpSpPr>
          <p:cNvPr name="Group 27" id="27"/>
          <p:cNvGrpSpPr/>
          <p:nvPr/>
        </p:nvGrpSpPr>
        <p:grpSpPr>
          <a:xfrm rot="0">
            <a:off x="2113606" y="10086476"/>
            <a:ext cx="3330319" cy="269133"/>
            <a:chOff x="0" y="0"/>
            <a:chExt cx="1193511" cy="96451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193511" cy="96451"/>
            </a:xfrm>
            <a:custGeom>
              <a:avLst/>
              <a:gdLst/>
              <a:ahLst/>
              <a:cxnLst/>
              <a:rect r="r" b="b" t="t" l="l"/>
              <a:pathLst>
                <a:path h="96451" w="1193511">
                  <a:moveTo>
                    <a:pt x="48226" y="0"/>
                  </a:moveTo>
                  <a:lnTo>
                    <a:pt x="1145286" y="0"/>
                  </a:lnTo>
                  <a:cubicBezTo>
                    <a:pt x="1171920" y="0"/>
                    <a:pt x="1193511" y="21591"/>
                    <a:pt x="1193511" y="48226"/>
                  </a:cubicBezTo>
                  <a:lnTo>
                    <a:pt x="1193511" y="48226"/>
                  </a:lnTo>
                  <a:cubicBezTo>
                    <a:pt x="1193511" y="74860"/>
                    <a:pt x="1171920" y="96451"/>
                    <a:pt x="1145286" y="96451"/>
                  </a:cubicBezTo>
                  <a:lnTo>
                    <a:pt x="48226" y="96451"/>
                  </a:lnTo>
                  <a:cubicBezTo>
                    <a:pt x="21591" y="96451"/>
                    <a:pt x="0" y="74860"/>
                    <a:pt x="0" y="48226"/>
                  </a:cubicBezTo>
                  <a:lnTo>
                    <a:pt x="0" y="48226"/>
                  </a:lnTo>
                  <a:cubicBezTo>
                    <a:pt x="0" y="21591"/>
                    <a:pt x="21591" y="0"/>
                    <a:pt x="48226" y="0"/>
                  </a:cubicBezTo>
                  <a:close/>
                </a:path>
              </a:pathLst>
            </a:custGeom>
            <a:solidFill>
              <a:srgbClr val="2DA7B1"/>
            </a:solidFill>
          </p:spPr>
        </p:sp>
        <p:sp>
          <p:nvSpPr>
            <p:cNvPr name="TextBox 29" id="29"/>
            <p:cNvSpPr txBox="true"/>
            <p:nvPr/>
          </p:nvSpPr>
          <p:spPr>
            <a:xfrm>
              <a:off x="0" y="19050"/>
              <a:ext cx="1193511" cy="7740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764"/>
                </a:lnSpc>
              </a:pPr>
            </a:p>
          </p:txBody>
        </p:sp>
      </p:grpSp>
      <p:sp>
        <p:nvSpPr>
          <p:cNvPr name="TextBox 30" id="30"/>
          <p:cNvSpPr txBox="true"/>
          <p:nvPr/>
        </p:nvSpPr>
        <p:spPr>
          <a:xfrm rot="0">
            <a:off x="590742" y="10098683"/>
            <a:ext cx="6378517" cy="2161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736"/>
              </a:lnSpc>
            </a:pPr>
            <a:r>
              <a:rPr lang="en-US" b="true" sz="1240">
                <a:solidFill>
                  <a:srgbClr val="FFFFFF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REDUCIR</a:t>
            </a:r>
            <a:r>
              <a:rPr lang="en-US" sz="124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b="true" sz="124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·</a:t>
            </a:r>
            <a:r>
              <a:rPr lang="en-US" sz="124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b="true" sz="1240">
                <a:solidFill>
                  <a:srgbClr val="FFFFFF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DETENERSE</a:t>
            </a:r>
            <a:r>
              <a:rPr lang="en-US" sz="124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 </a:t>
            </a:r>
            <a:r>
              <a:rPr lang="en-US" b="true" sz="124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· </a:t>
            </a:r>
            <a:r>
              <a:rPr lang="en-US" b="true" sz="1240">
                <a:solidFill>
                  <a:srgbClr val="FFFFFF"/>
                </a:solidFill>
                <a:latin typeface="Poppins Semi-Bold"/>
                <a:ea typeface="Poppins Semi-Bold"/>
                <a:cs typeface="Poppins Semi-Bold"/>
                <a:sym typeface="Poppins Semi-Bold"/>
              </a:rPr>
              <a:t>PEDIR AYUDA</a:t>
            </a:r>
          </a:p>
        </p:txBody>
      </p: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E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7560000" cy="10684322"/>
          </a:xfrm>
          <a:custGeom>
            <a:avLst/>
            <a:gdLst/>
            <a:ahLst/>
            <a:cxnLst/>
            <a:rect r="r" b="b" t="t" l="l"/>
            <a:pathLst>
              <a:path h="10684322" w="7560000">
                <a:moveTo>
                  <a:pt x="0" y="0"/>
                </a:moveTo>
                <a:lnTo>
                  <a:pt x="7560000" y="0"/>
                </a:lnTo>
                <a:lnTo>
                  <a:pt x="7560000" y="10684322"/>
                </a:lnTo>
                <a:lnTo>
                  <a:pt x="0" y="1068432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768643" y="2073245"/>
            <a:ext cx="1005388" cy="1120726"/>
          </a:xfrm>
          <a:custGeom>
            <a:avLst/>
            <a:gdLst/>
            <a:ahLst/>
            <a:cxnLst/>
            <a:rect r="r" b="b" t="t" l="l"/>
            <a:pathLst>
              <a:path h="1120726" w="1005388">
                <a:moveTo>
                  <a:pt x="0" y="0"/>
                </a:moveTo>
                <a:lnTo>
                  <a:pt x="1005388" y="0"/>
                </a:lnTo>
                <a:lnTo>
                  <a:pt x="1005388" y="1120725"/>
                </a:lnTo>
                <a:lnTo>
                  <a:pt x="0" y="112072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40477" t="0" r="-180239" b="-91807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417340" y="679800"/>
            <a:ext cx="6691290" cy="7134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31"/>
              </a:lnSpc>
            </a:pPr>
            <a:r>
              <a:rPr lang="en-US" sz="4165" b="true">
                <a:solidFill>
                  <a:srgbClr val="2DA7B1"/>
                </a:solidFill>
                <a:latin typeface="Unbounded Bold"/>
                <a:ea typeface="Unbounded Bold"/>
                <a:cs typeface="Unbounded Bold"/>
                <a:sym typeface="Unbounded Bold"/>
              </a:rPr>
              <a:t>RESULTADOS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417340" y="1205050"/>
            <a:ext cx="11437441" cy="8401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82"/>
              </a:lnSpc>
            </a:pPr>
            <a:r>
              <a:rPr lang="en-US" sz="4844" b="true">
                <a:solidFill>
                  <a:srgbClr val="1E5C96"/>
                </a:solidFill>
                <a:latin typeface="Unbounded Bold"/>
                <a:ea typeface="Unbounded Bold"/>
                <a:cs typeface="Unbounded Bold"/>
                <a:sym typeface="Unbounded Bold"/>
              </a:rPr>
              <a:t>Y PREMIACIÓN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360985" y="3254939"/>
            <a:ext cx="3820705" cy="336363"/>
            <a:chOff x="0" y="0"/>
            <a:chExt cx="5094274" cy="448483"/>
          </a:xfrm>
        </p:grpSpPr>
        <p:grpSp>
          <p:nvGrpSpPr>
            <p:cNvPr name="Group 7" id="7"/>
            <p:cNvGrpSpPr/>
            <p:nvPr/>
          </p:nvGrpSpPr>
          <p:grpSpPr>
            <a:xfrm rot="0">
              <a:off x="1623401" y="0"/>
              <a:ext cx="1870332" cy="448483"/>
              <a:chOff x="0" y="0"/>
              <a:chExt cx="558729" cy="133976"/>
            </a:xfrm>
          </p:grpSpPr>
          <p:sp>
            <p:nvSpPr>
              <p:cNvPr name="Freeform 8" id="8"/>
              <p:cNvSpPr/>
              <p:nvPr/>
            </p:nvSpPr>
            <p:spPr>
              <a:xfrm flipH="false" flipV="false" rot="0">
                <a:off x="0" y="0"/>
                <a:ext cx="558729" cy="133976"/>
              </a:xfrm>
              <a:custGeom>
                <a:avLst/>
                <a:gdLst/>
                <a:ahLst/>
                <a:cxnLst/>
                <a:rect r="r" b="b" t="t" l="l"/>
                <a:pathLst>
                  <a:path h="133976" w="558729">
                    <a:moveTo>
                      <a:pt x="66988" y="0"/>
                    </a:moveTo>
                    <a:lnTo>
                      <a:pt x="491740" y="0"/>
                    </a:lnTo>
                    <a:cubicBezTo>
                      <a:pt x="528737" y="0"/>
                      <a:pt x="558729" y="29992"/>
                      <a:pt x="558729" y="66988"/>
                    </a:cubicBezTo>
                    <a:lnTo>
                      <a:pt x="558729" y="66988"/>
                    </a:lnTo>
                    <a:cubicBezTo>
                      <a:pt x="558729" y="84755"/>
                      <a:pt x="551671" y="101793"/>
                      <a:pt x="539108" y="114356"/>
                    </a:cubicBezTo>
                    <a:cubicBezTo>
                      <a:pt x="526546" y="126919"/>
                      <a:pt x="509507" y="133976"/>
                      <a:pt x="491740" y="133976"/>
                    </a:cubicBezTo>
                    <a:lnTo>
                      <a:pt x="66988" y="133976"/>
                    </a:lnTo>
                    <a:cubicBezTo>
                      <a:pt x="29992" y="133976"/>
                      <a:pt x="0" y="103985"/>
                      <a:pt x="0" y="66988"/>
                    </a:cubicBezTo>
                    <a:lnTo>
                      <a:pt x="0" y="66988"/>
                    </a:lnTo>
                    <a:cubicBezTo>
                      <a:pt x="0" y="29992"/>
                      <a:pt x="29992" y="0"/>
                      <a:pt x="66988" y="0"/>
                    </a:cubicBezTo>
                    <a:close/>
                  </a:path>
                </a:pathLst>
              </a:custGeom>
              <a:solidFill>
                <a:srgbClr val="1E5C96"/>
              </a:solidFill>
            </p:spPr>
          </p:sp>
          <p:sp>
            <p:nvSpPr>
              <p:cNvPr name="TextBox 9" id="9"/>
              <p:cNvSpPr txBox="true"/>
              <p:nvPr/>
            </p:nvSpPr>
            <p:spPr>
              <a:xfrm>
                <a:off x="0" y="19050"/>
                <a:ext cx="558729" cy="11492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134"/>
                  </a:lnSpc>
                </a:pPr>
              </a:p>
            </p:txBody>
          </p:sp>
        </p:grpSp>
        <p:sp>
          <p:nvSpPr>
            <p:cNvPr name="TextBox 10" id="10"/>
            <p:cNvSpPr txBox="true"/>
            <p:nvPr/>
          </p:nvSpPr>
          <p:spPr>
            <a:xfrm rot="0">
              <a:off x="0" y="82871"/>
              <a:ext cx="5094274" cy="30179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565"/>
                </a:lnSpc>
              </a:pPr>
              <a:r>
                <a:rPr lang="en-US" sz="1597" b="true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GUN TIME</a:t>
              </a: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1149849" y="3745468"/>
            <a:ext cx="2504139" cy="4880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91"/>
              </a:lnSpc>
            </a:pPr>
            <a:r>
              <a:rPr lang="en-US" sz="953" b="true">
                <a:solidFill>
                  <a:srgbClr val="1E5C96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Tiempo oficial contado desde la salida general de tu distancia hasta que cruzas la meta. Es el tiempo utilizado para clasificación y podios.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3344279" y="3254939"/>
            <a:ext cx="3820705" cy="336363"/>
            <a:chOff x="0" y="0"/>
            <a:chExt cx="5094274" cy="448483"/>
          </a:xfrm>
        </p:grpSpPr>
        <p:grpSp>
          <p:nvGrpSpPr>
            <p:cNvPr name="Group 13" id="13"/>
            <p:cNvGrpSpPr/>
            <p:nvPr/>
          </p:nvGrpSpPr>
          <p:grpSpPr>
            <a:xfrm rot="0">
              <a:off x="1623401" y="0"/>
              <a:ext cx="1870332" cy="448483"/>
              <a:chOff x="0" y="0"/>
              <a:chExt cx="558729" cy="133976"/>
            </a:xfrm>
          </p:grpSpPr>
          <p:sp>
            <p:nvSpPr>
              <p:cNvPr name="Freeform 14" id="14"/>
              <p:cNvSpPr/>
              <p:nvPr/>
            </p:nvSpPr>
            <p:spPr>
              <a:xfrm flipH="false" flipV="false" rot="0">
                <a:off x="0" y="0"/>
                <a:ext cx="558729" cy="133976"/>
              </a:xfrm>
              <a:custGeom>
                <a:avLst/>
                <a:gdLst/>
                <a:ahLst/>
                <a:cxnLst/>
                <a:rect r="r" b="b" t="t" l="l"/>
                <a:pathLst>
                  <a:path h="133976" w="558729">
                    <a:moveTo>
                      <a:pt x="66988" y="0"/>
                    </a:moveTo>
                    <a:lnTo>
                      <a:pt x="491740" y="0"/>
                    </a:lnTo>
                    <a:cubicBezTo>
                      <a:pt x="528737" y="0"/>
                      <a:pt x="558729" y="29992"/>
                      <a:pt x="558729" y="66988"/>
                    </a:cubicBezTo>
                    <a:lnTo>
                      <a:pt x="558729" y="66988"/>
                    </a:lnTo>
                    <a:cubicBezTo>
                      <a:pt x="558729" y="84755"/>
                      <a:pt x="551671" y="101793"/>
                      <a:pt x="539108" y="114356"/>
                    </a:cubicBezTo>
                    <a:cubicBezTo>
                      <a:pt x="526546" y="126919"/>
                      <a:pt x="509507" y="133976"/>
                      <a:pt x="491740" y="133976"/>
                    </a:cubicBezTo>
                    <a:lnTo>
                      <a:pt x="66988" y="133976"/>
                    </a:lnTo>
                    <a:cubicBezTo>
                      <a:pt x="29992" y="133976"/>
                      <a:pt x="0" y="103985"/>
                      <a:pt x="0" y="66988"/>
                    </a:cubicBezTo>
                    <a:lnTo>
                      <a:pt x="0" y="66988"/>
                    </a:lnTo>
                    <a:cubicBezTo>
                      <a:pt x="0" y="29992"/>
                      <a:pt x="29992" y="0"/>
                      <a:pt x="66988" y="0"/>
                    </a:cubicBezTo>
                    <a:close/>
                  </a:path>
                </a:pathLst>
              </a:custGeom>
              <a:solidFill>
                <a:srgbClr val="1E5C96"/>
              </a:solidFill>
            </p:spPr>
          </p:sp>
          <p:sp>
            <p:nvSpPr>
              <p:cNvPr name="TextBox 15" id="15"/>
              <p:cNvSpPr txBox="true"/>
              <p:nvPr/>
            </p:nvSpPr>
            <p:spPr>
              <a:xfrm>
                <a:off x="0" y="19050"/>
                <a:ext cx="558729" cy="114926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1134"/>
                  </a:lnSpc>
                </a:pPr>
              </a:p>
            </p:txBody>
          </p:sp>
        </p:grpSp>
        <p:sp>
          <p:nvSpPr>
            <p:cNvPr name="TextBox 16" id="16"/>
            <p:cNvSpPr txBox="true"/>
            <p:nvPr/>
          </p:nvSpPr>
          <p:spPr>
            <a:xfrm rot="0">
              <a:off x="0" y="82871"/>
              <a:ext cx="5094274" cy="30179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565"/>
                </a:lnSpc>
              </a:pPr>
              <a:r>
                <a:rPr lang="en-US" sz="1597" b="true">
                  <a:solidFill>
                    <a:srgbClr val="FFFFFF"/>
                  </a:solidFill>
                  <a:latin typeface="Poppins Bold"/>
                  <a:ea typeface="Poppins Bold"/>
                  <a:cs typeface="Poppins Bold"/>
                  <a:sym typeface="Poppins Bold"/>
                </a:rPr>
                <a:t>CHIP TIME</a:t>
              </a:r>
            </a:p>
          </p:txBody>
        </p:sp>
      </p:grpSp>
      <p:sp>
        <p:nvSpPr>
          <p:cNvPr name="TextBox 17" id="17"/>
          <p:cNvSpPr txBox="true"/>
          <p:nvPr/>
        </p:nvSpPr>
        <p:spPr>
          <a:xfrm rot="0">
            <a:off x="4002562" y="3745468"/>
            <a:ext cx="2504139" cy="3661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91"/>
              </a:lnSpc>
            </a:pPr>
            <a:r>
              <a:rPr lang="en-US" sz="953" b="true">
                <a:solidFill>
                  <a:srgbClr val="1E5C96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Tu tiempo individual registrado por el chip. Estará disponible en tu certificado de participación.</a:t>
            </a:r>
          </a:p>
        </p:txBody>
      </p:sp>
      <p:sp>
        <p:nvSpPr>
          <p:cNvPr name="Freeform 18" id="18"/>
          <p:cNvSpPr/>
          <p:nvPr/>
        </p:nvSpPr>
        <p:spPr>
          <a:xfrm flipH="false" flipV="false" rot="0">
            <a:off x="4694002" y="2045189"/>
            <a:ext cx="1121260" cy="1176838"/>
          </a:xfrm>
          <a:custGeom>
            <a:avLst/>
            <a:gdLst/>
            <a:ahLst/>
            <a:cxnLst/>
            <a:rect r="r" b="b" t="t" l="l"/>
            <a:pathLst>
              <a:path h="1176838" w="1121260">
                <a:moveTo>
                  <a:pt x="0" y="0"/>
                </a:moveTo>
                <a:lnTo>
                  <a:pt x="1121260" y="0"/>
                </a:lnTo>
                <a:lnTo>
                  <a:pt x="1121260" y="1176838"/>
                </a:lnTo>
                <a:lnTo>
                  <a:pt x="0" y="117683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57413" t="0" r="-42096" b="-90242"/>
            </a:stretch>
          </a:blipFill>
        </p:spPr>
      </p:sp>
      <p:sp>
        <p:nvSpPr>
          <p:cNvPr name="TextBox 19" id="19"/>
          <p:cNvSpPr txBox="true"/>
          <p:nvPr/>
        </p:nvSpPr>
        <p:spPr>
          <a:xfrm rot="0">
            <a:off x="417340" y="4489325"/>
            <a:ext cx="7358549" cy="4294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14"/>
              </a:lnSpc>
            </a:pPr>
            <a:r>
              <a:rPr lang="en-US" sz="3076" b="true">
                <a:solidFill>
                  <a:srgbClr val="1E5C96"/>
                </a:solidFill>
                <a:latin typeface="Poppins Bold"/>
                <a:ea typeface="Poppins Bold"/>
                <a:cs typeface="Poppins Bold"/>
                <a:sym typeface="Poppins Bold"/>
              </a:rPr>
              <a:t>RESULTADOS OFICIALES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428914" y="4976370"/>
            <a:ext cx="6429060" cy="4718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39"/>
              </a:lnSpc>
            </a:pPr>
            <a:r>
              <a:rPr lang="en-US" sz="1191" b="true">
                <a:solidFill>
                  <a:srgbClr val="1E5C96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La</a:t>
            </a:r>
            <a:r>
              <a:rPr lang="en-US" sz="1191" b="true">
                <a:solidFill>
                  <a:srgbClr val="1E5C96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 carrera contará con cronometraje electrónico y puntos de control intermedios. Los resultados serán oficiales una vez sean validados por la Organización y la autoridad deportiva competente.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446945" y="6605244"/>
            <a:ext cx="4049814" cy="3134175"/>
            <a:chOff x="0" y="0"/>
            <a:chExt cx="4229794" cy="3273462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4229794" cy="3273462"/>
            </a:xfrm>
            <a:custGeom>
              <a:avLst/>
              <a:gdLst/>
              <a:ahLst/>
              <a:cxnLst/>
              <a:rect r="r" b="b" t="t" l="l"/>
              <a:pathLst>
                <a:path h="3273462" w="4229794">
                  <a:moveTo>
                    <a:pt x="0" y="0"/>
                  </a:moveTo>
                  <a:lnTo>
                    <a:pt x="4229794" y="0"/>
                  </a:lnTo>
                  <a:lnTo>
                    <a:pt x="4229794" y="3273462"/>
                  </a:lnTo>
                  <a:lnTo>
                    <a:pt x="0" y="3273462"/>
                  </a:lnTo>
                  <a:close/>
                </a:path>
              </a:pathLst>
            </a:custGeom>
            <a:ln w="28575" cap="sq">
              <a:solidFill>
                <a:srgbClr val="1E5C96"/>
              </a:solidFill>
              <a:prstDash val="solid"/>
              <a:miter/>
            </a:ln>
          </p:spPr>
        </p:sp>
        <p:sp>
          <p:nvSpPr>
            <p:cNvPr name="TextBox 23" id="23"/>
            <p:cNvSpPr txBox="true"/>
            <p:nvPr/>
          </p:nvSpPr>
          <p:spPr>
            <a:xfrm>
              <a:off x="0" y="-28575"/>
              <a:ext cx="4229794" cy="330203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439801" y="6195294"/>
            <a:ext cx="4056958" cy="409956"/>
            <a:chOff x="0" y="0"/>
            <a:chExt cx="2477010" cy="250302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2477010" cy="250302"/>
            </a:xfrm>
            <a:custGeom>
              <a:avLst/>
              <a:gdLst/>
              <a:ahLst/>
              <a:cxnLst/>
              <a:rect r="r" b="b" t="t" l="l"/>
              <a:pathLst>
                <a:path h="250302" w="2477010">
                  <a:moveTo>
                    <a:pt x="0" y="0"/>
                  </a:moveTo>
                  <a:lnTo>
                    <a:pt x="2477010" y="0"/>
                  </a:lnTo>
                  <a:lnTo>
                    <a:pt x="2477010" y="250302"/>
                  </a:lnTo>
                  <a:lnTo>
                    <a:pt x="0" y="250302"/>
                  </a:lnTo>
                  <a:close/>
                </a:path>
              </a:pathLst>
            </a:custGeom>
            <a:solidFill>
              <a:srgbClr val="CAED69"/>
            </a:solidFill>
          </p:spPr>
        </p:sp>
        <p:sp>
          <p:nvSpPr>
            <p:cNvPr name="TextBox 26" id="26"/>
            <p:cNvSpPr txBox="true"/>
            <p:nvPr/>
          </p:nvSpPr>
          <p:spPr>
            <a:xfrm>
              <a:off x="0" y="19050"/>
              <a:ext cx="2477010" cy="23125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764"/>
                </a:lnSpc>
              </a:pPr>
            </a:p>
          </p:txBody>
        </p:sp>
      </p:grpSp>
      <p:sp>
        <p:nvSpPr>
          <p:cNvPr name="AutoShape 27" id="27"/>
          <p:cNvSpPr/>
          <p:nvPr/>
        </p:nvSpPr>
        <p:spPr>
          <a:xfrm flipH="true" flipV="true">
            <a:off x="1676618" y="6195294"/>
            <a:ext cx="4966" cy="3544124"/>
          </a:xfrm>
          <a:prstGeom prst="line">
            <a:avLst/>
          </a:prstGeom>
          <a:ln cap="flat" w="19050">
            <a:solidFill>
              <a:srgbClr val="1E5C9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28" id="28"/>
          <p:cNvSpPr txBox="true"/>
          <p:nvPr/>
        </p:nvSpPr>
        <p:spPr>
          <a:xfrm rot="0">
            <a:off x="-233805" y="6330465"/>
            <a:ext cx="2573556" cy="149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54"/>
              </a:lnSpc>
            </a:pPr>
            <a:r>
              <a:rPr lang="en-US" sz="1075" b="true">
                <a:solidFill>
                  <a:srgbClr val="1E5C96"/>
                </a:solidFill>
                <a:latin typeface="Poppins Bold"/>
                <a:ea typeface="Poppins Bold"/>
                <a:cs typeface="Poppins Bold"/>
                <a:sym typeface="Poppins Bold"/>
              </a:rPr>
              <a:t>CATEGORÍA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778149" y="6330465"/>
            <a:ext cx="2573556" cy="149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54"/>
              </a:lnSpc>
            </a:pPr>
            <a:r>
              <a:rPr lang="en-US" sz="1075" b="true">
                <a:solidFill>
                  <a:srgbClr val="1E5C96"/>
                </a:solidFill>
                <a:latin typeface="Poppins Bold"/>
                <a:ea typeface="Poppins Bold"/>
                <a:cs typeface="Poppins Bold"/>
                <a:sym typeface="Poppins Bold"/>
              </a:rPr>
              <a:t>EDAD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2202924" y="6330465"/>
            <a:ext cx="2573556" cy="149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54"/>
              </a:lnSpc>
            </a:pPr>
            <a:r>
              <a:rPr lang="en-US" sz="1075" b="true">
                <a:solidFill>
                  <a:srgbClr val="1E5C96"/>
                </a:solidFill>
                <a:latin typeface="Poppins Bold"/>
                <a:ea typeface="Poppins Bold"/>
                <a:cs typeface="Poppins Bold"/>
                <a:sym typeface="Poppins Bold"/>
              </a:rPr>
              <a:t>DISTANCIAS HABILITADAS</a:t>
            </a:r>
          </a:p>
        </p:txBody>
      </p:sp>
      <p:sp>
        <p:nvSpPr>
          <p:cNvPr name="AutoShape 31" id="31"/>
          <p:cNvSpPr/>
          <p:nvPr/>
        </p:nvSpPr>
        <p:spPr>
          <a:xfrm flipH="true" flipV="true">
            <a:off x="2468280" y="6195294"/>
            <a:ext cx="3572" cy="3544124"/>
          </a:xfrm>
          <a:prstGeom prst="line">
            <a:avLst/>
          </a:prstGeom>
          <a:ln cap="flat" w="19050">
            <a:solidFill>
              <a:srgbClr val="1E5C9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32" id="32"/>
          <p:cNvSpPr txBox="true"/>
          <p:nvPr/>
        </p:nvSpPr>
        <p:spPr>
          <a:xfrm rot="0">
            <a:off x="-323920" y="6785409"/>
            <a:ext cx="2776923" cy="1576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18"/>
              </a:lnSpc>
            </a:pPr>
            <a:r>
              <a:rPr lang="en-US" b="true" sz="1039">
                <a:solidFill>
                  <a:srgbClr val="1E5C96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Élite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2101240" y="6765858"/>
            <a:ext cx="2776923" cy="1576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18"/>
              </a:lnSpc>
            </a:pPr>
            <a:r>
              <a:rPr lang="en-US" b="true" sz="1039">
                <a:solidFill>
                  <a:srgbClr val="1E5C96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42K · 21K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698560" y="6669625"/>
            <a:ext cx="2776923" cy="3596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20"/>
              </a:lnSpc>
            </a:pPr>
            <a:r>
              <a:rPr lang="en-US" b="true" sz="939">
                <a:solidFill>
                  <a:srgbClr val="1E5C96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Según </a:t>
            </a:r>
          </a:p>
          <a:p>
            <a:pPr algn="ctr">
              <a:lnSpc>
                <a:spcPts val="920"/>
              </a:lnSpc>
            </a:pPr>
            <a:r>
              <a:rPr lang="en-US" b="true" sz="939">
                <a:solidFill>
                  <a:srgbClr val="1E5C96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condición</a:t>
            </a:r>
          </a:p>
          <a:p>
            <a:pPr algn="ctr">
              <a:lnSpc>
                <a:spcPts val="920"/>
              </a:lnSpc>
            </a:pPr>
            <a:r>
              <a:rPr lang="en-US" b="true" sz="939">
                <a:solidFill>
                  <a:srgbClr val="1E5C96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Élite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-335489" y="7204336"/>
            <a:ext cx="2776923" cy="1576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18"/>
              </a:lnSpc>
            </a:pPr>
            <a:r>
              <a:rPr lang="en-US" b="true" sz="1039">
                <a:solidFill>
                  <a:srgbClr val="1E5C96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Mayores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698560" y="7212878"/>
            <a:ext cx="2776923" cy="1528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18"/>
              </a:lnSpc>
            </a:pPr>
            <a:r>
              <a:rPr lang="en-US" b="true" sz="1039">
                <a:solidFill>
                  <a:srgbClr val="1E5C96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16 - 39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2087022" y="7204336"/>
            <a:ext cx="2776923" cy="1576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18"/>
              </a:lnSpc>
            </a:pPr>
            <a:r>
              <a:rPr lang="en-US" b="true" sz="1039">
                <a:solidFill>
                  <a:srgbClr val="1E5C96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42K · 32K · 21K · 10K · 5K · 2K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-335489" y="7718157"/>
            <a:ext cx="2776923" cy="1576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18"/>
              </a:lnSpc>
            </a:pPr>
            <a:r>
              <a:rPr lang="en-US" b="true" sz="1039">
                <a:solidFill>
                  <a:srgbClr val="1E5C96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Máster A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712778" y="7718157"/>
            <a:ext cx="2776923" cy="1576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18"/>
              </a:lnSpc>
            </a:pPr>
            <a:r>
              <a:rPr lang="en-US" b="true" sz="1039">
                <a:solidFill>
                  <a:srgbClr val="1E5C96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40 - 49</a:t>
            </a:r>
          </a:p>
        </p:txBody>
      </p:sp>
      <p:sp>
        <p:nvSpPr>
          <p:cNvPr name="AutoShape 40" id="40"/>
          <p:cNvSpPr/>
          <p:nvPr/>
        </p:nvSpPr>
        <p:spPr>
          <a:xfrm>
            <a:off x="454953" y="7968028"/>
            <a:ext cx="4033798" cy="0"/>
          </a:xfrm>
          <a:prstGeom prst="line">
            <a:avLst/>
          </a:prstGeom>
          <a:ln cap="flat" w="19050">
            <a:solidFill>
              <a:srgbClr val="1E5C9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41" id="41"/>
          <p:cNvSpPr txBox="true"/>
          <p:nvPr/>
        </p:nvSpPr>
        <p:spPr>
          <a:xfrm rot="0">
            <a:off x="-335489" y="8155322"/>
            <a:ext cx="2776923" cy="1576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18"/>
              </a:lnSpc>
            </a:pPr>
            <a:r>
              <a:rPr lang="en-US" b="true" sz="1039">
                <a:solidFill>
                  <a:srgbClr val="1E5C96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Máster B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698560" y="8155322"/>
            <a:ext cx="2776923" cy="1576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18"/>
              </a:lnSpc>
            </a:pPr>
            <a:r>
              <a:rPr lang="en-US" b="true" sz="1039">
                <a:solidFill>
                  <a:srgbClr val="1E5C96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50 - 59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2087022" y="7718157"/>
            <a:ext cx="2776923" cy="1576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18"/>
              </a:lnSpc>
            </a:pPr>
            <a:r>
              <a:rPr lang="en-US" b="true" sz="1039">
                <a:solidFill>
                  <a:srgbClr val="1E5C96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42K · 21K · 10K · 5K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2087022" y="8155322"/>
            <a:ext cx="2776923" cy="1576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18"/>
              </a:lnSpc>
            </a:pPr>
            <a:r>
              <a:rPr lang="en-US" b="true" sz="1039">
                <a:solidFill>
                  <a:srgbClr val="1E5C96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42K · 21K · 10K · 5K</a:t>
            </a:r>
          </a:p>
        </p:txBody>
      </p:sp>
      <p:sp>
        <p:nvSpPr>
          <p:cNvPr name="AutoShape 45" id="45"/>
          <p:cNvSpPr/>
          <p:nvPr/>
        </p:nvSpPr>
        <p:spPr>
          <a:xfrm flipV="true">
            <a:off x="454953" y="8464750"/>
            <a:ext cx="4033798" cy="0"/>
          </a:xfrm>
          <a:prstGeom prst="line">
            <a:avLst/>
          </a:prstGeom>
          <a:ln cap="flat" w="19050">
            <a:solidFill>
              <a:srgbClr val="1E5C9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46" id="46"/>
          <p:cNvSpPr txBox="true"/>
          <p:nvPr/>
        </p:nvSpPr>
        <p:spPr>
          <a:xfrm rot="0">
            <a:off x="-335489" y="8618498"/>
            <a:ext cx="2776923" cy="1576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18"/>
              </a:lnSpc>
            </a:pPr>
            <a:r>
              <a:rPr lang="en-US" b="true" sz="1039">
                <a:solidFill>
                  <a:srgbClr val="1E5C96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Máster C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698560" y="8618498"/>
            <a:ext cx="2776923" cy="1576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18"/>
              </a:lnSpc>
            </a:pPr>
            <a:r>
              <a:rPr lang="en-US" b="true" sz="1039">
                <a:solidFill>
                  <a:srgbClr val="1E5C96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60 - 69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2101240" y="8618498"/>
            <a:ext cx="2776923" cy="1576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18"/>
              </a:lnSpc>
            </a:pPr>
            <a:r>
              <a:rPr lang="en-US" b="true" sz="1039">
                <a:solidFill>
                  <a:srgbClr val="1E5C96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42K · 21K · 10K · 5K</a:t>
            </a:r>
          </a:p>
        </p:txBody>
      </p:sp>
      <p:sp>
        <p:nvSpPr>
          <p:cNvPr name="AutoShape 49" id="49"/>
          <p:cNvSpPr/>
          <p:nvPr/>
        </p:nvSpPr>
        <p:spPr>
          <a:xfrm>
            <a:off x="462961" y="7033815"/>
            <a:ext cx="4006942" cy="0"/>
          </a:xfrm>
          <a:prstGeom prst="line">
            <a:avLst/>
          </a:prstGeom>
          <a:ln cap="flat" w="19050">
            <a:solidFill>
              <a:srgbClr val="1E5C9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0" id="50"/>
          <p:cNvSpPr/>
          <p:nvPr/>
        </p:nvSpPr>
        <p:spPr>
          <a:xfrm>
            <a:off x="454953" y="7515495"/>
            <a:ext cx="4033798" cy="0"/>
          </a:xfrm>
          <a:prstGeom prst="line">
            <a:avLst/>
          </a:prstGeom>
          <a:ln cap="flat" w="19050">
            <a:solidFill>
              <a:srgbClr val="1E5C9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51" id="51"/>
          <p:cNvSpPr txBox="true"/>
          <p:nvPr/>
        </p:nvSpPr>
        <p:spPr>
          <a:xfrm rot="0">
            <a:off x="-335489" y="9022118"/>
            <a:ext cx="2776923" cy="1576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18"/>
              </a:lnSpc>
            </a:pPr>
            <a:r>
              <a:rPr lang="en-US" b="true" sz="1039">
                <a:solidFill>
                  <a:srgbClr val="1E5C96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Máster D</a:t>
            </a:r>
          </a:p>
        </p:txBody>
      </p:sp>
      <p:sp>
        <p:nvSpPr>
          <p:cNvPr name="AutoShape 52" id="52"/>
          <p:cNvSpPr/>
          <p:nvPr/>
        </p:nvSpPr>
        <p:spPr>
          <a:xfrm>
            <a:off x="454953" y="8913097"/>
            <a:ext cx="4014950" cy="0"/>
          </a:xfrm>
          <a:prstGeom prst="line">
            <a:avLst/>
          </a:prstGeom>
          <a:ln cap="flat" w="19050">
            <a:solidFill>
              <a:srgbClr val="1E5C9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3" id="53"/>
          <p:cNvSpPr/>
          <p:nvPr/>
        </p:nvSpPr>
        <p:spPr>
          <a:xfrm>
            <a:off x="454953" y="9316717"/>
            <a:ext cx="4033798" cy="0"/>
          </a:xfrm>
          <a:prstGeom prst="line">
            <a:avLst/>
          </a:prstGeom>
          <a:ln cap="flat" w="19050">
            <a:solidFill>
              <a:srgbClr val="1E5C9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54" id="54"/>
          <p:cNvSpPr txBox="true"/>
          <p:nvPr/>
        </p:nvSpPr>
        <p:spPr>
          <a:xfrm rot="0">
            <a:off x="-335489" y="9442511"/>
            <a:ext cx="2776923" cy="1576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18"/>
              </a:lnSpc>
            </a:pPr>
            <a:r>
              <a:rPr lang="en-US" b="true" sz="1039">
                <a:solidFill>
                  <a:srgbClr val="1E5C96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Infantil</a:t>
            </a:r>
          </a:p>
        </p:txBody>
      </p:sp>
      <p:sp>
        <p:nvSpPr>
          <p:cNvPr name="TextBox 55" id="55"/>
          <p:cNvSpPr txBox="true"/>
          <p:nvPr/>
        </p:nvSpPr>
        <p:spPr>
          <a:xfrm rot="0">
            <a:off x="712778" y="9036096"/>
            <a:ext cx="2776923" cy="1576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18"/>
              </a:lnSpc>
            </a:pPr>
            <a:r>
              <a:rPr lang="en-US" b="true" sz="1039">
                <a:solidFill>
                  <a:srgbClr val="1E5C96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70+</a:t>
            </a:r>
          </a:p>
        </p:txBody>
      </p:sp>
      <p:sp>
        <p:nvSpPr>
          <p:cNvPr name="TextBox 56" id="56"/>
          <p:cNvSpPr txBox="true"/>
          <p:nvPr/>
        </p:nvSpPr>
        <p:spPr>
          <a:xfrm rot="0">
            <a:off x="2087022" y="9022118"/>
            <a:ext cx="2776923" cy="1576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18"/>
              </a:lnSpc>
            </a:pPr>
            <a:r>
              <a:rPr lang="en-US" b="true" sz="1039">
                <a:solidFill>
                  <a:srgbClr val="1E5C96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10K · 5K</a:t>
            </a:r>
          </a:p>
        </p:txBody>
      </p:sp>
      <p:sp>
        <p:nvSpPr>
          <p:cNvPr name="TextBox 57" id="57"/>
          <p:cNvSpPr txBox="true"/>
          <p:nvPr/>
        </p:nvSpPr>
        <p:spPr>
          <a:xfrm rot="0">
            <a:off x="698560" y="9442511"/>
            <a:ext cx="2776923" cy="1576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18"/>
              </a:lnSpc>
            </a:pPr>
            <a:r>
              <a:rPr lang="en-US" b="true" sz="1039">
                <a:solidFill>
                  <a:srgbClr val="1E5C96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7 - 15</a:t>
            </a:r>
          </a:p>
        </p:txBody>
      </p:sp>
      <p:sp>
        <p:nvSpPr>
          <p:cNvPr name="TextBox 58" id="58"/>
          <p:cNvSpPr txBox="true"/>
          <p:nvPr/>
        </p:nvSpPr>
        <p:spPr>
          <a:xfrm rot="0">
            <a:off x="2101240" y="9442511"/>
            <a:ext cx="2776923" cy="1576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18"/>
              </a:lnSpc>
            </a:pPr>
            <a:r>
              <a:rPr lang="en-US" b="true" sz="1039">
                <a:solidFill>
                  <a:srgbClr val="1E5C96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2K</a:t>
            </a:r>
          </a:p>
        </p:txBody>
      </p:sp>
      <p:sp>
        <p:nvSpPr>
          <p:cNvPr name="AutoShape 59" id="59"/>
          <p:cNvSpPr/>
          <p:nvPr/>
        </p:nvSpPr>
        <p:spPr>
          <a:xfrm flipV="true">
            <a:off x="454953" y="6195294"/>
            <a:ext cx="892" cy="3544124"/>
          </a:xfrm>
          <a:prstGeom prst="line">
            <a:avLst/>
          </a:prstGeom>
          <a:ln cap="flat" w="28575">
            <a:solidFill>
              <a:srgbClr val="1E5C9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60" id="60"/>
          <p:cNvSpPr/>
          <p:nvPr/>
        </p:nvSpPr>
        <p:spPr>
          <a:xfrm flipH="true" flipV="true">
            <a:off x="4485083" y="6195966"/>
            <a:ext cx="3669" cy="3543452"/>
          </a:xfrm>
          <a:prstGeom prst="line">
            <a:avLst/>
          </a:prstGeom>
          <a:ln cap="flat" w="28575">
            <a:solidFill>
              <a:srgbClr val="1E5C9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61" id="61"/>
          <p:cNvSpPr/>
          <p:nvPr/>
        </p:nvSpPr>
        <p:spPr>
          <a:xfrm flipV="true">
            <a:off x="439801" y="6195966"/>
            <a:ext cx="4056958" cy="5911"/>
          </a:xfrm>
          <a:prstGeom prst="line">
            <a:avLst/>
          </a:prstGeom>
          <a:ln cap="flat" w="28575">
            <a:solidFill>
              <a:srgbClr val="1E5C9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62" id="62"/>
          <p:cNvSpPr/>
          <p:nvPr/>
        </p:nvSpPr>
        <p:spPr>
          <a:xfrm flipV="true">
            <a:off x="1676618" y="6201881"/>
            <a:ext cx="446" cy="3512363"/>
          </a:xfrm>
          <a:prstGeom prst="line">
            <a:avLst/>
          </a:prstGeom>
          <a:ln cap="flat" w="28575">
            <a:solidFill>
              <a:srgbClr val="1E5C9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63" id="63"/>
          <p:cNvSpPr/>
          <p:nvPr/>
        </p:nvSpPr>
        <p:spPr>
          <a:xfrm flipV="true">
            <a:off x="2471852" y="6201885"/>
            <a:ext cx="446" cy="3512359"/>
          </a:xfrm>
          <a:prstGeom prst="line">
            <a:avLst/>
          </a:prstGeom>
          <a:ln cap="flat" w="28575">
            <a:solidFill>
              <a:srgbClr val="1E5C9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64" id="64"/>
          <p:cNvSpPr txBox="true"/>
          <p:nvPr/>
        </p:nvSpPr>
        <p:spPr>
          <a:xfrm rot="0">
            <a:off x="428914" y="5705429"/>
            <a:ext cx="7358549" cy="42947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14"/>
              </a:lnSpc>
            </a:pPr>
            <a:r>
              <a:rPr lang="en-US" sz="3076" b="true">
                <a:solidFill>
                  <a:srgbClr val="1E5C96"/>
                </a:solidFill>
                <a:latin typeface="Poppins Bold"/>
                <a:ea typeface="Poppins Bold"/>
                <a:cs typeface="Poppins Bold"/>
                <a:sym typeface="Poppins Bold"/>
              </a:rPr>
              <a:t>CATEGORÍAS 2026</a:t>
            </a:r>
          </a:p>
        </p:txBody>
      </p:sp>
      <p:sp>
        <p:nvSpPr>
          <p:cNvPr name="TextBox 65" id="65"/>
          <p:cNvSpPr txBox="true"/>
          <p:nvPr/>
        </p:nvSpPr>
        <p:spPr>
          <a:xfrm rot="0">
            <a:off x="417340" y="9853733"/>
            <a:ext cx="6386660" cy="3193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99"/>
              </a:lnSpc>
            </a:pPr>
            <a:r>
              <a:rPr lang="en-US" sz="928" i="true">
                <a:solidFill>
                  <a:srgbClr val="1E5C96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La edad se determina con corte al 29 de noviembre de 2026. La participación excepcional de corredores de 10 a 15 años en 5K se rige por las condiciones especiales del reglamento.</a:t>
            </a:r>
          </a:p>
        </p:txBody>
      </p:sp>
    </p:spTree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E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7560000" cy="10701632"/>
          </a:xfrm>
          <a:custGeom>
            <a:avLst/>
            <a:gdLst/>
            <a:ahLst/>
            <a:cxnLst/>
            <a:rect r="r" b="b" t="t" l="l"/>
            <a:pathLst>
              <a:path h="10701632" w="7560000">
                <a:moveTo>
                  <a:pt x="0" y="0"/>
                </a:moveTo>
                <a:lnTo>
                  <a:pt x="7560000" y="0"/>
                </a:lnTo>
                <a:lnTo>
                  <a:pt x="7560000" y="10701632"/>
                </a:lnTo>
                <a:lnTo>
                  <a:pt x="0" y="1070163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252088" y="2467291"/>
            <a:ext cx="2320920" cy="2682579"/>
          </a:xfrm>
          <a:custGeom>
            <a:avLst/>
            <a:gdLst/>
            <a:ahLst/>
            <a:cxnLst/>
            <a:rect r="r" b="b" t="t" l="l"/>
            <a:pathLst>
              <a:path h="2682579" w="2320920">
                <a:moveTo>
                  <a:pt x="0" y="0"/>
                </a:moveTo>
                <a:lnTo>
                  <a:pt x="2320920" y="0"/>
                </a:lnTo>
                <a:lnTo>
                  <a:pt x="2320920" y="2682579"/>
                </a:lnTo>
                <a:lnTo>
                  <a:pt x="0" y="268257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-141743" b="-196067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-1554185" y="5368945"/>
            <a:ext cx="10726284" cy="2121122"/>
            <a:chOff x="0" y="0"/>
            <a:chExt cx="11202977" cy="2215388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1202977" cy="2215387"/>
            </a:xfrm>
            <a:custGeom>
              <a:avLst/>
              <a:gdLst/>
              <a:ahLst/>
              <a:cxnLst/>
              <a:rect r="r" b="b" t="t" l="l"/>
              <a:pathLst>
                <a:path h="2215387" w="11202977">
                  <a:moveTo>
                    <a:pt x="10105" y="0"/>
                  </a:moveTo>
                  <a:lnTo>
                    <a:pt x="11192872" y="0"/>
                  </a:lnTo>
                  <a:cubicBezTo>
                    <a:pt x="11195552" y="0"/>
                    <a:pt x="11198122" y="1065"/>
                    <a:pt x="11200017" y="2960"/>
                  </a:cubicBezTo>
                  <a:cubicBezTo>
                    <a:pt x="11201912" y="4855"/>
                    <a:pt x="11202977" y="7425"/>
                    <a:pt x="11202977" y="10105"/>
                  </a:cubicBezTo>
                  <a:lnTo>
                    <a:pt x="11202977" y="2205283"/>
                  </a:lnTo>
                  <a:cubicBezTo>
                    <a:pt x="11202977" y="2207963"/>
                    <a:pt x="11201912" y="2210533"/>
                    <a:pt x="11200017" y="2212428"/>
                  </a:cubicBezTo>
                  <a:cubicBezTo>
                    <a:pt x="11198122" y="2214323"/>
                    <a:pt x="11195552" y="2215387"/>
                    <a:pt x="11192872" y="2215387"/>
                  </a:cubicBezTo>
                  <a:lnTo>
                    <a:pt x="10105" y="2215387"/>
                  </a:lnTo>
                  <a:cubicBezTo>
                    <a:pt x="4524" y="2215387"/>
                    <a:pt x="0" y="2210863"/>
                    <a:pt x="0" y="2205283"/>
                  </a:cubicBezTo>
                  <a:lnTo>
                    <a:pt x="0" y="10105"/>
                  </a:lnTo>
                  <a:cubicBezTo>
                    <a:pt x="0" y="4524"/>
                    <a:pt x="4524" y="0"/>
                    <a:pt x="10105" y="0"/>
                  </a:cubicBezTo>
                  <a:close/>
                </a:path>
              </a:pathLst>
            </a:custGeom>
            <a:ln w="28575" cap="sq">
              <a:solidFill>
                <a:srgbClr val="2DA7B1"/>
              </a:solidFill>
              <a:prstDash val="solid"/>
              <a:miter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28575"/>
              <a:ext cx="11202977" cy="224396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60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432494" y="5149870"/>
            <a:ext cx="3070938" cy="487205"/>
            <a:chOff x="0" y="0"/>
            <a:chExt cx="1183253" cy="187724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183253" cy="187724"/>
            </a:xfrm>
            <a:custGeom>
              <a:avLst/>
              <a:gdLst/>
              <a:ahLst/>
              <a:cxnLst/>
              <a:rect r="r" b="b" t="t" l="l"/>
              <a:pathLst>
                <a:path h="187724" w="1183253">
                  <a:moveTo>
                    <a:pt x="35294" y="0"/>
                  </a:moveTo>
                  <a:lnTo>
                    <a:pt x="1147959" y="0"/>
                  </a:lnTo>
                  <a:cubicBezTo>
                    <a:pt x="1167451" y="0"/>
                    <a:pt x="1183253" y="15802"/>
                    <a:pt x="1183253" y="35294"/>
                  </a:cubicBezTo>
                  <a:lnTo>
                    <a:pt x="1183253" y="152429"/>
                  </a:lnTo>
                  <a:cubicBezTo>
                    <a:pt x="1183253" y="171922"/>
                    <a:pt x="1167451" y="187724"/>
                    <a:pt x="1147959" y="187724"/>
                  </a:cubicBezTo>
                  <a:lnTo>
                    <a:pt x="35294" y="187724"/>
                  </a:lnTo>
                  <a:cubicBezTo>
                    <a:pt x="15802" y="187724"/>
                    <a:pt x="0" y="171922"/>
                    <a:pt x="0" y="152429"/>
                  </a:cubicBezTo>
                  <a:lnTo>
                    <a:pt x="0" y="35294"/>
                  </a:lnTo>
                  <a:cubicBezTo>
                    <a:pt x="0" y="15802"/>
                    <a:pt x="15802" y="0"/>
                    <a:pt x="35294" y="0"/>
                  </a:cubicBezTo>
                  <a:close/>
                </a:path>
              </a:pathLst>
            </a:custGeom>
            <a:solidFill>
              <a:srgbClr val="CAED69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19050"/>
              <a:ext cx="1183253" cy="16867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134"/>
                </a:lnSpc>
              </a:pPr>
            </a:p>
          </p:txBody>
        </p:sp>
      </p:grpSp>
      <p:sp>
        <p:nvSpPr>
          <p:cNvPr name="AutoShape 10" id="10"/>
          <p:cNvSpPr/>
          <p:nvPr/>
        </p:nvSpPr>
        <p:spPr>
          <a:xfrm flipV="true">
            <a:off x="2573008" y="2753291"/>
            <a:ext cx="0" cy="1944918"/>
          </a:xfrm>
          <a:prstGeom prst="line">
            <a:avLst/>
          </a:prstGeom>
          <a:ln cap="rnd" w="19050">
            <a:solidFill>
              <a:srgbClr val="2DA7B1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11" id="11"/>
          <p:cNvSpPr/>
          <p:nvPr/>
        </p:nvSpPr>
        <p:spPr>
          <a:xfrm flipH="false" flipV="false" rot="0">
            <a:off x="569277" y="5860061"/>
            <a:ext cx="657760" cy="679795"/>
          </a:xfrm>
          <a:custGeom>
            <a:avLst/>
            <a:gdLst/>
            <a:ahLst/>
            <a:cxnLst/>
            <a:rect r="r" b="b" t="t" l="l"/>
            <a:pathLst>
              <a:path h="679795" w="657760">
                <a:moveTo>
                  <a:pt x="0" y="0"/>
                </a:moveTo>
                <a:lnTo>
                  <a:pt x="657759" y="0"/>
                </a:lnTo>
                <a:lnTo>
                  <a:pt x="657759" y="679796"/>
                </a:lnTo>
                <a:lnTo>
                  <a:pt x="0" y="67979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-182653" b="-82327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2041074" y="5889749"/>
            <a:ext cx="568171" cy="620419"/>
          </a:xfrm>
          <a:custGeom>
            <a:avLst/>
            <a:gdLst/>
            <a:ahLst/>
            <a:cxnLst/>
            <a:rect r="r" b="b" t="t" l="l"/>
            <a:pathLst>
              <a:path h="620419" w="568171">
                <a:moveTo>
                  <a:pt x="0" y="0"/>
                </a:moveTo>
                <a:lnTo>
                  <a:pt x="568170" y="0"/>
                </a:lnTo>
                <a:lnTo>
                  <a:pt x="568170" y="620420"/>
                </a:lnTo>
                <a:lnTo>
                  <a:pt x="0" y="62042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115454" t="-8245" r="-118839" b="-95848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3447464" y="5979389"/>
            <a:ext cx="772208" cy="514805"/>
          </a:xfrm>
          <a:custGeom>
            <a:avLst/>
            <a:gdLst/>
            <a:ahLst/>
            <a:cxnLst/>
            <a:rect r="r" b="b" t="t" l="l"/>
            <a:pathLst>
              <a:path h="514805" w="772208">
                <a:moveTo>
                  <a:pt x="0" y="0"/>
                </a:moveTo>
                <a:lnTo>
                  <a:pt x="772208" y="0"/>
                </a:lnTo>
                <a:lnTo>
                  <a:pt x="772208" y="514805"/>
                </a:lnTo>
                <a:lnTo>
                  <a:pt x="0" y="51480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-1215975" y="6592388"/>
            <a:ext cx="4228262" cy="1702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04"/>
              </a:lnSpc>
            </a:pPr>
            <a:r>
              <a:rPr lang="en-US" sz="1228" b="true">
                <a:solidFill>
                  <a:srgbClr val="CAED69"/>
                </a:solidFill>
                <a:latin typeface="Poppins Bold"/>
                <a:ea typeface="Poppins Bold"/>
                <a:cs typeface="Poppins Bold"/>
                <a:sym typeface="Poppins Bold"/>
              </a:rPr>
              <a:t>WEB OFICIAL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211028" y="6519694"/>
            <a:ext cx="4228262" cy="3155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04"/>
              </a:lnSpc>
            </a:pPr>
            <a:r>
              <a:rPr lang="en-US" sz="1228" b="true">
                <a:solidFill>
                  <a:srgbClr val="CAED69"/>
                </a:solidFill>
                <a:latin typeface="Poppins Bold"/>
                <a:ea typeface="Poppins Bold"/>
                <a:cs typeface="Poppins Bold"/>
                <a:sym typeface="Poppins Bold"/>
              </a:rPr>
              <a:t>TÉRMINOS Y</a:t>
            </a:r>
          </a:p>
          <a:p>
            <a:pPr algn="ctr">
              <a:lnSpc>
                <a:spcPts val="1204"/>
              </a:lnSpc>
            </a:pPr>
            <a:r>
              <a:rPr lang="en-US" sz="1228" b="true">
                <a:solidFill>
                  <a:srgbClr val="CAED69"/>
                </a:solidFill>
                <a:latin typeface="Poppins Bold"/>
                <a:ea typeface="Poppins Bold"/>
                <a:cs typeface="Poppins Bold"/>
                <a:sym typeface="Poppins Bold"/>
              </a:rPr>
              <a:t>CONDICIONES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24040" y="810323"/>
            <a:ext cx="7311919" cy="9425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371"/>
              </a:lnSpc>
            </a:pPr>
            <a:r>
              <a:rPr lang="en-US" b="true" sz="5265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MANTENTE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-811592" y="1383938"/>
            <a:ext cx="9183184" cy="11515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979"/>
              </a:lnSpc>
            </a:pPr>
            <a:r>
              <a:rPr lang="en-US" sz="6414" b="true">
                <a:solidFill>
                  <a:srgbClr val="CAED69"/>
                </a:solidFill>
                <a:latin typeface="Poppins Ultra-Bold"/>
                <a:ea typeface="Poppins Ultra-Bold"/>
                <a:cs typeface="Poppins Ultra-Bold"/>
                <a:sym typeface="Poppins Ultra-Bold"/>
              </a:rPr>
              <a:t>INFORMADO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2729531" y="2705666"/>
            <a:ext cx="4618692" cy="19925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99"/>
              </a:lnSpc>
            </a:pPr>
            <a:r>
              <a:rPr lang="en-US" sz="1428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Antes de la carrera, revisa nuevamente los canales oficiales. Por razones de seguridad, logística o decisiones de las autoridades, la Organización podrá realizar ajustes operativos.</a:t>
            </a:r>
          </a:p>
          <a:p>
            <a:pPr algn="l">
              <a:lnSpc>
                <a:spcPts val="1999"/>
              </a:lnSpc>
            </a:pPr>
          </a:p>
          <a:p>
            <a:pPr algn="l">
              <a:lnSpc>
                <a:spcPts val="1999"/>
              </a:lnSpc>
            </a:pPr>
            <a:r>
              <a:rPr lang="en-US" sz="1428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Cualquier cambio relevante será comunicado a través de los canales oficiales de la Maratón 7 Colores.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550277" y="5249737"/>
            <a:ext cx="12377249" cy="3065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9"/>
              </a:lnSpc>
            </a:pPr>
            <a:r>
              <a:rPr lang="en-US" sz="2152" b="true">
                <a:solidFill>
                  <a:srgbClr val="1E5C96"/>
                </a:solidFill>
                <a:latin typeface="Poppins Bold"/>
                <a:ea typeface="Poppins Bold"/>
                <a:cs typeface="Poppins Bold"/>
                <a:sym typeface="Poppins Bold"/>
              </a:rPr>
              <a:t>CANALES OFICIALES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-1310069" y="6892434"/>
            <a:ext cx="4416450" cy="1138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90"/>
              </a:lnSpc>
            </a:pPr>
            <a:r>
              <a:rPr lang="en-US" sz="832" b="true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fundacion7colores.org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25474" y="6892434"/>
            <a:ext cx="4416450" cy="2107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90"/>
              </a:lnSpc>
            </a:pPr>
            <a:r>
              <a:rPr lang="en-US" sz="832" b="true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fundacion7colores.org/</a:t>
            </a:r>
          </a:p>
          <a:p>
            <a:pPr algn="ctr">
              <a:lnSpc>
                <a:spcPts val="790"/>
              </a:lnSpc>
            </a:pPr>
            <a:r>
              <a:rPr lang="en-US" sz="832" b="true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terminos-y-condiciones/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723653" y="6519694"/>
            <a:ext cx="4228262" cy="3155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04"/>
              </a:lnSpc>
            </a:pPr>
            <a:r>
              <a:rPr lang="en-US" sz="1228" b="true">
                <a:solidFill>
                  <a:srgbClr val="CAED69"/>
                </a:solidFill>
                <a:latin typeface="Poppins Bold"/>
                <a:ea typeface="Poppins Bold"/>
                <a:cs typeface="Poppins Bold"/>
                <a:sym typeface="Poppins Bold"/>
              </a:rPr>
              <a:t>MAPAS Y </a:t>
            </a:r>
          </a:p>
          <a:p>
            <a:pPr algn="ctr">
              <a:lnSpc>
                <a:spcPts val="1204"/>
              </a:lnSpc>
            </a:pPr>
            <a:r>
              <a:rPr lang="en-US" sz="1228" b="true">
                <a:solidFill>
                  <a:srgbClr val="CAED69"/>
                </a:solidFill>
                <a:latin typeface="Poppins Bold"/>
                <a:ea typeface="Poppins Bold"/>
                <a:cs typeface="Poppins Bold"/>
                <a:sym typeface="Poppins Bold"/>
              </a:rPr>
              <a:t>ALTIMETRÍAS</a:t>
            </a:r>
          </a:p>
        </p:txBody>
      </p:sp>
      <p:sp>
        <p:nvSpPr>
          <p:cNvPr name="Freeform 23" id="23"/>
          <p:cNvSpPr/>
          <p:nvPr/>
        </p:nvSpPr>
        <p:spPr>
          <a:xfrm flipH="false" flipV="false" rot="0">
            <a:off x="4877440" y="5860061"/>
            <a:ext cx="914815" cy="745468"/>
          </a:xfrm>
          <a:custGeom>
            <a:avLst/>
            <a:gdLst/>
            <a:ahLst/>
            <a:cxnLst/>
            <a:rect r="r" b="b" t="t" l="l"/>
            <a:pathLst>
              <a:path h="745468" w="914815">
                <a:moveTo>
                  <a:pt x="0" y="0"/>
                </a:moveTo>
                <a:lnTo>
                  <a:pt x="914815" y="0"/>
                </a:lnTo>
                <a:lnTo>
                  <a:pt x="914815" y="745468"/>
                </a:lnTo>
                <a:lnTo>
                  <a:pt x="0" y="74546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24964" t="-97859" r="-116884" b="0"/>
            </a:stretch>
          </a:blipFill>
        </p:spPr>
      </p:sp>
      <p:sp>
        <p:nvSpPr>
          <p:cNvPr name="TextBox 24" id="24"/>
          <p:cNvSpPr txBox="true"/>
          <p:nvPr/>
        </p:nvSpPr>
        <p:spPr>
          <a:xfrm rot="0">
            <a:off x="3287876" y="6592388"/>
            <a:ext cx="4228262" cy="1702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04"/>
              </a:lnSpc>
            </a:pPr>
            <a:r>
              <a:rPr lang="en-US" sz="1228" b="true">
                <a:solidFill>
                  <a:srgbClr val="CAED69"/>
                </a:solidFill>
                <a:latin typeface="Poppins Bold"/>
                <a:ea typeface="Poppins Bold"/>
                <a:cs typeface="Poppins Bold"/>
                <a:sym typeface="Poppins Bold"/>
              </a:rPr>
              <a:t>RESULTADOS</a:t>
            </a:r>
          </a:p>
        </p:txBody>
      </p:sp>
      <p:sp>
        <p:nvSpPr>
          <p:cNvPr name="Freeform 25" id="25"/>
          <p:cNvSpPr/>
          <p:nvPr/>
        </p:nvSpPr>
        <p:spPr>
          <a:xfrm flipH="false" flipV="false" rot="0">
            <a:off x="6351717" y="5876036"/>
            <a:ext cx="904567" cy="634133"/>
          </a:xfrm>
          <a:custGeom>
            <a:avLst/>
            <a:gdLst/>
            <a:ahLst/>
            <a:cxnLst/>
            <a:rect r="r" b="b" t="t" l="l"/>
            <a:pathLst>
              <a:path h="634133" w="904567">
                <a:moveTo>
                  <a:pt x="0" y="0"/>
                </a:moveTo>
                <a:lnTo>
                  <a:pt x="904566" y="0"/>
                </a:lnTo>
                <a:lnTo>
                  <a:pt x="904566" y="634133"/>
                </a:lnTo>
                <a:lnTo>
                  <a:pt x="0" y="63413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109054" t="-110017" r="-19074" b="-6927"/>
            </a:stretch>
          </a:blipFill>
        </p:spPr>
      </p:sp>
      <p:sp>
        <p:nvSpPr>
          <p:cNvPr name="TextBox 26" id="26"/>
          <p:cNvSpPr txBox="true"/>
          <p:nvPr/>
        </p:nvSpPr>
        <p:spPr>
          <a:xfrm rot="0">
            <a:off x="4633920" y="6519694"/>
            <a:ext cx="4228262" cy="3155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204"/>
              </a:lnSpc>
            </a:pPr>
            <a:r>
              <a:rPr lang="en-US" sz="1228" b="true">
                <a:solidFill>
                  <a:srgbClr val="CAED69"/>
                </a:solidFill>
                <a:latin typeface="Poppins Bold"/>
                <a:ea typeface="Poppins Bold"/>
                <a:cs typeface="Poppins Bold"/>
                <a:sym typeface="Poppins Bold"/>
              </a:rPr>
              <a:t>SERVICIO </a:t>
            </a:r>
          </a:p>
          <a:p>
            <a:pPr algn="ctr">
              <a:lnSpc>
                <a:spcPts val="1204"/>
              </a:lnSpc>
            </a:pPr>
            <a:r>
              <a:rPr lang="en-US" sz="1228" b="true">
                <a:solidFill>
                  <a:srgbClr val="CAED69"/>
                </a:solidFill>
                <a:latin typeface="Poppins Bold"/>
                <a:ea typeface="Poppins Bold"/>
                <a:cs typeface="Poppins Bold"/>
                <a:sym typeface="Poppins Bold"/>
              </a:rPr>
              <a:t>AL CORREDOR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600732" y="6892434"/>
            <a:ext cx="4416450" cy="1138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90"/>
              </a:lnSpc>
            </a:pPr>
            <a:r>
              <a:rPr lang="en-US" sz="832" b="true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URL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3193782" y="6892434"/>
            <a:ext cx="4416450" cy="1138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90"/>
              </a:lnSpc>
            </a:pPr>
            <a:r>
              <a:rPr lang="en-US" sz="832" b="true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URL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4595775" y="6892434"/>
            <a:ext cx="4416450" cy="2107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90"/>
              </a:lnSpc>
            </a:pPr>
            <a:r>
              <a:rPr lang="en-US" sz="832" b="true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servicioalcliente@</a:t>
            </a:r>
          </a:p>
          <a:p>
            <a:pPr algn="ctr">
              <a:lnSpc>
                <a:spcPts val="790"/>
              </a:lnSpc>
            </a:pPr>
            <a:r>
              <a:rPr lang="en-US" sz="832" b="true">
                <a:solidFill>
                  <a:srgbClr val="FFFFFF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fundacion7colores.org</a:t>
            </a:r>
          </a:p>
        </p:txBody>
      </p:sp>
      <p:sp>
        <p:nvSpPr>
          <p:cNvPr name="AutoShape 30" id="30"/>
          <p:cNvSpPr/>
          <p:nvPr/>
        </p:nvSpPr>
        <p:spPr>
          <a:xfrm flipV="true">
            <a:off x="1581682" y="5860126"/>
            <a:ext cx="9525" cy="1404850"/>
          </a:xfrm>
          <a:prstGeom prst="line">
            <a:avLst/>
          </a:prstGeom>
          <a:ln cap="rnd" w="19050">
            <a:solidFill>
              <a:srgbClr val="2DA7B1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1" id="31"/>
          <p:cNvSpPr/>
          <p:nvPr/>
        </p:nvSpPr>
        <p:spPr>
          <a:xfrm flipV="true">
            <a:off x="3145319" y="5880439"/>
            <a:ext cx="9525" cy="1404850"/>
          </a:xfrm>
          <a:prstGeom prst="line">
            <a:avLst/>
          </a:prstGeom>
          <a:ln cap="rnd" w="19050">
            <a:solidFill>
              <a:srgbClr val="2DA7B1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2" id="32"/>
          <p:cNvSpPr/>
          <p:nvPr/>
        </p:nvSpPr>
        <p:spPr>
          <a:xfrm flipV="true">
            <a:off x="4580024" y="5903104"/>
            <a:ext cx="9525" cy="1404850"/>
          </a:xfrm>
          <a:prstGeom prst="line">
            <a:avLst/>
          </a:prstGeom>
          <a:ln cap="rnd" w="19050">
            <a:solidFill>
              <a:srgbClr val="2DA7B1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3" id="33"/>
          <p:cNvSpPr/>
          <p:nvPr/>
        </p:nvSpPr>
        <p:spPr>
          <a:xfrm flipV="true">
            <a:off x="6096116" y="5903169"/>
            <a:ext cx="9525" cy="1404850"/>
          </a:xfrm>
          <a:prstGeom prst="line">
            <a:avLst/>
          </a:prstGeom>
          <a:ln cap="rnd" w="19050">
            <a:solidFill>
              <a:srgbClr val="2DA7B1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34" id="34"/>
          <p:cNvSpPr txBox="true"/>
          <p:nvPr/>
        </p:nvSpPr>
        <p:spPr>
          <a:xfrm rot="0">
            <a:off x="152868" y="7979438"/>
            <a:ext cx="7311919" cy="3501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51"/>
              </a:lnSpc>
            </a:pPr>
            <a:r>
              <a:rPr lang="en-US" sz="1965" b="true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YA HICISTE LA PARTE MÁS DIFÍCIL: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-811592" y="8156474"/>
            <a:ext cx="9183184" cy="6346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20"/>
              </a:lnSpc>
            </a:pPr>
            <a:r>
              <a:rPr lang="en-US" sz="3514" b="true">
                <a:solidFill>
                  <a:srgbClr val="CAED69"/>
                </a:solidFill>
                <a:latin typeface="Poppins Ultra-Bold"/>
                <a:ea typeface="Poppins Ultra-Bold"/>
                <a:cs typeface="Poppins Ultra-Bold"/>
                <a:sym typeface="Poppins Ultra-Bold"/>
              </a:rPr>
              <a:t>LLEGAR HASTA AQUÍ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811949" y="8819685"/>
            <a:ext cx="5936103" cy="5066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99"/>
              </a:lnSpc>
            </a:pPr>
            <a:r>
              <a:rPr lang="en-US" sz="1428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Ahora conoce tu ruta, respeta tu carrera y disf</a:t>
            </a:r>
            <a:r>
              <a:rPr lang="en-US" sz="1428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ruta San Andrés.</a:t>
            </a:r>
          </a:p>
          <a:p>
            <a:pPr algn="ctr">
              <a:lnSpc>
                <a:spcPts val="1999"/>
              </a:lnSpc>
            </a:pPr>
            <a:r>
              <a:rPr lang="en-US" sz="1428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Nos vemos en la salida.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569277" y="9831153"/>
            <a:ext cx="6386660" cy="4094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579"/>
              </a:lnSpc>
            </a:pPr>
            <a:r>
              <a:rPr lang="en-US" sz="1128" i="true">
                <a:solidFill>
                  <a:srgbClr val="FFFFFF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E</a:t>
            </a:r>
            <a:r>
              <a:rPr lang="en-US" sz="1128" i="true">
                <a:solidFill>
                  <a:srgbClr val="FFFFFF"/>
                </a:solidFill>
                <a:latin typeface="Poppins Italics"/>
                <a:ea typeface="Poppins Italics"/>
                <a:cs typeface="Poppins Italics"/>
                <a:sym typeface="Poppins Italics"/>
              </a:rPr>
              <a:t>ste manual resume la información operativa esencial para el corredor. Consulta siempre los Términos y Condiciones oficiales de la Maratón 7 Colores.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DAHUzqI2wiA</dc:identifier>
  <dcterms:modified xsi:type="dcterms:W3CDTF">2011-08-01T06:04:30Z</dcterms:modified>
  <cp:revision>1</cp:revision>
  <dc:title>Copia de MANUAL DEL CORREDOR 2026</dc:title>
</cp:coreProperties>
</file>